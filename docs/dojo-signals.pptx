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dojo se déroule en Angular 21. Le projet garde volontairement zone.js pour montrer une migration progressive vers Signals.
Zone.js aide Angular à savoir qu'un événement asynchrone a eu lieu. Il patche les APIs du navigateur (setTimeout, Promise, addEventListener, XMLHttpRequest, etc.) puis prévient Angular qu'un cycle de détection doit être lancé.
Zone.js ne modélise pas l'état de l'application : il sert surtout à déclencher la détection de changement après un événement.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signal est une valeur réactive observable par Angular. Il contient une valeur, se lit avec (), et Angular mémorise automatiquement les templates, computed() et effect() qui l'ont lu.
Le problème résolu par Signals : rendre l'état local explicite et permettre à Angular de savoir précisément quelles vues ou valeurs dérivées dépendent de cet état.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OnPush est une stratégie de détection de changement qui limite les vérifications inutiles d'un composant.
Avec OnPush, Angular vérifie surtout un composant quand :
Dans ce dojo, OnPush permet de montrer que Signals rend les dépendances plus précises sans imposer une migration immédiate en zoneless.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application zoneless fonctionne sans zone.js. Angular ne s'appuie plus sur le patch automatique des APIs async pour lancer la détection de changement.
En zoneless, les mises à jour doivent venir de mécanismes explicites :
Ce dojo garde zone.js au départ. La suppression ou la limitation de zone.js se traite en fin de parcours, quand les participants ont déjà compris Signals.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décisions d'architecture pédagogique sont détaillées dans docs/adr/0001-architecture-pedagogique-dojo-signals.md.
Le projet montre volontairement deux patterns : des Signals directement dans les composants pour apprendre les bases, puis des Signals dans des façades pour l'état partagé et les règles métier. L'asymétrie est intentionnelle : on commence simple, puis on extrait quand l'état devient plus riche ou partagé.
Le détail du code mixte pendant la migration est documenté dans l'ADR 0001.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signal est une valeur réactive observable par Angular. Il contient une valeur, se lit avec (), et Angular mémorise automatiquement les templates, computed() et effect() qui l'ont lu.
Quand la valeur change, Angular sait précisément quelles dépendances invalider : les valeurs dérivées sont recalculées si nécessaire et les vues concernées sont mises à jour.
signal() crée un signal mutable. computed() crée un signal dérivé en lecture seule. effect() observe des signals, mais n'est pas un signal.
Dans cet exercice, .set(true) et .set(false) sont préférables à .update() : la nouvelle valeur ne dépend pas de l'ancienne. .update() devient utile quand on calcule la nouvelle valeur à partir de la valeur courante, par exemple this.adding.update(value =&gt; !value).
Sur la branche init, adding est encore un booléen classique. Tant qu'il n'a pas été converti en signal(false), il n'a donc pas de méthode .set() ou .update().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computed est une valeur dérivée mémorisée. Le calcul ne se relance que si une dépendance lue a changé depuis la dernière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effect() exécute un effet de bord quand les signals lus dans son corps changent. Il s'exécute automatiquement, sans appel explicite.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viewChild() expose une référence DOM comme un signal. Retourne undefined quand l'élément est absent du DOM, ElementRef quand il est présent.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 exercice montre un deuxième usage de effect() : déclencher un effet DOM quand une condition UI devient vraie. Ici, on veut placer le focus sur le champ prénom quand le formulaire d'ajout est affiché.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focus n'est pas une valeur calculée : c'est une interaction avec le DOM. effect() est adapté parce qu'il réagit à adding() et à la présence réelle de l'élément exposé par viewChild().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déclare une entrée de composant sous forme de signal. La valeur passée par le parent devient une dépendance réelle dans les computed() et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clé : @Input() dans un computed() ne crée pas de dépendance réelle. input() dans un computed() est une dépendance réelle.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output() déclare un événement sortant du composant. L'enfant émet une intention, le parent décide quoi faire. Ce n'est pas un Observable.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fichier contient déjà plusieurs sorties écrites avec output() :
Elles servent de modèle local. L'exercice consiste à aligner la dernière sortie legacy, selectedRequested, sur le même style.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déclare une valeur bidirectionnelle entre parent et enfant. Il combine l'idée d'une entrée (input) et d'une sortie (output) pour des cas comme un composant de formulaire contrôlé.
À retenir dans ce dojo : input() sert à recevoir une valeur, output() sert à émettre une intention, model() sert aux échanges bidirectionnels explicites.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RxJS sert à modéliser et composer des flux de données dans le temps : HTTP, WebSocket, événements, debounceTime, switchMap, combineLatest, etc.
RxJS ne remplace pas Zone.js. RxJS organise les flux asynchrones ; Zone.js déclenche la détection de changement ; Signals rend l'état et ses dépendances explicites.
toSignal() ne remplace pas RxJS : il permet de consommer la dernière valeur d'un Observable sous forme de signal dans un composant.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toSignal() convertit un Observable en signal (dernière valeur émise, abonnement géré automatiquement). toObservable() expose un signal comme Observable pour brancher des opérateurs RxJS.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 exercice est le plus dense du dojo. Il se découpe en trois marches :
1. Convertir un Observable simple en signal. 2. Ajouter l'état loading/error autour d'un flux HTTP. 3. Lire toObservable() comme pont inverse, sans demander de modification.
Le but n'est pas de remplacer RxJS. Le but est de savoir où placer la frontière : RxJS compose le flux, toSignal() expose sa dernière valeur au template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Dans cette pipeline :
La méthode reload() disparaît : le chargement initial est porté par le signal créé avec toSignal().
7c : lire et expliquer debouncedSearch$ dans ClientsComponent (pas de modification).
Cette partie sert de consolidation. Elle montre le pont inverse : on part d'un signal local, puis on repasse en Observable uniquement parce qu'un opérateur temporel (debounceTime) est nécessaire.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Exposer une règle métier dérivée dans la façade sous forme de computed() plutôt que de calculer en ligne dans le template ou le composant.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Après l'interop RxJS, on revient à un geste simple mais structurant : placer la logique dérivée dans la façade. C'est le lien avec l'objectif architectural du dojo : des composants plus lisibles, une façade qui porte l'état partagé, et des règles métier nommées.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conventions d'usage des primitives Signals et la décision de ne pas migrer vers le mode zoneless sont détaillées dans docs/adr/0002-conventions-usage-signals-et-detection-changement.md.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DD0031"/>
        </a:solidFill>
      </p:bgPr>
    </p:bg>
    <p:spTree>
      <p:nvGrpSpPr>
        <p:cNvPr id="1" name=""/>
        <p:cNvGrpSpPr/>
        <p:nvPr/>
      </p:nvGrpSpPr>
      <p:grpSpPr>
        <a:xfrm>
          <a:off x="0" y="0"/>
          <a:ext cx="0" cy="0"/>
          <a:chOff x="0" y="0"/>
          <a:chExt cx="0" cy="0"/>
        </a:xfrm>
      </p:grpSpPr>
      <p:sp>
        <p:nvSpPr>
          <p:cNvPr id="2" name="Text 0"/>
          <p:cNvSpPr/>
          <p:nvPr/>
        </p:nvSpPr>
        <p:spPr>
          <a:xfrm>
            <a:off x="594360" y="1508760"/>
            <a:ext cx="11002975" cy="1280160"/>
          </a:xfrm>
          <a:prstGeom prst="rect">
            <a:avLst/>
          </a:prstGeom>
          <a:noFill/>
          <a:ln/>
        </p:spPr>
        <p:txBody>
          <a:bodyPr wrap="square" rtlCol="0" anchor="ctr">
            <a:normAutofit/>
          </a:bodyPr>
          <a:lstStyle/>
          <a:p>
            <a:pPr algn="ctr" indent="0" marL="0">
              <a:buNone/>
            </a:pPr>
            <a:r>
              <a:rPr lang="en-US" sz="4400" b="1" dirty="0">
                <a:solidFill>
                  <a:srgbClr val="FFFFFF"/>
                </a:solidFill>
              </a:rPr>
              <a:t>Angular 21 Signals — Support de présentation dojo</a:t>
            </a:r>
            <a:endParaRPr lang="en-US" sz="4400" dirty="0"/>
          </a:p>
        </p:txBody>
      </p:sp>
      <p:sp>
        <p:nvSpPr>
          <p:cNvPr id="3" name="Text 1"/>
          <p:cNvSpPr/>
          <p:nvPr/>
        </p:nvSpPr>
        <p:spPr>
          <a:xfrm>
            <a:off x="594360" y="3063240"/>
            <a:ext cx="11002975" cy="411480"/>
          </a:xfrm>
          <a:prstGeom prst="rect">
            <a:avLst/>
          </a:prstGeom>
          <a:noFill/>
          <a:ln/>
        </p:spPr>
        <p:txBody>
          <a:bodyPr wrap="square" rtlCol="0" anchor="ctr"/>
          <a:lstStyle/>
          <a:p>
            <a:pPr algn="ctr" indent="0" marL="0">
              <a:buNone/>
            </a:pPr>
            <a:r>
              <a:rPr lang="en-US" sz="2200" dirty="0">
                <a:solidFill>
                  <a:srgbClr val="FFD5DC"/>
                </a:solidFill>
              </a:rPr>
              <a:t>Support de présentation dojo</a:t>
            </a:r>
            <a:endParaRPr lang="en-US" sz="2200" dirty="0"/>
          </a:p>
        </p:txBody>
      </p:sp>
      <p:sp>
        <p:nvSpPr>
          <p:cNvPr id="4" name="Text 2"/>
          <p:cNvSpPr/>
          <p:nvPr/>
        </p:nvSpPr>
        <p:spPr>
          <a:xfrm>
            <a:off x="594360" y="4892040"/>
            <a:ext cx="11002975" cy="320040"/>
          </a:xfrm>
          <a:prstGeom prst="rect">
            <a:avLst/>
          </a:prstGeom>
          <a:noFill/>
          <a:ln/>
        </p:spPr>
        <p:txBody>
          <a:bodyPr wrap="square" rtlCol="0" anchor="ctr"/>
          <a:lstStyle/>
          <a:p>
            <a:pPr algn="ctr" indent="0" marL="0">
              <a:buNone/>
            </a:pPr>
            <a:r>
              <a:rPr lang="en-US" sz="1300" dirty="0">
                <a:solidFill>
                  <a:srgbClr val="FFD5DC"/>
                </a:solidFill>
              </a:rPr>
              <a:t>Angular 21 · Signals · Zone.js · RxJS interop</a:t>
            </a:r>
            <a:endParaRPr lang="en-US" sz="130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1/64</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Zone.js</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Définition : librairie qui intercepte les APIs async du navigateur.</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Rôle : prévenir Angular qu'un cycle de détection doit être lancé.</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Limite : il déclenche une vérification, mais ne dit pas quel état a changé.</a:t>
            </a:r>
            <a:endParaRPr lang="en-US" sz="1160" dirty="0"/>
          </a:p>
        </p:txBody>
      </p:sp>
      <p:sp>
        <p:nvSpPr>
          <p:cNvPr id="8"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2/64</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Signal</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Définition : valeur réactive lue avec ().</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Rôle : mémoriser les lecteurs dépendants.</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Problème résolu : état explicite et mises à jour plus ciblées.</a:t>
            </a:r>
            <a:endParaRPr lang="en-US" sz="1160" dirty="0"/>
          </a:p>
        </p:txBody>
      </p:sp>
      <p:sp>
        <p:nvSpPr>
          <p:cNvPr id="8" name="Text 5"/>
          <p:cNvSpPr/>
          <p:nvPr/>
        </p:nvSpPr>
        <p:spPr>
          <a:xfrm>
            <a:off x="411480" y="1865376"/>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Zone.js : un événement async se produit → Angular lance la détection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Signals : une valeur change             → Angular connaît les lecteurs dépendants</a:t>
            </a:r>
            <a:endParaRPr lang="en-US" sz="880" dirty="0"/>
          </a:p>
        </p:txBody>
      </p:sp>
      <p:sp>
        <p:nvSpPr>
          <p:cNvPr id="9"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3/64</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OnPush</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un input change ;</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un événement du template se produit ;</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un signal lu dans le template change ;</a:t>
            </a:r>
            <a:endParaRPr lang="en-US" sz="1160" dirty="0"/>
          </a:p>
        </p:txBody>
      </p:sp>
      <p:sp>
        <p:nvSpPr>
          <p:cNvPr id="8" name="Text 5"/>
          <p:cNvSpPr/>
          <p:nvPr/>
        </p:nvSpPr>
        <p:spPr>
          <a:xfrm>
            <a:off x="576072" y="1865376"/>
            <a:ext cx="11204143" cy="256032"/>
          </a:xfrm>
          <a:prstGeom prst="rect">
            <a:avLst/>
          </a:prstGeom>
          <a:noFill/>
          <a:ln/>
        </p:spPr>
        <p:txBody>
          <a:bodyPr wrap="square" lIns="127" tIns="127" rIns="127" bIns="127" rtlCol="0" anchor="ctr">
            <a:normAutofit/>
          </a:bodyPr>
          <a:lstStyle/>
          <a:p>
            <a:r>
              <a:rPr lang="en-US" sz="1160" dirty="0">
                <a:solidFill>
                  <a:srgbClr val="333333"/>
                </a:solidFill>
              </a:rPr>
              <a:t>une vérification est demandée explicitement.</a:t>
            </a:r>
            <a:endParaRPr lang="en-US" sz="1160" dirty="0"/>
          </a:p>
        </p:txBody>
      </p:sp>
      <p:sp>
        <p:nvSpPr>
          <p:cNvPr id="9"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4/64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Zoneless</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signals lus par les templates ;</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input() / output() ;</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async pipe ;</a:t>
            </a:r>
            <a:endParaRPr lang="en-US" sz="1160" dirty="0"/>
          </a:p>
        </p:txBody>
      </p:sp>
      <p:sp>
        <p:nvSpPr>
          <p:cNvPr id="8" name="Text 5"/>
          <p:cNvSpPr/>
          <p:nvPr/>
        </p:nvSpPr>
        <p:spPr>
          <a:xfrm>
            <a:off x="576072" y="1865376"/>
            <a:ext cx="11204143" cy="256032"/>
          </a:xfrm>
          <a:prstGeom prst="rect">
            <a:avLst/>
          </a:prstGeom>
          <a:noFill/>
          <a:ln/>
        </p:spPr>
        <p:txBody>
          <a:bodyPr wrap="square" lIns="127" tIns="127" rIns="127" bIns="127" rtlCol="0" anchor="ctr">
            <a:normAutofit/>
          </a:bodyPr>
          <a:lstStyle/>
          <a:p>
            <a:r>
              <a:rPr lang="en-US" sz="1160" dirty="0">
                <a:solidFill>
                  <a:srgbClr val="333333"/>
                </a:solidFill>
              </a:rPr>
              <a:t>appels explicites de détection si nécessaire.</a:t>
            </a:r>
            <a:endParaRPr lang="en-US" sz="1160" dirty="0"/>
          </a:p>
        </p:txBody>
      </p:sp>
      <p:sp>
        <p:nvSpPr>
          <p:cNvPr id="9" name="Text 6"/>
          <p:cNvSpPr/>
          <p:nvPr/>
        </p:nvSpPr>
        <p:spPr>
          <a:xfrm>
            <a:off x="411480" y="2176272"/>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Signals résout : l'état réactif local synchrone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Zone.js résout : le déclenchement automatique de la détection après async</a:t>
            </a:r>
            <a:endParaRPr lang="en-US" sz="880" dirty="0"/>
          </a:p>
        </p:txBody>
      </p:sp>
      <p:sp>
        <p:nvSpPr>
          <p:cNvPr id="10" name="Text 7"/>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5/64</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201168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Intention d'architecture du dojo</a:t>
            </a:r>
            <a:endParaRPr lang="en-US" sz="3800" dirty="0"/>
          </a:p>
        </p:txBody>
      </p:sp>
      <p:sp>
        <p:nvSpPr>
          <p:cNvPr id="4" name="Text 1"/>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6/64</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Mapping exercices / branches / fichiers</a:t>
            </a:r>
            <a:endParaRPr lang="en-US" sz="1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2798064"/>
        </p:xfrm>
        <a:graphic>
          <a:graphicData uri="http://schemas.openxmlformats.org/drawingml/2006/table">
            <a:tbl>
              <a:tblPr/>
              <a:tblGrid>
                <a:gridCol w="2842184"/>
                <a:gridCol w="2842184"/>
                <a:gridCol w="2842184"/>
                <a:gridCol w="2842184"/>
              </a:tblGrid>
              <a:tr h="310896">
                <a:tc>
                  <a:txBody>
                    <a:bodyPr/>
                    <a:lstStyle/>
                    <a:p>
                      <a:pPr indent="0" marL="0">
                        <a:buNone/>
                      </a:pPr>
                      <a:r>
                        <a:rPr lang="en-US" sz="850" b="1" dirty="0">
                          <a:solidFill>
                            <a:srgbClr val="FFFFFF"/>
                          </a:solidFill>
                        </a:rPr>
                        <a:t>Exercice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850" b="1" dirty="0">
                          <a:solidFill>
                            <a:srgbClr val="FFFFFF"/>
                          </a:solidFill>
                        </a:rPr>
                        <a:t>Branche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850" b="1" dirty="0">
                          <a:solidFill>
                            <a:srgbClr val="FFFFFF"/>
                          </a:solidFill>
                        </a:rPr>
                        <a:t>Concept</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850" b="1" dirty="0">
                          <a:solidFill>
                            <a:srgbClr val="FFFFFF"/>
                          </a:solidFill>
                        </a:rPr>
                        <a:t>Fichiers principaux</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850" dirty="0">
                          <a:solidFill>
                            <a:srgbClr val="333333"/>
                          </a:solidFill>
                        </a:rPr>
                        <a:t>1</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exercice-1</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signal()</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clients.component.ts, clients.component.html, clients.component.spec.ts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850" dirty="0">
                          <a:solidFill>
                            <a:srgbClr val="333333"/>
                          </a:solidFill>
                        </a:rPr>
                        <a:t>2</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exercice-2</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computed() en façade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accounts.facade.ts, accounts.component.ts, accounts.component.html, accounts.component.spec.ts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850" dirty="0">
                          <a:solidFill>
                            <a:srgbClr val="333333"/>
                          </a:solidFill>
                        </a:rPr>
                        <a:t>3</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exercice-3</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effect() pour cohérence d'état</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clients.component.ts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850" dirty="0">
                          <a:solidFill>
                            <a:srgbClr val="333333"/>
                          </a:solidFill>
                        </a:rPr>
                        <a:t>4</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exercice-4</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viewChild() + effect() DOM</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clients.component.ts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850" dirty="0">
                          <a:solidFill>
                            <a:srgbClr val="333333"/>
                          </a:solidFill>
                        </a:rPr>
                        <a:t>5</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exercice-5</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input()</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account-card.component.ts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850" dirty="0">
                          <a:solidFill>
                            <a:srgbClr val="333333"/>
                          </a:solidFill>
                        </a:rPr>
                        <a:t>6</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exercice-6</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output()</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account-list.component.ts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850" dirty="0">
                          <a:solidFill>
                            <a:srgbClr val="333333"/>
                          </a:solidFill>
                        </a:rPr>
                        <a:t>7</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exercice-7</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toSignal() / toObservable()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accounts.component.ts, dashboard.component.ts, dashboard.component.spec.ts, clients.component.ts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850" dirty="0">
                          <a:solidFill>
                            <a:srgbClr val="333333"/>
                          </a:solidFill>
                        </a:rPr>
                        <a:t>8</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exercice-8</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computed() en façade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accounts.facade.ts, accounts.component.ts, accounts.component.html</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411480" y="3895344"/>
            <a:ext cx="11368735" cy="429768"/>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Les branches sont cumulatives : chaque branche ajoute uniquement la correction de son exercice par rapport à la branche précédente.</a:t>
            </a:r>
            <a:endParaRPr lang="en-US" sz="122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7/64</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1</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signal()</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8/64</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Définition</a:t>
            </a:r>
            <a:endParaRPr lang="en-US" sz="1800" dirty="0"/>
          </a:p>
        </p:txBody>
      </p:sp>
      <p:sp>
        <p:nvSpPr>
          <p:cNvPr id="5" name="Text 2"/>
          <p:cNvSpPr/>
          <p:nvPr/>
        </p:nvSpPr>
        <p:spPr>
          <a:xfrm>
            <a:off x="411480" y="932688"/>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readonly adding = signal(false);  // déclarer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this.adding.set(true);            // écrire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this.adding.update(v =&gt; !v);      // mettre à jour depuis la valeur courante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adding()                          // lire (template ou TS)</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9/64</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src/app/features/clients/pages/clients/clients.component.ts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10/64</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Convertir la propriété adding = false en signal.</a:t>
            </a:r>
            <a:endParaRPr lang="en-US" sz="1220" dirty="0"/>
          </a:p>
        </p:txBody>
      </p:sp>
      <p:sp>
        <p:nvSpPr>
          <p:cNvPr id="5" name="Text 3"/>
          <p:cNvSpPr/>
          <p:nvPr/>
        </p:nvSpPr>
        <p:spPr>
          <a:xfrm>
            <a:off x="411480" y="1362456"/>
            <a:ext cx="11368735" cy="156362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adding = false;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startAdd(): void { this.adding = true;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cancelAdd(): void { this.adding = false; }</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adding = signal(false);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startAdd(): void { this.adding.set(true);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cancelAdd(): void { this.adding.set(false); }</a:t>
            </a:r>
            <a:endParaRPr lang="en-US" sz="880" dirty="0"/>
          </a:p>
        </p:txBody>
      </p:sp>
      <p:sp>
        <p:nvSpPr>
          <p:cNvPr id="6" name="Text 4"/>
          <p:cNvSpPr/>
          <p:nvPr/>
        </p:nvSpPr>
        <p:spPr>
          <a:xfrm>
            <a:off x="411480" y="3072384"/>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Dans le template : remplacer adding par adding().</a:t>
            </a:r>
            <a:endParaRPr lang="en-US" sz="1220" dirty="0"/>
          </a:p>
        </p:txBody>
      </p:sp>
      <p:sp>
        <p:nvSpPr>
          <p:cNvPr id="7" name="Text 5"/>
          <p:cNvSpPr/>
          <p:nvPr/>
        </p:nvSpPr>
        <p:spPr>
          <a:xfrm>
            <a:off x="411480" y="3502152"/>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src/app/features/clients/pages/clients/clients.component.spec.ts</a:t>
            </a:r>
            <a:endParaRPr lang="en-US" sz="880" dirty="0"/>
          </a:p>
        </p:txBody>
      </p:sp>
      <p:sp>
        <p:nvSpPr>
          <p:cNvPr id="8"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11/64</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vs Zone.js</a:t>
            </a:r>
            <a:endParaRPr lang="en-US" sz="1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Zone.js + propriété classique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Angular re-rend tout le composant à chaque cycle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Re-rend seulement les lecteurs du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Détection déclenchée par Zone.js après chaque async</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Détection déclenchée par .set()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Rien à déclarer — Zone.js devine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Déclarer signal() — Angular sait exactement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12/64</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Quand utiliser signal() — et quand rester ailleurs</a:t>
            </a:r>
            <a:endParaRPr lang="en-US" sz="1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865376"/>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État UI local : booléen, texte, page courante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État local transitoire manipulé seulement par des handlers template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Propriété classique acceptable pendant la migration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Valeur calculée à partir d'autres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computed() — pas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issue d'une route ou d'un appel HTTP</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État partagé entre composants via service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façade Signals ou store dédié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13/64</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2</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computed()</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14/64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Définition</a:t>
            </a:r>
            <a:endParaRPr lang="en-US" sz="1800" dirty="0"/>
          </a:p>
        </p:txBody>
      </p:sp>
      <p:sp>
        <p:nvSpPr>
          <p:cNvPr id="5" name="Text 2"/>
          <p:cNvSpPr/>
          <p:nvPr/>
        </p:nvSpPr>
        <p:spPr>
          <a:xfrm>
            <a:off x="411480" y="932688"/>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readonly blockedAccountsCount = computed(()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this.filteredAccounts().filter(a =&gt; a.status === 'blocked').length</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blockedAccountsCount()  // lecture</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15/64</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Fichiers à modifier</a:t>
            </a:r>
            <a:endParaRPr lang="en-US" sz="1800" dirty="0"/>
          </a:p>
        </p:txBody>
      </p:sp>
      <p:sp>
        <p:nvSpPr>
          <p:cNvPr id="4"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src/app/features/accounts/services/accounts.facade.ts</a:t>
            </a:r>
            <a:endParaRPr lang="en-US" sz="1160" dirty="0"/>
          </a:p>
        </p:txBody>
      </p:sp>
      <p:sp>
        <p:nvSpPr>
          <p:cNvPr id="5"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src/app/features/accounts/pages/accounts/accounts.component.ts</a:t>
            </a:r>
            <a:endParaRPr lang="en-US" sz="1160" dirty="0"/>
          </a:p>
        </p:txBody>
      </p:sp>
      <p:sp>
        <p:nvSpPr>
          <p:cNvPr id="6"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src/app/features/accounts/pages/accounts/accounts.component.html</a:t>
            </a:r>
            <a:endParaRPr lang="en-US" sz="116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16/64</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Transformer le getter blockedAccountsCount en computed() dans la façade, puis exposer le signal dans le composant.</a:t>
            </a:r>
            <a:endParaRPr lang="en-US" sz="1220" dirty="0"/>
          </a:p>
        </p:txBody>
      </p:sp>
      <p:sp>
        <p:nvSpPr>
          <p:cNvPr id="5" name="Text 3"/>
          <p:cNvSpPr/>
          <p:nvPr/>
        </p:nvSpPr>
        <p:spPr>
          <a:xfrm>
            <a:off x="411480" y="1362456"/>
            <a:ext cx="11368735" cy="156362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 — AccountsFacade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get blockedAccountsCount(): number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return this.filteredAccounts().filter(a =&gt; a.status === 'blocked').length;</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 — AccountsFacade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blockedAccountsCount = computed(()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this.filteredAccounts().filter(a =&gt; a.status === 'blocked').length</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sp>
        <p:nvSpPr>
          <p:cNvPr id="6" name="Text 4"/>
          <p:cNvSpPr/>
          <p:nvPr/>
        </p:nvSpPr>
        <p:spPr>
          <a:xfrm>
            <a:off x="411480" y="3072384"/>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 — AccountsComponent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get blockedAccountsCount(): number { return this.accountsFacade.blockedAccountsCount; }</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 — AccountsComponent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blockedAccountsCount = this.accountsFacade.blockedAccountsCount;</a:t>
            </a:r>
            <a:endParaRPr lang="en-US" sz="880" dirty="0"/>
          </a:p>
        </p:txBody>
      </p:sp>
      <p:sp>
        <p:nvSpPr>
          <p:cNvPr id="7" name="Text 5"/>
          <p:cNvSpPr/>
          <p:nvPr/>
        </p:nvSpPr>
        <p:spPr>
          <a:xfrm>
            <a:off x="411480" y="4160520"/>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Dans le template : {{ blockedAccountsCount }} → {{ blockedAccountsCount() }}</a:t>
            </a:r>
            <a:endParaRPr lang="en-US" sz="1220" dirty="0"/>
          </a:p>
        </p:txBody>
      </p:sp>
      <p:sp>
        <p:nvSpPr>
          <p:cNvPr id="8" name="Text 6"/>
          <p:cNvSpPr/>
          <p:nvPr/>
        </p:nvSpPr>
        <p:spPr>
          <a:xfrm>
            <a:off x="411480" y="45902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p:txBody>
      </p:sp>
      <p:sp>
        <p:nvSpPr>
          <p:cNvPr id="9" name="Text 7"/>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17/64</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vs Zone.js</a:t>
            </a:r>
            <a:endParaRPr lang="en-US" sz="1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Getter + Zone.js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computed()</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Recalculé à chaque cycle de détection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Recalculé seulement si une dépendance change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Angular ignore si la valeur a changé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Angular mémorise et invalide le cache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Règle dans le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Règle dans la façade, partageable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18/64</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Quand utiliser computed() — et quand rester ailleurs</a:t>
            </a:r>
            <a:endParaRPr lang="en-US" sz="1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Total, compteur, libellé dérivé d'autres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computed()</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Règle qui dépend du temps (debounce, delay)</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Flux asynchrone — computed() est 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Calcul déclenché par une source asynchrone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Source asynchrone puis 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Effet de bord (appel HTTP, log, focus)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effect() — pas computed()</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19/64</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3</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effect() pour synchroniser un état</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20/64</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3</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effect() pour synchroniser un état</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21/64</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3 — effect() pour synchroniser un état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src/app/features/clients/pages/clients/clients.component.ts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22/64</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3 — effect() pour synchroniser un état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Remplacer l'appel impératif this.clampCurrentPage() par un effect() dans le constructeur.</a:t>
            </a:r>
            <a:endParaRPr lang="en-US" sz="1220" dirty="0"/>
          </a:p>
        </p:txBody>
      </p:sp>
      <p:sp>
        <p:nvSpPr>
          <p:cNvPr id="5" name="Text 3"/>
          <p:cNvSpPr/>
          <p:nvPr/>
        </p:nvSpPr>
        <p:spPr>
          <a:xfrm>
            <a:off x="411480" y="1362456"/>
            <a:ext cx="11368735" cy="18745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Ajouter dans le constructeur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effect(() =&gt;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const clamped = this.pageSlice().page;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if (clamped !== this.page()) this.page.set(clamped);</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Supprimer dans deleteClient()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this.clampCurrentPage(); // ← retirer cette ligne</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Supprimer la méthode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private clampCurrentPage(): void { ... }</a:t>
            </a:r>
            <a:endParaRPr lang="en-US" sz="880" dirty="0"/>
          </a:p>
        </p:txBody>
      </p:sp>
      <p:sp>
        <p:nvSpPr>
          <p:cNvPr id="6" name="Text 4"/>
          <p:cNvSpPr/>
          <p:nvPr/>
        </p:nvSpPr>
        <p:spPr>
          <a:xfrm>
            <a:off x="411480" y="3383280"/>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src/app/features/clients/pages/clients/clients.component.spec.ts</a:t>
            </a:r>
            <a:endParaRPr lang="en-US" sz="88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23/64</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3 — effect() pour synchroniser un état — vs Zone.js</a:t>
            </a:r>
            <a:endParaRPr lang="en-US" sz="18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Appel impératif après mutation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On doit penser à appeler la méthode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Déclenché automatiquement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Logique dispersée dans plusieurs méthodes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Logique centralisée dans l'effet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Bug si on oublie l'appel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Moins de risque — l'effet observe les dépendances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24/64</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500" b="1" dirty="0">
                <a:solidFill>
                  <a:srgbClr val="FFFFFF"/>
                </a:solidFill>
              </a:rPr>
              <a:t>Exercice 3 — effect() pour synchroniser un état — Quand utiliser effect() — et quand rester ailleurs</a:t>
            </a:r>
            <a:endParaRPr lang="en-US" sz="15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865376"/>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Titre du document, focus, scroll après changement d'état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Correction d'un état cohérent (clamping, reset)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Chargement HTTP déclenché par un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Possible avec effect(), mais à encadrer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calculée à partir d'autres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computed() — pas 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Effet déclenché par une source asynchrone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Source asynchrone ou toSignal() selon le cas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25/64</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4</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viewChild() + effect() pour le DOM</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26/64</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4 — viewChild() + effect() pour le DOM — Définition viewChild()</a:t>
            </a:r>
            <a:endParaRPr lang="en-US" sz="1800" dirty="0"/>
          </a:p>
        </p:txBody>
      </p:sp>
      <p:sp>
        <p:nvSpPr>
          <p:cNvPr id="5" name="Text 2"/>
          <p:cNvSpPr/>
          <p:nvPr/>
        </p:nvSpPr>
        <p:spPr>
          <a:xfrm>
            <a:off x="411480" y="9326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private readonly firstNameInput = viewChild&lt;ElementRef&gt;('firstNameRef');</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27/64</a:t>
            </a:r>
            <a:endParaRPr lang="en-US" sz="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4 — viewChild() + effect() pour le DOM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src/app/features/clients/pages/clients/clients.component.ts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28/64</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4</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viewChild() + effect() pour le DOM</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29/64</a:t>
            </a:r>
            <a:endParaRPr lang="en-US" sz="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4 — viewChild() + effect() pour le DOM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Créer un effect() dans le constructeur pour déclencher le focus quand le formulaire d'ajout est ouvert.</a:t>
            </a:r>
            <a:endParaRPr lang="en-US" sz="1220" dirty="0"/>
          </a:p>
        </p:txBody>
      </p:sp>
      <p:sp>
        <p:nvSpPr>
          <p:cNvPr id="5" name="Text 3"/>
          <p:cNvSpPr/>
          <p:nvPr/>
        </p:nvSpPr>
        <p:spPr>
          <a:xfrm>
            <a:off x="411480" y="1362456"/>
            <a:ext cx="11368735" cy="18745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Point de départ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private focusFirstNameInput(): void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this.firstNameInput()?.nativeElement.focus();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À créer dans le constructeur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effect(() =&gt;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if (this.adding())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this.focusFirstNameInput();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sp>
        <p:nvSpPr>
          <p:cNvPr id="6" name="Text 4"/>
          <p:cNvSpPr/>
          <p:nvPr/>
        </p:nvSpPr>
        <p:spPr>
          <a:xfrm>
            <a:off x="411480" y="3383280"/>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src/app/features/clients/pages/clients/clients.component.spec.ts</a:t>
            </a:r>
            <a:endParaRPr lang="en-US" sz="88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30/64</a:t>
            </a:r>
            <a:endParaRPr lang="en-US" sz="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4</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viewChild() + effect() pour le DOM</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31/64</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5</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input()</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32/64</a:t>
            </a:r>
            <a:endParaRPr lang="en-US" sz="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Définition</a:t>
            </a:r>
            <a:endParaRPr lang="en-US" sz="1800" dirty="0"/>
          </a:p>
        </p:txBody>
      </p:sp>
      <p:sp>
        <p:nvSpPr>
          <p:cNvPr id="5" name="Text 2"/>
          <p:cNvSpPr/>
          <p:nvPr/>
        </p:nvSpPr>
        <p:spPr>
          <a:xfrm>
            <a:off x="411480" y="932688"/>
            <a:ext cx="11368735" cy="63093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showStatus = input(true);              // avec valeur par défaut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account = input.required&lt;Account&gt;();   // requis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showStatus()                           // lecture</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33/64</a:t>
            </a:r>
            <a:endParaRPr lang="en-US" sz="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src/app/features/accounts/components/account-card/account-card.component.ts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34/64</a:t>
            </a:r>
            <a:endParaRPr lang="en-US" sz="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Consigne</a:t>
            </a:r>
            <a:endParaRPr lang="en-US" sz="1800" dirty="0"/>
          </a:p>
        </p:txBody>
      </p:sp>
      <p:sp>
        <p:nvSpPr>
          <p:cNvPr id="5"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Transformer @Input() showStatus = true en showStatus = input(true) et retirer Input des imports.</a:t>
            </a:r>
            <a:endParaRPr lang="en-US" sz="1220" dirty="0"/>
          </a:p>
        </p:txBody>
      </p:sp>
      <p:sp>
        <p:nvSpPr>
          <p:cNvPr id="6" name="Text 3"/>
          <p:cNvSpPr/>
          <p:nvPr/>
        </p:nvSpPr>
        <p:spPr>
          <a:xfrm>
            <a:off x="411480" y="1362456"/>
            <a:ext cx="11368735" cy="1252728"/>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@Input() showStatus = true;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visibleStatusLabel = computed(() =&gt; this.showStatus ? this.statusLabel() : null);</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showStatus = input(true);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visibleStatusLabel = computed(() =&gt; this.showStatus() ? this.statusLabel() : null);</a:t>
            </a:r>
            <a:endParaRPr lang="en-US" sz="880" dirty="0"/>
          </a:p>
        </p:txBody>
      </p:sp>
      <p:sp>
        <p:nvSpPr>
          <p:cNvPr id="7" name="Text 4"/>
          <p:cNvSpPr/>
          <p:nvPr/>
        </p:nvSpPr>
        <p:spPr>
          <a:xfrm>
            <a:off x="411480" y="27614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src/app/features/accounts/components/account-card/account-card.component.spec.ts</a:t>
            </a:r>
            <a:endParaRPr lang="en-US" sz="880" dirty="0"/>
          </a:p>
        </p:txBody>
      </p:sp>
      <p:sp>
        <p:nvSpPr>
          <p:cNvPr id="8"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35/64</a:t>
            </a:r>
            <a:endParaRPr lang="en-US" sz="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vs Zone.js</a:t>
            </a:r>
            <a:endParaRPr lang="en-US" sz="18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@Input() classique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input()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Propriété TS mise à jour par Angular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Signal mis à jour par Angular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Lu dans computed() sans créer de dépendance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Lu dans computed() → dépendance réelle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Zone.js déclenche détection après chaque cycle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Re-render seulement si la valeur change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36/64</a:t>
            </a:r>
            <a:endParaRPr lang="en-US" sz="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Quand utiliser input() — et quand rester ailleurs</a:t>
            </a:r>
            <a:endParaRPr lang="en-US" sz="18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Entrée lue dans un computed() ou 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input()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Entrée requise sans valeur par défaut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input.required&lt;T&gt;()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Entrée legacy dans un composant non migré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@Input() acceptable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bidirectionnelle parent ↔ enfant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model() (voir parenthèse après 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37/64</a:t>
            </a:r>
            <a:endParaRPr lang="en-US" sz="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6</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output()</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38/64</a:t>
            </a:r>
            <a:endParaRPr lang="en-US" sz="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Définition</a:t>
            </a:r>
            <a:endParaRPr lang="en-US" sz="1800" dirty="0"/>
          </a:p>
        </p:txBody>
      </p:sp>
      <p:sp>
        <p:nvSpPr>
          <p:cNvPr id="5" name="Text 2"/>
          <p:cNvSpPr/>
          <p:nvPr/>
        </p:nvSpPr>
        <p:spPr>
          <a:xfrm>
            <a:off x="411480" y="932688"/>
            <a:ext cx="11368735" cy="63093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selectedRequested = output&lt;Account&gt;();       // déclarer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this.selectedRequested.emit(account);        // émettre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(selectedRequested)="startEdit($event)"      // écouter dans le parent</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39/64</a:t>
            </a:r>
            <a:endParaRPr lang="en-US" sz="7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src/app/features/accounts/components/account-list/account-list.component.ts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40/64</a:t>
            </a:r>
            <a:endParaRPr lang="en-US" sz="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Lecture guidée</a:t>
            </a:r>
            <a:endParaRPr lang="en-US" sz="1800" dirty="0"/>
          </a:p>
        </p:txBody>
      </p:sp>
      <p:sp>
        <p:nvSpPr>
          <p:cNvPr id="5" name="Text 2"/>
          <p:cNvSpPr/>
          <p:nvPr/>
        </p:nvSpPr>
        <p:spPr>
          <a:xfrm>
            <a:off x="411480" y="932688"/>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editRequested = output&lt;Account&gt;();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saveRequested = output&lt;void&gt;();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cancelRequested = output&lt;void&gt;();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deleteRequested = output&lt;Account&gt;();</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41/64</a:t>
            </a:r>
            <a:endParaRPr lang="en-US" sz="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Consigne</a:t>
            </a:r>
            <a:endParaRPr lang="en-US" sz="1800" dirty="0"/>
          </a:p>
        </p:txBody>
      </p:sp>
      <p:sp>
        <p:nvSpPr>
          <p:cNvPr id="4" name="Text 2"/>
          <p:cNvSpPr/>
          <p:nvPr/>
        </p:nvSpPr>
        <p:spPr>
          <a:xfrm>
            <a:off x="411480" y="932688"/>
            <a:ext cx="11368735" cy="429768"/>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Transformer @Output() selectedRequested = new EventEmitter&lt;Account&gt;() en output(). Retirer EventEmitter et Output des imports.</a:t>
            </a:r>
            <a:endParaRPr lang="en-US" sz="1220" dirty="0"/>
          </a:p>
        </p:txBody>
      </p:sp>
      <p:sp>
        <p:nvSpPr>
          <p:cNvPr id="5" name="Text 3"/>
          <p:cNvSpPr/>
          <p:nvPr/>
        </p:nvSpPr>
        <p:spPr>
          <a:xfrm>
            <a:off x="411480" y="1472184"/>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@Output() selectedRequested = new EventEmitter&lt;Account&gt;();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selectedRequested = output&lt;Account&gt;();</a:t>
            </a:r>
            <a:endParaRPr lang="en-US" sz="880" dirty="0"/>
          </a:p>
        </p:txBody>
      </p:sp>
      <p:sp>
        <p:nvSpPr>
          <p:cNvPr id="6" name="Text 4"/>
          <p:cNvSpPr/>
          <p:nvPr/>
        </p:nvSpPr>
        <p:spPr>
          <a:xfrm>
            <a:off x="411480" y="2560320"/>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L'émission dans l'effect() reste identique : this.selectedRequested.emit(account).</a:t>
            </a:r>
            <a:endParaRPr lang="en-US" sz="1220" dirty="0"/>
          </a:p>
        </p:txBody>
      </p:sp>
      <p:sp>
        <p:nvSpPr>
          <p:cNvPr id="7" name="Text 5"/>
          <p:cNvSpPr/>
          <p:nvPr/>
        </p:nvSpPr>
        <p:spPr>
          <a:xfrm>
            <a:off x="411480" y="29900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p:txBody>
      </p:sp>
      <p:sp>
        <p:nvSpPr>
          <p:cNvPr id="8"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42/64</a:t>
            </a:r>
            <a:endParaRPr lang="en-US" sz="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vs Zone.js</a:t>
            </a:r>
            <a:endParaRPr lang="en-US" sz="18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@Output() + EventEmitter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Hérite historiquement d'un mécanisme de flux</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Pas d'Observable interne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Souvent détourné comme flux applicatif</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Contrat pensé pour le parent direct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Zone.js déclenche détection après l'émission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Angular notifie directement le parent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43/64</a:t>
            </a:r>
            <a:endParaRPr lang="en-US" sz="7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Quand utiliser output() — et quand rester ailleurs</a:t>
            </a:r>
            <a:endParaRPr lang="en-US" sz="18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Événement vers le parent direct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Événement global ou cross-composant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Service dédié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Flux avec opérateurs temporels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Flux dédié, pas 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bidirectionnelle entrée + sortie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model() (voir ci-dessous)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44/64</a:t>
            </a:r>
            <a:endParaRPr lang="en-US" sz="7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Parenthèse rapide — model()</a:t>
            </a:r>
            <a:endParaRPr lang="en-US" sz="1800" dirty="0"/>
          </a:p>
        </p:txBody>
      </p:sp>
      <p:sp>
        <p:nvSpPr>
          <p:cNvPr id="5" name="Text 2"/>
          <p:cNvSpPr/>
          <p:nvPr/>
        </p:nvSpPr>
        <p:spPr>
          <a:xfrm>
            <a:off x="411480" y="932688"/>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value = model('');</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Parent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&lt;app-search-box [(value)]="searchTerm" /&gt;</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45/64</a:t>
            </a:r>
            <a:endParaRPr lang="en-US" sz="7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Rappel RxJS — Avant toSignal()</a:t>
            </a:r>
            <a:endParaRPr lang="en-US" sz="1800" dirty="0"/>
          </a:p>
        </p:txBody>
      </p:sp>
      <p:sp>
        <p:nvSpPr>
          <p:cNvPr id="5" name="Text 2"/>
          <p:cNvSpPr/>
          <p:nvPr/>
        </p:nvSpPr>
        <p:spPr>
          <a:xfrm>
            <a:off x="411480" y="9326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RxJS    : un flux émet dans le temps → on compose/transforme ce flux</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toSignal: Observable → Signal        → on lit la dernière valeur avec ()</a:t>
            </a:r>
            <a:endParaRPr lang="en-US" sz="880" dirty="0"/>
          </a:p>
        </p:txBody>
      </p:sp>
      <p:sp>
        <p:nvSpPr>
          <p:cNvPr id="6" name="Text 3"/>
          <p:cNvSpPr/>
          <p:nvPr/>
        </p:nvSpPr>
        <p:spPr>
          <a:xfrm>
            <a:off x="411480" y="1581912"/>
            <a:ext cx="11368735" cy="109728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readonly clientId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this.route.paramMap.pipe(map(params =&gt; params.get('id'))),</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initialValue: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clientId() // lecture côté composant/template</a:t>
            </a:r>
            <a:endParaRPr lang="en-US" sz="880" dirty="0"/>
          </a:p>
        </p:txBody>
      </p:sp>
      <p:sp>
        <p:nvSpPr>
          <p:cNvPr id="7" name="Text 4"/>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46/64</a:t>
            </a:r>
            <a:endParaRPr lang="en-US" sz="7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7</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Interop RxJS progressive</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47/64</a:t>
            </a:r>
            <a:endParaRPr lang="en-US" sz="7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Définition</a:t>
            </a:r>
            <a:endParaRPr lang="en-US" sz="1800" dirty="0"/>
          </a:p>
        </p:txBody>
      </p:sp>
      <p:sp>
        <p:nvSpPr>
          <p:cNvPr id="5" name="Text 2"/>
          <p:cNvSpPr/>
          <p:nvPr/>
        </p:nvSpPr>
        <p:spPr>
          <a:xfrm>
            <a:off x="411480" y="9326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Signal → Observable pour opérateurs RxJS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debouncedSearch$ = toObservable(this.search).pipe(debounceTime(300));</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48/64</a:t>
            </a:r>
            <a:endParaRPr lang="en-US" sz="7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Fichiers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7a — toSignal() simple — src/app/features/accounts/pages/accounts/accounts.component.ts</a:t>
            </a:r>
            <a:endParaRPr lang="en-US" sz="1220" dirty="0"/>
          </a:p>
        </p:txBody>
      </p:sp>
      <p:sp>
        <p:nvSpPr>
          <p:cNvPr id="5" name="Text 3"/>
          <p:cNvSpPr/>
          <p:nvPr/>
        </p:nvSpPr>
        <p:spPr>
          <a:xfrm>
            <a:off x="411480" y="1362456"/>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7b — toSignal() avec état de chargement — src/app/features/clients/pages/dashboard/dashboard.component.ts</a:t>
            </a:r>
            <a:endParaRPr lang="en-US" sz="1220" dirty="0"/>
          </a:p>
        </p:txBody>
      </p:sp>
      <p:sp>
        <p:nvSpPr>
          <p:cNvPr id="6" name="Text 4"/>
          <p:cNvSpPr/>
          <p:nvPr/>
        </p:nvSpPr>
        <p:spPr>
          <a:xfrm>
            <a:off x="411480" y="1792224"/>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7c — toObservable() — src/app/features/clients/pages/clients/clients.component.ts (lecture seule / bonus)</a:t>
            </a:r>
            <a:endParaRPr lang="en-US" sz="122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49/64</a:t>
            </a:r>
            <a:endParaRPr lang="en-US" sz="7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7</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Interop RxJS progressive</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50/64</a:t>
            </a:r>
            <a:endParaRPr lang="en-US" sz="7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7a : remplacer la souscription manuelle à paramMap par toSignal().</a:t>
            </a:r>
            <a:endParaRPr lang="en-US" sz="1220" dirty="0"/>
          </a:p>
        </p:txBody>
      </p:sp>
      <p:sp>
        <p:nvSpPr>
          <p:cNvPr id="5" name="Text 3"/>
          <p:cNvSpPr/>
          <p:nvPr/>
        </p:nvSpPr>
        <p:spPr>
          <a:xfrm>
            <a:off x="411480" y="1362456"/>
            <a:ext cx="11368735" cy="249631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 — souscription manuelle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clientId = signal&lt;string | null&gt;(null);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constructor()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this.clientId$.pipe(takeUntilDestroyed(this.destroyRef))</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.subscribe(id =&gt; { this.clientId.set(id); this.accountsFacade.load(id);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clientId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this.route.paramMap.pipe(map(p =&gt; p.get('id'))),</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initialValue: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constructor()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effect(() =&gt; { this.accountsFacade.load(this.clientId());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sp>
        <p:nvSpPr>
          <p:cNvPr id="6" name="Text 4"/>
          <p:cNvSpPr/>
          <p:nvPr/>
        </p:nvSpPr>
        <p:spPr>
          <a:xfrm>
            <a:off x="411480" y="4005072"/>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Nettoyer aussi les imports devenus inutiles :</a:t>
            </a:r>
            <a:endParaRPr lang="en-US" sz="1220" dirty="0"/>
          </a:p>
        </p:txBody>
      </p:sp>
      <p:sp>
        <p:nvSpPr>
          <p:cNvPr id="7" name="Text 5"/>
          <p:cNvSpPr/>
          <p:nvPr/>
        </p:nvSpPr>
        <p:spPr>
          <a:xfrm>
            <a:off x="411480" y="4434840"/>
            <a:ext cx="11368735" cy="63093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À retirer après conversion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DestroyRef</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takeUntilDestroyed</a:t>
            </a:r>
            <a:endParaRPr lang="en-US" sz="880" dirty="0"/>
          </a:p>
        </p:txBody>
      </p:sp>
      <p:sp>
        <p:nvSpPr>
          <p:cNvPr id="8" name="Text 6"/>
          <p:cNvSpPr/>
          <p:nvPr/>
        </p:nvSpPr>
        <p:spPr>
          <a:xfrm>
            <a:off x="411480" y="5212080"/>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7b : remplacer firstValueFrom() + états manuels par toSignal() + pipe RxJS.</a:t>
            </a:r>
            <a:endParaRPr lang="en-US" sz="1220" dirty="0"/>
          </a:p>
        </p:txBody>
      </p:sp>
      <p:sp>
        <p:nvSpPr>
          <p:cNvPr id="9" name="Text 7"/>
          <p:cNvSpPr/>
          <p:nvPr/>
        </p:nvSpPr>
        <p:spPr>
          <a:xfrm>
            <a:off x="411480" y="5641848"/>
            <a:ext cx="11368735" cy="429768"/>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Point d'attention : ici RxJS reste utile. Le pipe() construit un petit état de vue unique : données, chargement et erreur.</a:t>
            </a:r>
            <a:endParaRPr lang="en-US" sz="1220" dirty="0"/>
          </a:p>
        </p:txBody>
      </p:sp>
      <p:sp>
        <p:nvSpPr>
          <p:cNvPr id="10" name="Text 8"/>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51/64</a:t>
            </a:r>
            <a:endParaRPr lang="en-US" sz="7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Lecture de la pipeline 7b</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startWith(...) donne l'état initial avant la réponse HTTP ;</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map(...) transforme la réponse HTTP en état de vue réussi ;</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catchError(...) transforme l'erreur HTTP en état de vue en erreur ;</a:t>
            </a:r>
            <a:endParaRPr lang="en-US" sz="1160" dirty="0"/>
          </a:p>
        </p:txBody>
      </p:sp>
      <p:sp>
        <p:nvSpPr>
          <p:cNvPr id="8" name="Text 5"/>
          <p:cNvSpPr/>
          <p:nvPr/>
        </p:nvSpPr>
        <p:spPr>
          <a:xfrm>
            <a:off x="576072" y="1865376"/>
            <a:ext cx="11204143" cy="256032"/>
          </a:xfrm>
          <a:prstGeom prst="rect">
            <a:avLst/>
          </a:prstGeom>
          <a:noFill/>
          <a:ln/>
        </p:spPr>
        <p:txBody>
          <a:bodyPr wrap="square" lIns="127" tIns="127" rIns="127" bIns="127" rtlCol="0" anchor="ctr">
            <a:normAutofit/>
          </a:bodyPr>
          <a:lstStyle/>
          <a:p>
            <a:r>
              <a:rPr lang="en-US" sz="1160" dirty="0">
                <a:solidFill>
                  <a:srgbClr val="333333"/>
                </a:solidFill>
              </a:rPr>
              <a:t>toSignal(...) expose la dernière version de cet état au template.</a:t>
            </a:r>
            <a:endParaRPr lang="en-US" sz="1160" dirty="0"/>
          </a:p>
        </p:txBody>
      </p:sp>
      <p:sp>
        <p:nvSpPr>
          <p:cNvPr id="9" name="Text 6"/>
          <p:cNvSpPr/>
          <p:nvPr/>
        </p:nvSpPr>
        <p:spPr>
          <a:xfrm>
            <a:off x="411480" y="2176272"/>
            <a:ext cx="11368735" cy="171907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private readonly clientsQuery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this.clientsApi.getAll().pipe(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map(clients =&gt; ({ clients, loading: false, error: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catchError(err =&gt; of({ clients: [], loading: false, error: err.message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startWith({ clients: [], loading: true, error: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initialValue: { clients: [], loading: true, error: null }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loading = computed(() =&gt; this.clientsQuery().loading);</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error   = computed(() =&gt; this.clientsQuery().error);</a:t>
            </a:r>
            <a:endParaRPr lang="en-US" sz="880" dirty="0"/>
          </a:p>
        </p:txBody>
      </p:sp>
      <p:sp>
        <p:nvSpPr>
          <p:cNvPr id="10" name="Text 7"/>
          <p:cNvSpPr/>
          <p:nvPr/>
        </p:nvSpPr>
        <p:spPr>
          <a:xfrm>
            <a:off x="411480" y="404164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src/app/features/clients/pages/dashboard/dashboard.component.spec.ts</a:t>
            </a:r>
            <a:endParaRPr lang="en-US" sz="880" dirty="0"/>
          </a:p>
        </p:txBody>
      </p:sp>
      <p:sp>
        <p:nvSpPr>
          <p:cNvPr id="11" name="Text 8"/>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52/64</a:t>
            </a:r>
            <a:endParaRPr lang="en-US" sz="7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vs Zone.js</a:t>
            </a:r>
            <a:endParaRPr lang="en-US" sz="18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Observable + .subscribe()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takeUntilDestroyed requis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Abonnement géré automatiquement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Copie manuelle dans un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toSignal() crée et alimente le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Zone.js détecte l'émission, re-rend tout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Angular re-rend seulement les dépendants du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53/64</a:t>
            </a:r>
            <a:endParaRPr lang="en-US" sz="7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vs RxJS</a:t>
            </a:r>
            <a:endParaRPr lang="en-US" sz="18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932688"/>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BehaviorSubject exposé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Source mutable, .next() depuis plusieurs endroits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Alimenté uniquement par l'Observable source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Adapté à l'état partagé entre services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Adapté à consommer un Observable dans un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54/64</a:t>
            </a:r>
            <a:endParaRPr lang="en-US" sz="7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500" b="1" dirty="0">
                <a:solidFill>
                  <a:srgbClr val="FFFFFF"/>
                </a:solidFill>
              </a:rPr>
              <a:t>Exercice 7 — Interop RxJS progressive — Quand utiliser toSignal() / toObservable() — et quand rester en RxJS pur</a:t>
            </a:r>
            <a:endParaRPr lang="en-US" sz="15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2176272"/>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Lire paramMap ou queryParamMap dans un composant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Observable HTTP one-shot dans un composant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toSignal() + pipe(map, catchError, startWith)</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Debounce, distinctUntilChanged sur un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toObservable() + pipe()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Flux continu (WebSocket, polling)</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RxJS pur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Combiner deux flux avec temporalité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combineLatest RxJS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Requête POST / PUT / DELETE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firstValueFrom() dans une méthode async</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55/64</a:t>
            </a:r>
            <a:endParaRPr lang="en-US" sz="7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8</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Consolidation façade avec computed()</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56/64</a:t>
            </a:r>
            <a:endParaRPr lang="en-US" sz="7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8</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Consolidation façade avec computed()</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57/64</a:t>
            </a:r>
            <a:endParaRPr lang="en-US" sz="7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8 — Consolidation façade avec computed() — Fichiers à modifier</a:t>
            </a:r>
            <a:endParaRPr lang="en-US" sz="1800" dirty="0"/>
          </a:p>
        </p:txBody>
      </p:sp>
      <p:sp>
        <p:nvSpPr>
          <p:cNvPr id="4"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src/app/features/accounts/services/accounts.facade.ts</a:t>
            </a:r>
            <a:endParaRPr lang="en-US" sz="1160" dirty="0"/>
          </a:p>
        </p:txBody>
      </p:sp>
      <p:sp>
        <p:nvSpPr>
          <p:cNvPr id="5"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src/app/features/accounts/pages/accounts/accounts.component.ts</a:t>
            </a:r>
            <a:endParaRPr lang="en-US" sz="1160" dirty="0"/>
          </a:p>
        </p:txBody>
      </p:sp>
      <p:sp>
        <p:nvSpPr>
          <p:cNvPr id="6"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src/app/features/accounts/pages/accounts/accounts.component.html</a:t>
            </a:r>
            <a:endParaRPr lang="en-US" sz="116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58/64</a:t>
            </a:r>
            <a:endParaRPr lang="en-US" sz="7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8 — Consolidation façade avec computed()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Ajouter hasActiveFilter comme computed() dans la façade, l'exposer dans le composant, l'utiliser dans le template.</a:t>
            </a:r>
            <a:endParaRPr lang="en-US" sz="1220" dirty="0"/>
          </a:p>
        </p:txBody>
      </p:sp>
      <p:sp>
        <p:nvSpPr>
          <p:cNvPr id="5" name="Text 3"/>
          <p:cNvSpPr/>
          <p:nvPr/>
        </p:nvSpPr>
        <p:spPr>
          <a:xfrm>
            <a:off x="411480" y="1362456"/>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accounts.facade.ts — ajouter après typeFilter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hasActiveFilter = computed(()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this.search().trim().length &gt; 0 || this.typeFilter() !== 'all'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sp>
        <p:nvSpPr>
          <p:cNvPr id="6" name="Text 4"/>
          <p:cNvSpPr/>
          <p:nvPr/>
        </p:nvSpPr>
        <p:spPr>
          <a:xfrm>
            <a:off x="411480" y="2295144"/>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AccountsComponent — exposer le signal de la façade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hasActiveFilter = this.accountsFacade.hasActiveFilter;</a:t>
            </a:r>
            <a:endParaRPr lang="en-US" sz="880" dirty="0"/>
          </a:p>
        </p:txBody>
      </p:sp>
      <p:sp>
        <p:nvSpPr>
          <p:cNvPr id="7" name="Text 5"/>
          <p:cNvSpPr/>
          <p:nvPr/>
        </p:nvSpPr>
        <p:spPr>
          <a:xfrm>
            <a:off x="411480" y="294436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&lt;!-- accounts.component.html — remplacer le message vide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hasActiveFilter() ? 'Aucun compte ne correspond aux filtres.' : 'Aucun compte trouvé.' }}</a:t>
            </a:r>
            <a:endParaRPr lang="en-US" sz="880" dirty="0"/>
          </a:p>
        </p:txBody>
      </p:sp>
      <p:sp>
        <p:nvSpPr>
          <p:cNvPr id="8" name="Text 6"/>
          <p:cNvSpPr/>
          <p:nvPr/>
        </p:nvSpPr>
        <p:spPr>
          <a:xfrm>
            <a:off x="411480" y="3593592"/>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p:txBody>
      </p:sp>
      <p:sp>
        <p:nvSpPr>
          <p:cNvPr id="9" name="Text 7"/>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59/64</a:t>
            </a:r>
            <a:endParaRPr lang="en-US" sz="7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8</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Consolidation façade avec computed()</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60/64</a:t>
            </a:r>
            <a:endParaRPr lang="en-US" sz="7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8 — Consolidation façade avec computed() — vs Zone.js / vs RxJS</a:t>
            </a:r>
            <a:endParaRPr lang="en-US" sz="18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Règle dans le template ou le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computed() dans la façade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Logique inline, intention illisible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Nom qui exprime l'intention métier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Dupliquée si plusieurs composants en ont besoin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Partageable depuis la façade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Non testable directement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Testable unitairement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Recalculée à chaque cycle Zone.js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Mémorisée, recalculée seulement si nécessaire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61/64</a:t>
            </a:r>
            <a:endParaRPr lang="en-US" sz="7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Récapitulatif — Signal ou RxJS ?</a:t>
            </a:r>
            <a:endParaRPr lang="en-US" sz="18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865376"/>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Utiliser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Utiliser RxJS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État UI local 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Flux impliquant le temps (debounceTime, delay…)</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dérivée d'autres états locaux</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Combinaison de plusieurs sources (combineLatest, merge)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Entrée / sortie de composant réactive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Source continue (WebSocket, polling)</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Effet de bord déclenché par un état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Commande async (POST, PUT, DELETE)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Consommer un Observable dans un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Multicasting (shareReplay, share)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62/64</a:t>
            </a:r>
            <a:endParaRPr lang="en-US" sz="7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Récapitulatif — Signal ou RxJS ? — Zone d'intersection — utiliser les deux</a:t>
            </a:r>
            <a:endParaRPr lang="en-US" sz="1800" dirty="0"/>
          </a:p>
        </p:txBody>
      </p:sp>
      <p:sp>
        <p:nvSpPr>
          <p:cNvPr id="4" name="Text 2"/>
          <p:cNvSpPr/>
          <p:nvPr/>
        </p:nvSpPr>
        <p:spPr>
          <a:xfrm>
            <a:off x="411480" y="9326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Signal → toObservable() → pipe(debounceTime)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Observable HTTP         → pipe(map, catchError, startWith) → toSignal()</a:t>
            </a:r>
            <a:endParaRPr lang="en-US" sz="88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63/64</a:t>
            </a:r>
            <a:endParaRPr lang="en-US" sz="7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Clôture du dojo — Règles à retenir</a:t>
            </a:r>
            <a:endParaRPr lang="en-US" sz="1800" dirty="0"/>
          </a:p>
        </p:txBody>
      </p:sp>
      <p:sp>
        <p:nvSpPr>
          <p:cNvPr id="5" name="Text 2"/>
          <p:cNvSpPr/>
          <p:nvPr/>
        </p:nvSpPr>
        <p:spPr>
          <a:xfrm>
            <a:off x="411480" y="932688"/>
            <a:ext cx="11368735" cy="1252728"/>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1. computed()   ne fait jamais d'appel HTTP — calcul pur uniquement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2. effect()     n'expose jamais de valeur    — effets de bord uniquement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3. L'enfant émet une INTENTION, le parent exécute l'ACTION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4. Ne pas bridger signal ↔ RxJS systématiquement — rester dans un seul monde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5. Zone.js peut coexister — migrer progressivement, pas tout d'un coup</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6. input() dans un computed() = dépendance réelle / @Input() dans computed() = non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7. toSignal() gère le désabonnement — ne pas ajouter takeUntilDestroyed en plus</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64/64</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Dojo Angular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Angular 21 Signals - Support de presentation dojo</dc:title>
  <dc:subject>Angular 21 Signals</dc:subject>
  <dc:creator>Dojo Angular Signals</dc:creator>
  <cp:lastModifiedBy>Dojo Angular Signals</cp:lastModifiedBy>
  <cp:revision>1</cp:revision>
  <dcterms:created xsi:type="dcterms:W3CDTF">2026-06-08T16:55:15Z</dcterms:created>
  <dcterms:modified xsi:type="dcterms:W3CDTF">2026-06-08T16:55:15Z</dcterms:modified>
</cp:coreProperties>
</file>