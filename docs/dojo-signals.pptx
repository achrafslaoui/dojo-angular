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Lst>
  <p:notesMasterIdLst>
    <p:notesMasterId r:id="rId6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notesMaster" Target="notesMasters/notesMaster1.xml"/><Relationship Id="rId67" Type="http://schemas.openxmlformats.org/officeDocument/2006/relationships/presProps" Target="presProps.xml"/><Relationship Id="rId68" Type="http://schemas.openxmlformats.org/officeDocument/2006/relationships/viewProps" Target="viewProps.xml"/><Relationship Id="rId69" Type="http://schemas.openxmlformats.org/officeDocument/2006/relationships/theme" Target="theme/theme1.xml"/><Relationship Id="rId7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 dojo se déroule en Angular 21. Le projet garde volontairement zone.js et OnPush pour montrer une migration progressive vers Signals, sans basculer toute l'application en zoneless dès le départ.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Zone.js aide Angular à savoir qu'un événement asynchrone a eu lieu. Il patche les APIs du navigateur (setTimeout, Promise, addEventListener, XMLHttpRequest, etc.) puis prévient Angular qu'un cycle de détection doit être lancé.
Zone.js ne modélise pas l'état de l'application : il sert surtout à déclencher la détection de changement.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signal est une valeur réactive observable par Angular. Il contient une valeur, se lit avec (), et Angular mémorise automatiquement les templates, computed() et effect() qui l'ont lu.
Le problème résolu par Signals : rendre l'état local explicite et permettre à Angular de savoir précisément quelles vues ou valeurs dérivées dépendent de cet état.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décisions d'architecture pédagogique sont détaillées dans docs/adr/0001-architecture-pedagogique-dojo-signals.md.
Le projet montre volontairement deux patterns : des Signals directement dans les composants pour apprendre les bases, puis des Signals dans des façades pour l'état partagé et les règles métier. L'asymétrie est intentionnelle : on commence simple, puis on extrait quand l'état devient plus riche ou partagé.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Voir aussi l'ADR 0001 pour la justification de ce choix.
Le projet contient volontairement du code mixte : certains états sont déjà des signals, d'autres restent des propriétés classiques.
Dans les templates, cela donne aussi un mélange visible :
Ce n'est pas une incohérence. C'est le reflet d'une migration progressive :
effect(), plusieurs composants, ou quand on veut expliciter ses dépendances.
À retenir : dans ce dojo, on ne convertit pas tout mécaniquement. L'exercice 1 convertit adding dans ClientsComponent pour apprendre signal(), tandis que le adding de AccountsComponent reste volontairement classique pour illustrer une migration progressive.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signal est une valeur réactive observable par Angular. Il contient une valeur, se lit avec (), et Angular mémorise automatiquement les templates, computed() et effect() qui l'ont lu.
Quand la valeur change, Angular sait précisément quelles dépendances invalider : les valeurs dérivées sont recalculées si nécessaire et les vues concernées sont mises à jour.
signal() crée un signal mutable. computed() crée un signal dérivé en lecture seule. effect() observe des signals, mais n'est pas un signal.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computed est une valeur dérivée mémorisée. Le calcul ne se relance que si une dépendance lue a changé depuis la dernière lecture.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effect() exécute un effet de bord quand les signals lus dans son corps changent. Il s'exécute automatiquement, sans appel explicite.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Cet exercice montre un deuxième usage de effect() : déclencher un effet DOM quand une condition UI devient vraie. Ici, on veut placer le focus sur le champ prénom quand le formulaire d'ajout est affiché.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viewChild() expose une référence DOM comme un signal. Retourne undefined quand l'élément est absent du DOM, ElementRef quand il est présent.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focus n'est pas une valeur calculée : c'est une interaction avec le DOM. effect() est adapté parce qu'il réagit à adding() et à la présence réelle de l'élément exposé par viewChild().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clé : @Input() dans un computed() ne crée pas de dépendance réelle. input() dans un computed() est une dépendance réelle.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input() déclare une entrée de composant sous forme de signal. La valeur passée par le parent devient une dépendance réelle dans les computed() et effect().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fichier contient déjà plusieurs sorties écrites avec output() :
Elles servent de modèle local. L'exercice consiste à aligner la dernière sortie legacy, selectedRequested, sur le même style.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output() déclare un événement sortant du composant. L'enfant émet une intention, le parent décide quoi faire. Ce n'est pas un Observable.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déclare une valeur bidirectionnelle entre parent et enfant. Il combine l'idée d'une entrée (input) et d'une sortie (output) pour des cas comme un composant de formulaire contrôlé.
À retenir dans ce dojo : input() sert à recevoir une valeur, output() sert à émettre une intention, model() sert aux échanges bidirectionnels explicites.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RxJS sert à modéliser et composer des flux de données dans le temps : HTTP, WebSocket, événements, debounceTime, switchMap, combineLatest, etc.
RxJS ne remplace pas Zone.js. RxJS organise les flux asynchrones ; Zone.js déclenche la détection de changement ; Signals rend l'état et ses dépendances explicites.
toSignal() ne remplace pas RxJS : il permet de consommer la dernière valeur d'un Observable sous forme de signal dans un composant.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Cet exercice est le plus dense du dojo. Il se découpe en trois marches :
1. Convertir un Observable simple en signal. 2. Ajouter l'état loading/error autour d'un flux HTTP. 3. Lire toObservable() comme pont inverse, sans demander de modification.
Le but n'est pas de remplacer RxJS. Le but est de savoir où placer la frontière : RxJS compose le flux, toSignal() expose sa dernière valeur au template signal.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Dans cette pipeline :
La méthode reload() disparaît : le chargement initial est porté par le signal créé avec toSignal().
7c : lire et expliquer debouncedSearch$ dans ClientsComponent (pas de modification).
Cette partie sert de consolidation. Elle montre le pont inverse : on part d'un signal local, puis on repasse en Observable uniquement parce qu'un opérateur temporel (debounceTime) est nécessaire.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toSignal() convertit un Observable en signal (dernière valeur émise, abonnement géré automatiquement). toObservable() expose un signal comme Observable pour brancher des opérateurs RxJS.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Exposer une règle métier dérivée dans la façade sous forme de computed() plutôt que de calculer en ligne dans le template ou le composant.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Après l'interop RxJS, on revient à un geste simple mais structurant : placer la logique dérivée dans la façade. C'est le lien avec l'objectif architectural du dojo : des composants plus lisibles, une façade qui porte l'état partagé, et des règles métier nommées.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conventions d'usage des primitives Signals et la décision de ne pas migrer vers le mode zoneless sont détaillées dans docs/adr/0002-conventions-usage-signals-et-detection-changement.md.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DD0031"/>
        </a:solidFill>
      </p:bgPr>
    </p:bg>
    <p:spTree>
      <p:nvGrpSpPr>
        <p:cNvPr id="1" name=""/>
        <p:cNvGrpSpPr/>
        <p:nvPr/>
      </p:nvGrpSpPr>
      <p:grpSpPr>
        <a:xfrm>
          <a:off x="0" y="0"/>
          <a:ext cx="0" cy="0"/>
          <a:chOff x="0" y="0"/>
          <a:chExt cx="0" cy="0"/>
        </a:xfrm>
      </p:grpSpPr>
      <p:sp>
        <p:nvSpPr>
          <p:cNvPr id="2" name="Text 0"/>
          <p:cNvSpPr/>
          <p:nvPr/>
        </p:nvSpPr>
        <p:spPr>
          <a:xfrm>
            <a:off x="594360" y="1508760"/>
            <a:ext cx="11002975" cy="1280160"/>
          </a:xfrm>
          <a:prstGeom prst="rect">
            <a:avLst/>
          </a:prstGeom>
          <a:noFill/>
          <a:ln/>
        </p:spPr>
        <p:txBody>
          <a:bodyPr wrap="square" rtlCol="0" anchor="ctr">
            <a:normAutofit/>
          </a:bodyPr>
          <a:lstStyle/>
          <a:p>
            <a:pPr algn="ctr" indent="0" marL="0">
              <a:buNone/>
            </a:pPr>
            <a:r>
              <a:rPr lang="en-US" sz="4400" b="1" dirty="0">
                <a:solidFill>
                  <a:srgbClr val="FFFFFF"/>
                </a:solidFill>
              </a:rPr>
              <a:t>Angular 21 Signals — Support de présentation dojo</a:t>
            </a:r>
            <a:endParaRPr lang="en-US" sz="4400" dirty="0"/>
          </a:p>
        </p:txBody>
      </p:sp>
      <p:sp>
        <p:nvSpPr>
          <p:cNvPr id="3" name="Text 1"/>
          <p:cNvSpPr/>
          <p:nvPr/>
        </p:nvSpPr>
        <p:spPr>
          <a:xfrm>
            <a:off x="594360" y="3063240"/>
            <a:ext cx="11002975" cy="411480"/>
          </a:xfrm>
          <a:prstGeom prst="rect">
            <a:avLst/>
          </a:prstGeom>
          <a:noFill/>
          <a:ln/>
        </p:spPr>
        <p:txBody>
          <a:bodyPr wrap="square" rtlCol="0" anchor="ctr"/>
          <a:lstStyle/>
          <a:p>
            <a:pPr algn="ctr" indent="0" marL="0">
              <a:buNone/>
            </a:pPr>
            <a:r>
              <a:rPr lang="en-US" sz="2200" dirty="0">
                <a:solidFill>
                  <a:srgbClr val="FFD5DC"/>
                </a:solidFill>
              </a:rPr>
              <a:t>Support de présentation dojo</a:t>
            </a:r>
            <a:endParaRPr lang="en-US" sz="2200" dirty="0"/>
          </a:p>
        </p:txBody>
      </p:sp>
      <p:sp>
        <p:nvSpPr>
          <p:cNvPr id="4" name="Text 2"/>
          <p:cNvSpPr/>
          <p:nvPr/>
        </p:nvSpPr>
        <p:spPr>
          <a:xfrm>
            <a:off x="594360" y="4892040"/>
            <a:ext cx="11002975" cy="320040"/>
          </a:xfrm>
          <a:prstGeom prst="rect">
            <a:avLst/>
          </a:prstGeom>
          <a:noFill/>
          <a:ln/>
        </p:spPr>
        <p:txBody>
          <a:bodyPr wrap="square" rtlCol="0" anchor="ctr"/>
          <a:lstStyle/>
          <a:p>
            <a:pPr algn="ctr" indent="0" marL="0">
              <a:buNone/>
            </a:pPr>
            <a:r>
              <a:rPr lang="en-US" sz="1300" dirty="0">
                <a:solidFill>
                  <a:srgbClr val="FFD5DC"/>
                </a:solidFill>
              </a:rPr>
              <a:t>Angular 21 · Signals · Zone.js · RxJS interop</a:t>
            </a:r>
            <a:endParaRPr lang="en-US" sz="1300" dirty="0"/>
          </a:p>
        </p:txBody>
      </p:sp>
      <p:sp>
        <p:nvSpPr>
          <p:cNvPr id="5" name="Text 3"/>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1/64</a:t>
            </a:r>
            <a:endParaRPr lang="en-US" sz="7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976D2"/>
        </a:solidFill>
      </p:bgPr>
    </p:bg>
    <p:spTree>
      <p:nvGrpSpPr>
        <p:cNvPr id="1" name=""/>
        <p:cNvGrpSpPr/>
        <p:nvPr/>
      </p:nvGrpSpPr>
      <p:grpSpPr>
        <a:xfrm>
          <a:off x="0" y="0"/>
          <a:ext cx="0" cy="0"/>
          <a:chOff x="0" y="0"/>
          <a:chExt cx="0" cy="0"/>
        </a:xfrm>
      </p:grpSpPr>
      <p:sp>
        <p:nvSpPr>
          <p:cNvPr id="2" name="Text 0"/>
          <p:cNvSpPr/>
          <p:nvPr/>
        </p:nvSpPr>
        <p:spPr>
          <a:xfrm>
            <a:off x="594360" y="1600200"/>
            <a:ext cx="11002975" cy="411480"/>
          </a:xfrm>
          <a:prstGeom prst="rect">
            <a:avLst/>
          </a:prstGeom>
          <a:noFill/>
          <a:ln/>
        </p:spPr>
        <p:txBody>
          <a:bodyPr wrap="square" lIns="0" tIns="0" rIns="0" bIns="0" rtlCol="0" anchor="ctr"/>
          <a:lstStyle/>
          <a:p>
            <a:pPr algn="ctr" indent="0" marL="0">
              <a:buNone/>
            </a:pPr>
            <a:r>
              <a:rPr lang="en-US" sz="1800" dirty="0">
                <a:solidFill>
                  <a:srgbClr val="CFE8FF"/>
                </a:solidFill>
              </a:rPr>
              <a:t>Avant de commencer</a:t>
            </a:r>
            <a:endParaRPr lang="en-US" sz="1800" dirty="0"/>
          </a:p>
        </p:txBody>
      </p:sp>
      <p:sp>
        <p:nvSpPr>
          <p:cNvPr id="3" name="Text 1"/>
          <p:cNvSpPr/>
          <p:nvPr/>
        </p:nvSpPr>
        <p:spPr>
          <a:xfrm>
            <a:off x="594360" y="2148840"/>
            <a:ext cx="11002975" cy="1097280"/>
          </a:xfrm>
          <a:prstGeom prst="rect">
            <a:avLst/>
          </a:prstGeom>
          <a:noFill/>
          <a:ln/>
        </p:spPr>
        <p:txBody>
          <a:bodyPr wrap="square" lIns="0" tIns="0" rIns="0" bIns="0" rtlCol="0" anchor="ctr">
            <a:normAutofit/>
          </a:bodyPr>
          <a:lstStyle/>
          <a:p>
            <a:pPr algn="ctr" indent="0" marL="0">
              <a:buNone/>
            </a:pPr>
            <a:r>
              <a:rPr lang="en-US" sz="3800" b="1" dirty="0">
                <a:solidFill>
                  <a:srgbClr val="FFFFFF"/>
                </a:solidFill>
              </a:rPr>
              <a:t>Zone.js et Signals</a:t>
            </a:r>
            <a:endParaRPr lang="en-US" sz="3800" dirty="0"/>
          </a:p>
        </p:txBody>
      </p:sp>
      <p:sp>
        <p:nvSpPr>
          <p:cNvPr id="5"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2/64</a:t>
            </a:r>
            <a:endParaRPr lang="en-US" sz="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Avant de commencer — Zone.js et Signals — Rappel Zone.js</a:t>
            </a:r>
            <a:endParaRPr lang="en-US" sz="1800" dirty="0"/>
          </a:p>
        </p:txBody>
      </p:sp>
      <p:sp>
        <p:nvSpPr>
          <p:cNvPr id="5" name="Text 2"/>
          <p:cNvSpPr/>
          <p:nvPr/>
        </p:nvSpPr>
        <p:spPr>
          <a:xfrm>
            <a:off x="576072" y="932688"/>
            <a:ext cx="11204143" cy="256032"/>
          </a:xfrm>
          <a:prstGeom prst="rect">
            <a:avLst/>
          </a:prstGeom>
          <a:noFill/>
          <a:ln/>
        </p:spPr>
        <p:txBody>
          <a:bodyPr wrap="square" lIns="127" tIns="127" rIns="127" bIns="127" rtlCol="0" anchor="ctr">
            <a:normAutofit/>
          </a:bodyPr>
          <a:lstStyle/>
          <a:p>
            <a:r>
              <a:rPr lang="en-US" sz="1160" dirty="0">
                <a:solidFill>
                  <a:srgbClr val="333333"/>
                </a:solidFill>
              </a:rPr>
              <a:t>Définition : librairie qui intercepte les APIs async du navigateur.</a:t>
            </a:r>
            <a:endParaRPr lang="en-US" sz="1160" dirty="0"/>
          </a:p>
        </p:txBody>
      </p:sp>
      <p:sp>
        <p:nvSpPr>
          <p:cNvPr id="6" name="Text 3"/>
          <p:cNvSpPr/>
          <p:nvPr/>
        </p:nvSpPr>
        <p:spPr>
          <a:xfrm>
            <a:off x="576072" y="1243584"/>
            <a:ext cx="11204143" cy="256032"/>
          </a:xfrm>
          <a:prstGeom prst="rect">
            <a:avLst/>
          </a:prstGeom>
          <a:noFill/>
          <a:ln/>
        </p:spPr>
        <p:txBody>
          <a:bodyPr wrap="square" lIns="127" tIns="127" rIns="127" bIns="127" rtlCol="0" anchor="ctr">
            <a:normAutofit/>
          </a:bodyPr>
          <a:lstStyle/>
          <a:p>
            <a:r>
              <a:rPr lang="en-US" sz="1160" dirty="0">
                <a:solidFill>
                  <a:srgbClr val="333333"/>
                </a:solidFill>
              </a:rPr>
              <a:t>Rôle : prévenir Angular qu'un cycle de détection doit être lancé.</a:t>
            </a:r>
            <a:endParaRPr lang="en-US" sz="1160" dirty="0"/>
          </a:p>
        </p:txBody>
      </p:sp>
      <p:sp>
        <p:nvSpPr>
          <p:cNvPr id="7" name="Text 4"/>
          <p:cNvSpPr/>
          <p:nvPr/>
        </p:nvSpPr>
        <p:spPr>
          <a:xfrm>
            <a:off x="576072" y="1554480"/>
            <a:ext cx="11204143" cy="256032"/>
          </a:xfrm>
          <a:prstGeom prst="rect">
            <a:avLst/>
          </a:prstGeom>
          <a:noFill/>
          <a:ln/>
        </p:spPr>
        <p:txBody>
          <a:bodyPr wrap="square" lIns="127" tIns="127" rIns="127" bIns="127" rtlCol="0" anchor="ctr">
            <a:normAutofit/>
          </a:bodyPr>
          <a:lstStyle/>
          <a:p>
            <a:r>
              <a:rPr lang="en-US" sz="1160" dirty="0">
                <a:solidFill>
                  <a:srgbClr val="333333"/>
                </a:solidFill>
              </a:rPr>
              <a:t>Limite : ne décrit pas l'état, il déclenche seulement la vérification.</a:t>
            </a:r>
            <a:endParaRPr lang="en-US" sz="1160" dirty="0"/>
          </a:p>
        </p:txBody>
      </p:sp>
      <p:sp>
        <p:nvSpPr>
          <p:cNvPr id="8" name="Text 5"/>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3/64</a:t>
            </a:r>
            <a:endParaRPr lang="en-US" sz="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500" b="1" dirty="0">
                <a:solidFill>
                  <a:srgbClr val="FFFFFF"/>
                </a:solidFill>
              </a:rPr>
              <a:t>Avant de commencer — Zone.js et Signals — Définition de Signal et problème résolu</a:t>
            </a:r>
            <a:endParaRPr lang="en-US" sz="1500" dirty="0"/>
          </a:p>
        </p:txBody>
      </p:sp>
      <p:sp>
        <p:nvSpPr>
          <p:cNvPr id="5" name="Text 2"/>
          <p:cNvSpPr/>
          <p:nvPr/>
        </p:nvSpPr>
        <p:spPr>
          <a:xfrm>
            <a:off x="576072" y="932688"/>
            <a:ext cx="11204143" cy="256032"/>
          </a:xfrm>
          <a:prstGeom prst="rect">
            <a:avLst/>
          </a:prstGeom>
          <a:noFill/>
          <a:ln/>
        </p:spPr>
        <p:txBody>
          <a:bodyPr wrap="square" lIns="127" tIns="127" rIns="127" bIns="127" rtlCol="0" anchor="ctr">
            <a:normAutofit/>
          </a:bodyPr>
          <a:lstStyle/>
          <a:p>
            <a:r>
              <a:rPr lang="en-US" sz="1160" dirty="0">
                <a:solidFill>
                  <a:srgbClr val="333333"/>
                </a:solidFill>
              </a:rPr>
              <a:t>Définition : valeur réactive lue avec ().</a:t>
            </a:r>
            <a:endParaRPr lang="en-US" sz="1160" dirty="0"/>
          </a:p>
        </p:txBody>
      </p:sp>
      <p:sp>
        <p:nvSpPr>
          <p:cNvPr id="6" name="Text 3"/>
          <p:cNvSpPr/>
          <p:nvPr/>
        </p:nvSpPr>
        <p:spPr>
          <a:xfrm>
            <a:off x="576072" y="1243584"/>
            <a:ext cx="11204143" cy="256032"/>
          </a:xfrm>
          <a:prstGeom prst="rect">
            <a:avLst/>
          </a:prstGeom>
          <a:noFill/>
          <a:ln/>
        </p:spPr>
        <p:txBody>
          <a:bodyPr wrap="square" lIns="127" tIns="127" rIns="127" bIns="127" rtlCol="0" anchor="ctr">
            <a:normAutofit/>
          </a:bodyPr>
          <a:lstStyle/>
          <a:p>
            <a:r>
              <a:rPr lang="en-US" sz="1160" dirty="0">
                <a:solidFill>
                  <a:srgbClr val="333333"/>
                </a:solidFill>
              </a:rPr>
              <a:t>Rôle : mémoriser les lecteurs dépendants.</a:t>
            </a:r>
            <a:endParaRPr lang="en-US" sz="1160" dirty="0"/>
          </a:p>
        </p:txBody>
      </p:sp>
      <p:sp>
        <p:nvSpPr>
          <p:cNvPr id="7" name="Text 4"/>
          <p:cNvSpPr/>
          <p:nvPr/>
        </p:nvSpPr>
        <p:spPr>
          <a:xfrm>
            <a:off x="576072" y="1554480"/>
            <a:ext cx="11204143" cy="256032"/>
          </a:xfrm>
          <a:prstGeom prst="rect">
            <a:avLst/>
          </a:prstGeom>
          <a:noFill/>
          <a:ln/>
        </p:spPr>
        <p:txBody>
          <a:bodyPr wrap="square" lIns="127" tIns="127" rIns="127" bIns="127" rtlCol="0" anchor="ctr">
            <a:normAutofit/>
          </a:bodyPr>
          <a:lstStyle/>
          <a:p>
            <a:r>
              <a:rPr lang="en-US" sz="1160" dirty="0">
                <a:solidFill>
                  <a:srgbClr val="333333"/>
                </a:solidFill>
              </a:rPr>
              <a:t>Problème résolu : état explicite et mises à jour plus ciblées.</a:t>
            </a:r>
            <a:endParaRPr lang="en-US" sz="1160" dirty="0"/>
          </a:p>
        </p:txBody>
      </p:sp>
      <p:sp>
        <p:nvSpPr>
          <p:cNvPr id="8" name="Text 5"/>
          <p:cNvSpPr/>
          <p:nvPr/>
        </p:nvSpPr>
        <p:spPr>
          <a:xfrm>
            <a:off x="411480" y="1865376"/>
            <a:ext cx="11368735" cy="502920"/>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Zone.js : un événement async se produit → Angular lance la détection</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Signals : une valeur change             → Angular connaît les lecteurs dépendants</a:t>
            </a:r>
            <a:endParaRPr lang="en-US" sz="880" dirty="0"/>
          </a:p>
        </p:txBody>
      </p:sp>
      <p:sp>
        <p:nvSpPr>
          <p:cNvPr id="9" name="Text 6"/>
          <p:cNvSpPr/>
          <p:nvPr/>
        </p:nvSpPr>
        <p:spPr>
          <a:xfrm>
            <a:off x="411480" y="2514600"/>
            <a:ext cx="11368735" cy="502920"/>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Signals résout : l'état réactif local synchrone</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Zone.js résout : le déclenchement automatique de la détection après async</a:t>
            </a:r>
            <a:endParaRPr lang="en-US" sz="880" dirty="0"/>
          </a:p>
        </p:txBody>
      </p:sp>
      <p:sp>
        <p:nvSpPr>
          <p:cNvPr id="10" name="Text 7"/>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4/64</a:t>
            </a:r>
            <a:endParaRPr lang="en-US" sz="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976D2"/>
        </a:solidFill>
      </p:bgPr>
    </p:bg>
    <p:spTree>
      <p:nvGrpSpPr>
        <p:cNvPr id="1" name=""/>
        <p:cNvGrpSpPr/>
        <p:nvPr/>
      </p:nvGrpSpPr>
      <p:grpSpPr>
        <a:xfrm>
          <a:off x="0" y="0"/>
          <a:ext cx="0" cy="0"/>
          <a:chOff x="0" y="0"/>
          <a:chExt cx="0" cy="0"/>
        </a:xfrm>
      </p:grpSpPr>
      <p:sp>
        <p:nvSpPr>
          <p:cNvPr id="2" name="Text 0"/>
          <p:cNvSpPr/>
          <p:nvPr/>
        </p:nvSpPr>
        <p:spPr>
          <a:xfrm>
            <a:off x="594360" y="2011680"/>
            <a:ext cx="11002975" cy="1097280"/>
          </a:xfrm>
          <a:prstGeom prst="rect">
            <a:avLst/>
          </a:prstGeom>
          <a:noFill/>
          <a:ln/>
        </p:spPr>
        <p:txBody>
          <a:bodyPr wrap="square" lIns="0" tIns="0" rIns="0" bIns="0" rtlCol="0" anchor="ctr">
            <a:normAutofit/>
          </a:bodyPr>
          <a:lstStyle/>
          <a:p>
            <a:pPr algn="ctr" indent="0" marL="0">
              <a:buNone/>
            </a:pPr>
            <a:r>
              <a:rPr lang="en-US" sz="3800" b="1" dirty="0">
                <a:solidFill>
                  <a:srgbClr val="FFFFFF"/>
                </a:solidFill>
              </a:rPr>
              <a:t>Intention d'architecture du dojo</a:t>
            </a:r>
            <a:endParaRPr lang="en-US" sz="3800" dirty="0"/>
          </a:p>
        </p:txBody>
      </p:sp>
      <p:sp>
        <p:nvSpPr>
          <p:cNvPr id="4" name="Text 1"/>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5/64</a:t>
            </a:r>
            <a:endParaRPr lang="en-US" sz="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Lecture guidée — code mixte pendant la migration</a:t>
            </a:r>
            <a:endParaRPr lang="en-US" sz="1800" dirty="0"/>
          </a:p>
        </p:txBody>
      </p:sp>
      <p:sp>
        <p:nvSpPr>
          <p:cNvPr id="5" name="Text 2"/>
          <p:cNvSpPr/>
          <p:nvPr/>
        </p:nvSpPr>
        <p:spPr>
          <a:xfrm>
            <a:off x="411480" y="932688"/>
            <a:ext cx="11368735" cy="1719072"/>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 ClientCardComponent</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editMode = false;</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editModel: ClientUpdate | null = null;</a:t>
            </a:r>
            <a:endParaRPr lang="en-US" sz="880" dirty="0"/>
          </a:p>
          <a:p>
            <a:pPr indent="0" marL="0">
              <a:buNone/>
            </a:pP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ClientDetailComponent</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addingAccount = false;</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readonly mutating = this.accountsFacade.mutating;</a:t>
            </a:r>
            <a:endParaRPr lang="en-US" sz="880" dirty="0"/>
          </a:p>
          <a:p>
            <a:pPr indent="0" marL="0">
              <a:buNone/>
            </a:pP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AccountsComponent</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adding = false;</a:t>
            </a:r>
            <a:endParaRPr lang="en-US" sz="880" dirty="0"/>
          </a:p>
        </p:txBody>
      </p:sp>
      <p:sp>
        <p:nvSpPr>
          <p:cNvPr id="6" name="Text 3"/>
          <p:cNvSpPr/>
          <p:nvPr/>
        </p:nvSpPr>
        <p:spPr>
          <a:xfrm>
            <a:off x="411480" y="2798064"/>
            <a:ext cx="11368735" cy="502920"/>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@if (addingAccount) { ... }</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@if (mutating()) { ... }</a:t>
            </a:r>
            <a:endParaRPr lang="en-US" sz="880" dirty="0"/>
          </a:p>
        </p:txBody>
      </p:sp>
      <p:sp>
        <p:nvSpPr>
          <p:cNvPr id="7" name="Text 4"/>
          <p:cNvSpPr/>
          <p:nvPr/>
        </p:nvSpPr>
        <p:spPr>
          <a:xfrm>
            <a:off x="576072" y="3447288"/>
            <a:ext cx="11204143" cy="256032"/>
          </a:xfrm>
          <a:prstGeom prst="rect">
            <a:avLst/>
          </a:prstGeom>
          <a:noFill/>
          <a:ln/>
        </p:spPr>
        <p:txBody>
          <a:bodyPr wrap="square" lIns="127" tIns="127" rIns="127" bIns="127" rtlCol="0" anchor="ctr">
            <a:normAutofit/>
          </a:bodyPr>
          <a:lstStyle/>
          <a:p>
            <a:r>
              <a:rPr lang="en-US" sz="1160" dirty="0">
                <a:solidFill>
                  <a:srgbClr val="333333"/>
                </a:solidFill>
              </a:rPr>
              <a:t>mutating() vient d'une façade Signals et peut être partagé entre composants ;</a:t>
            </a:r>
            <a:endParaRPr lang="en-US" sz="1160" dirty="0"/>
          </a:p>
        </p:txBody>
      </p:sp>
      <p:sp>
        <p:nvSpPr>
          <p:cNvPr id="8" name="Text 5"/>
          <p:cNvSpPr/>
          <p:nvPr/>
        </p:nvSpPr>
        <p:spPr>
          <a:xfrm>
            <a:off x="576072" y="3758184"/>
            <a:ext cx="11204143" cy="256032"/>
          </a:xfrm>
          <a:prstGeom prst="rect">
            <a:avLst/>
          </a:prstGeom>
          <a:noFill/>
          <a:ln/>
        </p:spPr>
        <p:txBody>
          <a:bodyPr wrap="square" lIns="127" tIns="127" rIns="127" bIns="127" rtlCol="0" anchor="ctr">
            <a:normAutofit/>
          </a:bodyPr>
          <a:lstStyle/>
          <a:p>
            <a:r>
              <a:rPr lang="en-US" sz="1160" dirty="0">
                <a:solidFill>
                  <a:srgbClr val="333333"/>
                </a:solidFill>
              </a:rPr>
              <a:t>addingAccount, adding, editMode et editModel sont des états locaux transitoires ;</a:t>
            </a:r>
            <a:endParaRPr lang="en-US" sz="1160" dirty="0"/>
          </a:p>
        </p:txBody>
      </p:sp>
      <p:sp>
        <p:nvSpPr>
          <p:cNvPr id="9" name="Text 6"/>
          <p:cNvSpPr/>
          <p:nvPr/>
        </p:nvSpPr>
        <p:spPr>
          <a:xfrm>
            <a:off x="576072" y="4069080"/>
            <a:ext cx="11204143" cy="256032"/>
          </a:xfrm>
          <a:prstGeom prst="rect">
            <a:avLst/>
          </a:prstGeom>
          <a:noFill/>
          <a:ln/>
        </p:spPr>
        <p:txBody>
          <a:bodyPr wrap="square" lIns="127" tIns="127" rIns="127" bIns="127" rtlCol="0" anchor="ctr">
            <a:normAutofit/>
          </a:bodyPr>
          <a:lstStyle/>
          <a:p>
            <a:r>
              <a:rPr lang="en-US" sz="1160" dirty="0">
                <a:solidFill>
                  <a:srgbClr val="333333"/>
                </a:solidFill>
              </a:rPr>
              <a:t>avec zone.js + OnPush, un clic template marque le composant à vérifier ;</a:t>
            </a:r>
            <a:endParaRPr lang="en-US" sz="1160" dirty="0"/>
          </a:p>
        </p:txBody>
      </p:sp>
      <p:sp>
        <p:nvSpPr>
          <p:cNvPr id="10" name="Text 7"/>
          <p:cNvSpPr/>
          <p:nvPr/>
        </p:nvSpPr>
        <p:spPr>
          <a:xfrm>
            <a:off x="576072" y="4379976"/>
            <a:ext cx="11204143" cy="256032"/>
          </a:xfrm>
          <a:prstGeom prst="rect">
            <a:avLst/>
          </a:prstGeom>
          <a:noFill/>
          <a:ln/>
        </p:spPr>
        <p:txBody>
          <a:bodyPr wrap="square" lIns="127" tIns="127" rIns="127" bIns="127" rtlCol="0" anchor="ctr">
            <a:normAutofit/>
          </a:bodyPr>
          <a:lstStyle/>
          <a:p>
            <a:r>
              <a:rPr lang="en-US" sz="1160" dirty="0">
                <a:solidFill>
                  <a:srgbClr val="333333"/>
                </a:solidFill>
              </a:rPr>
              <a:t>convertir en signal devient intéressant quand l'état est lu par computed(),</a:t>
            </a:r>
            <a:endParaRPr lang="en-US" sz="1160" dirty="0"/>
          </a:p>
        </p:txBody>
      </p:sp>
      <p:sp>
        <p:nvSpPr>
          <p:cNvPr id="11" name="Text 8"/>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6/64</a:t>
            </a:r>
            <a:endParaRPr lang="en-US" sz="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Mapping exercices / branches / fichiers</a:t>
            </a:r>
            <a:endParaRPr lang="en-US" sz="18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11480" y="932688"/>
          <a:ext cx="11368735" cy="2798064"/>
        </p:xfrm>
        <a:graphic>
          <a:graphicData uri="http://schemas.openxmlformats.org/drawingml/2006/table">
            <a:tbl>
              <a:tblPr/>
              <a:tblGrid>
                <a:gridCol w="2842184"/>
                <a:gridCol w="2842184"/>
                <a:gridCol w="2842184"/>
                <a:gridCol w="2842184"/>
              </a:tblGrid>
              <a:tr h="310896">
                <a:tc>
                  <a:txBody>
                    <a:bodyPr/>
                    <a:lstStyle/>
                    <a:p>
                      <a:pPr indent="0" marL="0">
                        <a:buNone/>
                      </a:pPr>
                      <a:r>
                        <a:rPr lang="en-US" sz="850" b="1" dirty="0">
                          <a:solidFill>
                            <a:srgbClr val="FFFFFF"/>
                          </a:solidFill>
                        </a:rPr>
                        <a:t>Exercice</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c>
                  <a:txBody>
                    <a:bodyPr/>
                    <a:lstStyle/>
                    <a:p>
                      <a:pPr indent="0" marL="0">
                        <a:buNone/>
                      </a:pPr>
                      <a:r>
                        <a:rPr lang="en-US" sz="850" b="1" dirty="0">
                          <a:solidFill>
                            <a:srgbClr val="FFFFFF"/>
                          </a:solidFill>
                        </a:rPr>
                        <a:t>Branche</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c>
                  <a:txBody>
                    <a:bodyPr/>
                    <a:lstStyle/>
                    <a:p>
                      <a:pPr indent="0" marL="0">
                        <a:buNone/>
                      </a:pPr>
                      <a:r>
                        <a:rPr lang="en-US" sz="850" b="1" dirty="0">
                          <a:solidFill>
                            <a:srgbClr val="FFFFFF"/>
                          </a:solidFill>
                        </a:rPr>
                        <a:t>Concept</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c>
                  <a:txBody>
                    <a:bodyPr/>
                    <a:lstStyle/>
                    <a:p>
                      <a:pPr indent="0" marL="0">
                        <a:buNone/>
                      </a:pPr>
                      <a:r>
                        <a:rPr lang="en-US" sz="850" b="1" dirty="0">
                          <a:solidFill>
                            <a:srgbClr val="FFFFFF"/>
                          </a:solidFill>
                        </a:rPr>
                        <a:t>Fichiers principaux</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r>
              <a:tr h="310896">
                <a:tc>
                  <a:txBody>
                    <a:bodyPr/>
                    <a:lstStyle/>
                    <a:p>
                      <a:pPr indent="0" marL="0">
                        <a:buNone/>
                      </a:pPr>
                      <a:r>
                        <a:rPr lang="en-US" sz="850" dirty="0">
                          <a:solidFill>
                            <a:srgbClr val="333333"/>
                          </a:solidFill>
                        </a:rPr>
                        <a:t>1</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333333"/>
                          </a:solidFill>
                        </a:rPr>
                        <a:t>exercice-1</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333333"/>
                          </a:solidFill>
                        </a:rPr>
                        <a:t>signal()</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333333"/>
                          </a:solidFill>
                        </a:rPr>
                        <a:t>clients.component.ts, clients.component.html, clients.component.spec.ts</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850" dirty="0">
                          <a:solidFill>
                            <a:srgbClr val="333333"/>
                          </a:solidFill>
                        </a:rPr>
                        <a:t>2</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850" dirty="0">
                          <a:solidFill>
                            <a:srgbClr val="333333"/>
                          </a:solidFill>
                        </a:rPr>
                        <a:t>exercice-2</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850" dirty="0">
                          <a:solidFill>
                            <a:srgbClr val="333333"/>
                          </a:solidFill>
                        </a:rPr>
                        <a:t>computed() en façade</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850" dirty="0">
                          <a:solidFill>
                            <a:srgbClr val="333333"/>
                          </a:solidFill>
                        </a:rPr>
                        <a:t>accounts.facade.ts, accounts.component.ts, accounts.component.html, accounts.component.spec.ts</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r h="310896">
                <a:tc>
                  <a:txBody>
                    <a:bodyPr/>
                    <a:lstStyle/>
                    <a:p>
                      <a:pPr indent="0" marL="0">
                        <a:buNone/>
                      </a:pPr>
                      <a:r>
                        <a:rPr lang="en-US" sz="850" dirty="0">
                          <a:solidFill>
                            <a:srgbClr val="333333"/>
                          </a:solidFill>
                        </a:rPr>
                        <a:t>3</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333333"/>
                          </a:solidFill>
                        </a:rPr>
                        <a:t>exercice-3</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333333"/>
                          </a:solidFill>
                        </a:rPr>
                        <a:t>effect() pour cohérence d'état</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333333"/>
                          </a:solidFill>
                        </a:rPr>
                        <a:t>clients.component.ts</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850" dirty="0">
                          <a:solidFill>
                            <a:srgbClr val="333333"/>
                          </a:solidFill>
                        </a:rPr>
                        <a:t>4</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850" dirty="0">
                          <a:solidFill>
                            <a:srgbClr val="333333"/>
                          </a:solidFill>
                        </a:rPr>
                        <a:t>exercice-4</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850" dirty="0">
                          <a:solidFill>
                            <a:srgbClr val="333333"/>
                          </a:solidFill>
                        </a:rPr>
                        <a:t>viewChild() + effect() DOM</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850" dirty="0">
                          <a:solidFill>
                            <a:srgbClr val="333333"/>
                          </a:solidFill>
                        </a:rPr>
                        <a:t>clients.component.ts</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r h="310896">
                <a:tc>
                  <a:txBody>
                    <a:bodyPr/>
                    <a:lstStyle/>
                    <a:p>
                      <a:pPr indent="0" marL="0">
                        <a:buNone/>
                      </a:pPr>
                      <a:r>
                        <a:rPr lang="en-US" sz="850" dirty="0">
                          <a:solidFill>
                            <a:srgbClr val="333333"/>
                          </a:solidFill>
                        </a:rPr>
                        <a:t>5</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333333"/>
                          </a:solidFill>
                        </a:rPr>
                        <a:t>exercice-5</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333333"/>
                          </a:solidFill>
                        </a:rPr>
                        <a:t>input()</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333333"/>
                          </a:solidFill>
                        </a:rPr>
                        <a:t>account-card.component.ts</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850" dirty="0">
                          <a:solidFill>
                            <a:srgbClr val="333333"/>
                          </a:solidFill>
                        </a:rPr>
                        <a:t>6</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850" dirty="0">
                          <a:solidFill>
                            <a:srgbClr val="333333"/>
                          </a:solidFill>
                        </a:rPr>
                        <a:t>exercice-6</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850" dirty="0">
                          <a:solidFill>
                            <a:srgbClr val="333333"/>
                          </a:solidFill>
                        </a:rPr>
                        <a:t>output()</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850" dirty="0">
                          <a:solidFill>
                            <a:srgbClr val="333333"/>
                          </a:solidFill>
                        </a:rPr>
                        <a:t>account-list.component.ts</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r h="310896">
                <a:tc>
                  <a:txBody>
                    <a:bodyPr/>
                    <a:lstStyle/>
                    <a:p>
                      <a:pPr indent="0" marL="0">
                        <a:buNone/>
                      </a:pPr>
                      <a:r>
                        <a:rPr lang="en-US" sz="850" dirty="0">
                          <a:solidFill>
                            <a:srgbClr val="333333"/>
                          </a:solidFill>
                        </a:rPr>
                        <a:t>7</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333333"/>
                          </a:solidFill>
                        </a:rPr>
                        <a:t>exercice-7</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333333"/>
                          </a:solidFill>
                        </a:rPr>
                        <a:t>toSignal() / toObservable()</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333333"/>
                          </a:solidFill>
                        </a:rPr>
                        <a:t>accounts.component.ts, dashboard.component.ts, dashboard.component.spec.ts, clients.component.ts</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850" dirty="0">
                          <a:solidFill>
                            <a:srgbClr val="333333"/>
                          </a:solidFill>
                        </a:rPr>
                        <a:t>8</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850" dirty="0">
                          <a:solidFill>
                            <a:srgbClr val="333333"/>
                          </a:solidFill>
                        </a:rPr>
                        <a:t>exercice-8</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850" dirty="0">
                          <a:solidFill>
                            <a:srgbClr val="333333"/>
                          </a:solidFill>
                        </a:rPr>
                        <a:t>computed() en façade</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850" dirty="0">
                          <a:solidFill>
                            <a:srgbClr val="333333"/>
                          </a:solidFill>
                        </a:rPr>
                        <a:t>accounts.facade.ts, accounts.component.ts, accounts.component.html</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bl>
          </a:graphicData>
        </a:graphic>
      </p:graphicFrame>
      <p:sp>
        <p:nvSpPr>
          <p:cNvPr id="5" name="Text 2"/>
          <p:cNvSpPr/>
          <p:nvPr/>
        </p:nvSpPr>
        <p:spPr>
          <a:xfrm>
            <a:off x="411480" y="3895344"/>
            <a:ext cx="11368735" cy="429768"/>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Les branches sont cumulatives : chaque branche ajoute uniquement la correction de son exercice par rapport à la branche précédente.</a:t>
            </a:r>
            <a:endParaRPr lang="en-US" sz="1220" dirty="0"/>
          </a:p>
        </p:txBody>
      </p:sp>
      <p:sp>
        <p:nvSpPr>
          <p:cNvPr id="6" name="Text 3"/>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7/64</a:t>
            </a:r>
            <a:endParaRPr lang="en-US" sz="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976D2"/>
        </a:solidFill>
      </p:bgPr>
    </p:bg>
    <p:spTree>
      <p:nvGrpSpPr>
        <p:cNvPr id="1" name=""/>
        <p:cNvGrpSpPr/>
        <p:nvPr/>
      </p:nvGrpSpPr>
      <p:grpSpPr>
        <a:xfrm>
          <a:off x="0" y="0"/>
          <a:ext cx="0" cy="0"/>
          <a:chOff x="0" y="0"/>
          <a:chExt cx="0" cy="0"/>
        </a:xfrm>
      </p:grpSpPr>
      <p:sp>
        <p:nvSpPr>
          <p:cNvPr id="2" name="Text 0"/>
          <p:cNvSpPr/>
          <p:nvPr/>
        </p:nvSpPr>
        <p:spPr>
          <a:xfrm>
            <a:off x="594360" y="1600200"/>
            <a:ext cx="11002975" cy="411480"/>
          </a:xfrm>
          <a:prstGeom prst="rect">
            <a:avLst/>
          </a:prstGeom>
          <a:noFill/>
          <a:ln/>
        </p:spPr>
        <p:txBody>
          <a:bodyPr wrap="square" lIns="0" tIns="0" rIns="0" bIns="0" rtlCol="0" anchor="ctr"/>
          <a:lstStyle/>
          <a:p>
            <a:pPr algn="ctr" indent="0" marL="0">
              <a:buNone/>
            </a:pPr>
            <a:r>
              <a:rPr lang="en-US" sz="1800" dirty="0">
                <a:solidFill>
                  <a:srgbClr val="CFE8FF"/>
                </a:solidFill>
              </a:rPr>
              <a:t>Exercice 1</a:t>
            </a:r>
            <a:endParaRPr lang="en-US" sz="1800" dirty="0"/>
          </a:p>
        </p:txBody>
      </p:sp>
      <p:sp>
        <p:nvSpPr>
          <p:cNvPr id="3" name="Text 1"/>
          <p:cNvSpPr/>
          <p:nvPr/>
        </p:nvSpPr>
        <p:spPr>
          <a:xfrm>
            <a:off x="594360" y="2148840"/>
            <a:ext cx="11002975" cy="1097280"/>
          </a:xfrm>
          <a:prstGeom prst="rect">
            <a:avLst/>
          </a:prstGeom>
          <a:noFill/>
          <a:ln/>
        </p:spPr>
        <p:txBody>
          <a:bodyPr wrap="square" lIns="0" tIns="0" rIns="0" bIns="0" rtlCol="0" anchor="ctr">
            <a:normAutofit/>
          </a:bodyPr>
          <a:lstStyle/>
          <a:p>
            <a:pPr algn="ctr" indent="0" marL="0">
              <a:buNone/>
            </a:pPr>
            <a:r>
              <a:rPr lang="en-US" sz="3800" b="1" dirty="0">
                <a:solidFill>
                  <a:srgbClr val="FFFFFF"/>
                </a:solidFill>
              </a:rPr>
              <a:t>signal()</a:t>
            </a:r>
            <a:endParaRPr lang="en-US" sz="3800" dirty="0"/>
          </a:p>
        </p:txBody>
      </p:sp>
      <p:sp>
        <p:nvSpPr>
          <p:cNvPr id="4"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8/64</a:t>
            </a:r>
            <a:endParaRPr lang="en-US" sz="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1 — signal() — Fichier à modifier</a:t>
            </a:r>
            <a:endParaRPr lang="en-US" sz="1800" dirty="0"/>
          </a:p>
        </p:txBody>
      </p:sp>
      <p:sp>
        <p:nvSpPr>
          <p:cNvPr id="4" name="Text 2"/>
          <p:cNvSpPr/>
          <p:nvPr/>
        </p:nvSpPr>
        <p:spPr>
          <a:xfrm>
            <a:off x="411480" y="932688"/>
            <a:ext cx="11368735" cy="320040"/>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src/app/features/clients/pages/clients/clients.component.ts</a:t>
            </a:r>
            <a:endParaRPr lang="en-US" sz="1220" dirty="0"/>
          </a:p>
        </p:txBody>
      </p:sp>
      <p:sp>
        <p:nvSpPr>
          <p:cNvPr id="5" name="Text 3"/>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9/64</a:t>
            </a:r>
            <a:endParaRPr lang="en-US" sz="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1 — signal() — Consigne</a:t>
            </a:r>
            <a:endParaRPr lang="en-US" sz="1800" dirty="0"/>
          </a:p>
        </p:txBody>
      </p:sp>
      <p:sp>
        <p:nvSpPr>
          <p:cNvPr id="4" name="Text 2"/>
          <p:cNvSpPr/>
          <p:nvPr/>
        </p:nvSpPr>
        <p:spPr>
          <a:xfrm>
            <a:off x="411480" y="932688"/>
            <a:ext cx="11368735" cy="320040"/>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Convertir la propriété adding = false en signal.</a:t>
            </a:r>
            <a:endParaRPr lang="en-US" sz="1220" dirty="0"/>
          </a:p>
        </p:txBody>
      </p:sp>
      <p:sp>
        <p:nvSpPr>
          <p:cNvPr id="5" name="Text 3"/>
          <p:cNvSpPr/>
          <p:nvPr/>
        </p:nvSpPr>
        <p:spPr>
          <a:xfrm>
            <a:off x="411480" y="1362456"/>
            <a:ext cx="11368735" cy="1563624"/>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 Avant</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adding = false;</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startAdd(): void { this.adding = true; }</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cancelAdd(): void { this.adding = false; }</a:t>
            </a:r>
            <a:endParaRPr lang="en-US" sz="880" dirty="0"/>
          </a:p>
          <a:p>
            <a:pPr indent="0" marL="0">
              <a:buNone/>
            </a:pP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Après</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readonly adding = signal(false);</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startAdd(): void { this.adding.set(true); }</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cancelAdd(): void { this.adding.set(false); }</a:t>
            </a:r>
            <a:endParaRPr lang="en-US" sz="880" dirty="0"/>
          </a:p>
        </p:txBody>
      </p:sp>
      <p:sp>
        <p:nvSpPr>
          <p:cNvPr id="6" name="Text 4"/>
          <p:cNvSpPr/>
          <p:nvPr/>
        </p:nvSpPr>
        <p:spPr>
          <a:xfrm>
            <a:off x="411480" y="3072384"/>
            <a:ext cx="11368735" cy="320040"/>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Dans le template : remplacer adding par adding().</a:t>
            </a:r>
            <a:endParaRPr lang="en-US" sz="1220" dirty="0"/>
          </a:p>
        </p:txBody>
      </p:sp>
      <p:sp>
        <p:nvSpPr>
          <p:cNvPr id="7" name="Text 5"/>
          <p:cNvSpPr/>
          <p:nvPr/>
        </p:nvSpPr>
        <p:spPr>
          <a:xfrm>
            <a:off x="411480" y="3502152"/>
            <a:ext cx="11368735" cy="502920"/>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npm test -- --runTestsByPath src/app/features/clients/pages/clients/clients.component.spec.ts</a:t>
            </a:r>
            <a:endParaRPr lang="en-US" sz="880" dirty="0"/>
          </a:p>
        </p:txBody>
      </p:sp>
      <p:sp>
        <p:nvSpPr>
          <p:cNvPr id="8" name="Text 6"/>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10/64</a:t>
            </a:r>
            <a:endParaRPr lang="en-US" sz="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1 — signal() — Définition</a:t>
            </a:r>
            <a:endParaRPr lang="en-US" sz="1800" dirty="0"/>
          </a:p>
        </p:txBody>
      </p:sp>
      <p:sp>
        <p:nvSpPr>
          <p:cNvPr id="5" name="Text 2"/>
          <p:cNvSpPr/>
          <p:nvPr/>
        </p:nvSpPr>
        <p:spPr>
          <a:xfrm>
            <a:off x="411480" y="932688"/>
            <a:ext cx="11368735" cy="786384"/>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readonly adding = signal(false);  // déclarer</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this.adding.set(true);            // écrire</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this.adding.update(v =&gt; !v);      // mettre à jour depuis la valeur courante</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adding()                          // lire (template ou TS)</a:t>
            </a:r>
            <a:endParaRPr lang="en-US" sz="880" dirty="0"/>
          </a:p>
        </p:txBody>
      </p:sp>
      <p:sp>
        <p:nvSpPr>
          <p:cNvPr id="6" name="Text 3"/>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11/64</a:t>
            </a:r>
            <a:endParaRPr lang="en-US" sz="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1 — signal() — vs Zone.js</a:t>
            </a:r>
            <a:endParaRPr lang="en-US" sz="18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411480" y="932688"/>
          <a:ext cx="11368735" cy="1243584"/>
        </p:xfrm>
        <a:graphic>
          <a:graphicData uri="http://schemas.openxmlformats.org/drawingml/2006/table">
            <a:tbl>
              <a:tblPr/>
              <a:tblGrid>
                <a:gridCol w="5684368"/>
                <a:gridCol w="5684368"/>
              </a:tblGrid>
              <a:tr h="310896">
                <a:tc>
                  <a:txBody>
                    <a:bodyPr/>
                    <a:lstStyle/>
                    <a:p>
                      <a:pPr indent="0" marL="0">
                        <a:buNone/>
                      </a:pPr>
                      <a:r>
                        <a:rPr lang="en-US" sz="1020" b="1" dirty="0">
                          <a:solidFill>
                            <a:srgbClr val="FFFFFF"/>
                          </a:solidFill>
                        </a:rPr>
                        <a:t>Zone.js + propriété classique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c>
                  <a:txBody>
                    <a:bodyPr/>
                    <a:lstStyle/>
                    <a:p>
                      <a:pPr indent="0" marL="0">
                        <a:buNone/>
                      </a:pPr>
                      <a:r>
                        <a:rPr lang="en-US" sz="1020" b="1" dirty="0">
                          <a:solidFill>
                            <a:srgbClr val="FFFFFF"/>
                          </a:solidFill>
                        </a:rPr>
                        <a:t>signal()</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r>
              <a:tr h="310896">
                <a:tc>
                  <a:txBody>
                    <a:bodyPr/>
                    <a:lstStyle/>
                    <a:p>
                      <a:pPr indent="0" marL="0">
                        <a:buNone/>
                      </a:pPr>
                      <a:r>
                        <a:rPr lang="en-US" sz="1020" dirty="0">
                          <a:solidFill>
                            <a:srgbClr val="333333"/>
                          </a:solidFill>
                        </a:rPr>
                        <a:t>Angular re-rend tout le composant à chaque cycle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Re-rend seulement les lecteurs du signal</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Détection déclenchée par Zone.js après chaque async</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Détection déclenchée par .set()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r h="310896">
                <a:tc>
                  <a:txBody>
                    <a:bodyPr/>
                    <a:lstStyle/>
                    <a:p>
                      <a:pPr indent="0" marL="0">
                        <a:buNone/>
                      </a:pPr>
                      <a:r>
                        <a:rPr lang="en-US" sz="1020" dirty="0">
                          <a:solidFill>
                            <a:srgbClr val="333333"/>
                          </a:solidFill>
                        </a:rPr>
                        <a:t>Rien à déclarer — Zone.js devine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Déclarer signal() — Angular sait exactement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bl>
          </a:graphicData>
        </a:graphic>
      </p:graphicFrame>
      <p:sp>
        <p:nvSpPr>
          <p:cNvPr id="5"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12/64</a:t>
            </a:r>
            <a:endParaRPr lang="en-US" sz="7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1 — signal() — Quand utiliser signal() — et quand rester ailleurs</a:t>
            </a:r>
            <a:endParaRPr lang="en-US" sz="18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411480" y="932688"/>
          <a:ext cx="11368735" cy="1865376"/>
        </p:xfrm>
        <a:graphic>
          <a:graphicData uri="http://schemas.openxmlformats.org/drawingml/2006/table">
            <a:tbl>
              <a:tblPr/>
              <a:tblGrid>
                <a:gridCol w="5684368"/>
                <a:gridCol w="5684368"/>
              </a:tblGrid>
              <a:tr h="310896">
                <a:tc>
                  <a:txBody>
                    <a:bodyPr/>
                    <a:lstStyle/>
                    <a:p>
                      <a:pPr indent="0" marL="0">
                        <a:buNone/>
                      </a:pPr>
                      <a:r>
                        <a:rPr lang="en-US" sz="1020" b="1" dirty="0">
                          <a:solidFill>
                            <a:srgbClr val="FFFFFF"/>
                          </a:solidFill>
                        </a:rPr>
                        <a:t>Situation</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c>
                  <a:txBody>
                    <a:bodyPr/>
                    <a:lstStyle/>
                    <a:p>
                      <a:pPr indent="0" marL="0">
                        <a:buNone/>
                      </a:pPr>
                      <a:r>
                        <a:rPr lang="en-US" sz="1020" b="1" dirty="0">
                          <a:solidFill>
                            <a:srgbClr val="FFFFFF"/>
                          </a:solidFill>
                        </a:rPr>
                        <a:t>Outil</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r>
              <a:tr h="310896">
                <a:tc>
                  <a:txBody>
                    <a:bodyPr/>
                    <a:lstStyle/>
                    <a:p>
                      <a:pPr indent="0" marL="0">
                        <a:buNone/>
                      </a:pPr>
                      <a:r>
                        <a:rPr lang="en-US" sz="1020" dirty="0">
                          <a:solidFill>
                            <a:srgbClr val="333333"/>
                          </a:solidFill>
                        </a:rPr>
                        <a:t>État UI local : booléen, texte, page courante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signal()</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État local transitoire manipulé seulement par des handlers template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Propriété classique acceptable pendant la migration</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r h="310896">
                <a:tc>
                  <a:txBody>
                    <a:bodyPr/>
                    <a:lstStyle/>
                    <a:p>
                      <a:pPr indent="0" marL="0">
                        <a:buNone/>
                      </a:pPr>
                      <a:r>
                        <a:rPr lang="en-US" sz="1020" dirty="0">
                          <a:solidFill>
                            <a:srgbClr val="333333"/>
                          </a:solidFill>
                        </a:rPr>
                        <a:t>Valeur calculée à partir d'autres signals</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computed() — pas signal()</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Valeur issue d'une route ou d'un appel HTTP</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toSignal()</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r h="310896">
                <a:tc>
                  <a:txBody>
                    <a:bodyPr/>
                    <a:lstStyle/>
                    <a:p>
                      <a:pPr indent="0" marL="0">
                        <a:buNone/>
                      </a:pPr>
                      <a:r>
                        <a:rPr lang="en-US" sz="1020" dirty="0">
                          <a:solidFill>
                            <a:srgbClr val="333333"/>
                          </a:solidFill>
                        </a:rPr>
                        <a:t>État partagé entre composants via service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façade Signals ou store dédié</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bl>
          </a:graphicData>
        </a:graphic>
      </p:graphicFrame>
      <p:sp>
        <p:nvSpPr>
          <p:cNvPr id="5"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13/64</a:t>
            </a:r>
            <a:endParaRPr lang="en-US" sz="7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976D2"/>
        </a:solidFill>
      </p:bgPr>
    </p:bg>
    <p:spTree>
      <p:nvGrpSpPr>
        <p:cNvPr id="1" name=""/>
        <p:cNvGrpSpPr/>
        <p:nvPr/>
      </p:nvGrpSpPr>
      <p:grpSpPr>
        <a:xfrm>
          <a:off x="0" y="0"/>
          <a:ext cx="0" cy="0"/>
          <a:chOff x="0" y="0"/>
          <a:chExt cx="0" cy="0"/>
        </a:xfrm>
      </p:grpSpPr>
      <p:sp>
        <p:nvSpPr>
          <p:cNvPr id="2" name="Text 0"/>
          <p:cNvSpPr/>
          <p:nvPr/>
        </p:nvSpPr>
        <p:spPr>
          <a:xfrm>
            <a:off x="594360" y="1600200"/>
            <a:ext cx="11002975" cy="411480"/>
          </a:xfrm>
          <a:prstGeom prst="rect">
            <a:avLst/>
          </a:prstGeom>
          <a:noFill/>
          <a:ln/>
        </p:spPr>
        <p:txBody>
          <a:bodyPr wrap="square" lIns="0" tIns="0" rIns="0" bIns="0" rtlCol="0" anchor="ctr"/>
          <a:lstStyle/>
          <a:p>
            <a:pPr algn="ctr" indent="0" marL="0">
              <a:buNone/>
            </a:pPr>
            <a:r>
              <a:rPr lang="en-US" sz="1800" dirty="0">
                <a:solidFill>
                  <a:srgbClr val="CFE8FF"/>
                </a:solidFill>
              </a:rPr>
              <a:t>Exercice 2</a:t>
            </a:r>
            <a:endParaRPr lang="en-US" sz="1800" dirty="0"/>
          </a:p>
        </p:txBody>
      </p:sp>
      <p:sp>
        <p:nvSpPr>
          <p:cNvPr id="3" name="Text 1"/>
          <p:cNvSpPr/>
          <p:nvPr/>
        </p:nvSpPr>
        <p:spPr>
          <a:xfrm>
            <a:off x="594360" y="2148840"/>
            <a:ext cx="11002975" cy="1097280"/>
          </a:xfrm>
          <a:prstGeom prst="rect">
            <a:avLst/>
          </a:prstGeom>
          <a:noFill/>
          <a:ln/>
        </p:spPr>
        <p:txBody>
          <a:bodyPr wrap="square" lIns="0" tIns="0" rIns="0" bIns="0" rtlCol="0" anchor="ctr">
            <a:normAutofit/>
          </a:bodyPr>
          <a:lstStyle/>
          <a:p>
            <a:pPr algn="ctr" indent="0" marL="0">
              <a:buNone/>
            </a:pPr>
            <a:r>
              <a:rPr lang="en-US" sz="3800" b="1" dirty="0">
                <a:solidFill>
                  <a:srgbClr val="FFFFFF"/>
                </a:solidFill>
              </a:rPr>
              <a:t>computed()</a:t>
            </a:r>
            <a:endParaRPr lang="en-US" sz="3800" dirty="0"/>
          </a:p>
        </p:txBody>
      </p:sp>
      <p:sp>
        <p:nvSpPr>
          <p:cNvPr id="4"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14/64</a:t>
            </a:r>
            <a:endParaRPr lang="en-US" sz="7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2 — computed() — Fichiers à modifier</a:t>
            </a:r>
            <a:endParaRPr lang="en-US" sz="1800" dirty="0"/>
          </a:p>
        </p:txBody>
      </p:sp>
      <p:sp>
        <p:nvSpPr>
          <p:cNvPr id="4" name="Text 2"/>
          <p:cNvSpPr/>
          <p:nvPr/>
        </p:nvSpPr>
        <p:spPr>
          <a:xfrm>
            <a:off x="576072" y="932688"/>
            <a:ext cx="11204143" cy="256032"/>
          </a:xfrm>
          <a:prstGeom prst="rect">
            <a:avLst/>
          </a:prstGeom>
          <a:noFill/>
          <a:ln/>
        </p:spPr>
        <p:txBody>
          <a:bodyPr wrap="square" lIns="127" tIns="127" rIns="127" bIns="127" rtlCol="0" anchor="ctr">
            <a:normAutofit/>
          </a:bodyPr>
          <a:lstStyle/>
          <a:p>
            <a:r>
              <a:rPr lang="en-US" sz="1160" dirty="0">
                <a:solidFill>
                  <a:srgbClr val="333333"/>
                </a:solidFill>
              </a:rPr>
              <a:t>src/app/features/accounts/services/accounts.facade.ts</a:t>
            </a:r>
            <a:endParaRPr lang="en-US" sz="1160" dirty="0"/>
          </a:p>
        </p:txBody>
      </p:sp>
      <p:sp>
        <p:nvSpPr>
          <p:cNvPr id="5" name="Text 3"/>
          <p:cNvSpPr/>
          <p:nvPr/>
        </p:nvSpPr>
        <p:spPr>
          <a:xfrm>
            <a:off x="576072" y="1243584"/>
            <a:ext cx="11204143" cy="256032"/>
          </a:xfrm>
          <a:prstGeom prst="rect">
            <a:avLst/>
          </a:prstGeom>
          <a:noFill/>
          <a:ln/>
        </p:spPr>
        <p:txBody>
          <a:bodyPr wrap="square" lIns="127" tIns="127" rIns="127" bIns="127" rtlCol="0" anchor="ctr">
            <a:normAutofit/>
          </a:bodyPr>
          <a:lstStyle/>
          <a:p>
            <a:r>
              <a:rPr lang="en-US" sz="1160" dirty="0">
                <a:solidFill>
                  <a:srgbClr val="333333"/>
                </a:solidFill>
              </a:rPr>
              <a:t>src/app/features/accounts/pages/accounts/accounts.component.ts</a:t>
            </a:r>
            <a:endParaRPr lang="en-US" sz="1160" dirty="0"/>
          </a:p>
        </p:txBody>
      </p:sp>
      <p:sp>
        <p:nvSpPr>
          <p:cNvPr id="6" name="Text 4"/>
          <p:cNvSpPr/>
          <p:nvPr/>
        </p:nvSpPr>
        <p:spPr>
          <a:xfrm>
            <a:off x="576072" y="1554480"/>
            <a:ext cx="11204143" cy="256032"/>
          </a:xfrm>
          <a:prstGeom prst="rect">
            <a:avLst/>
          </a:prstGeom>
          <a:noFill/>
          <a:ln/>
        </p:spPr>
        <p:txBody>
          <a:bodyPr wrap="square" lIns="127" tIns="127" rIns="127" bIns="127" rtlCol="0" anchor="ctr">
            <a:normAutofit/>
          </a:bodyPr>
          <a:lstStyle/>
          <a:p>
            <a:r>
              <a:rPr lang="en-US" sz="1160" dirty="0">
                <a:solidFill>
                  <a:srgbClr val="333333"/>
                </a:solidFill>
              </a:rPr>
              <a:t>src/app/features/accounts/pages/accounts/accounts.component.html</a:t>
            </a:r>
            <a:endParaRPr lang="en-US" sz="1160" dirty="0"/>
          </a:p>
        </p:txBody>
      </p:sp>
      <p:sp>
        <p:nvSpPr>
          <p:cNvPr id="7" name="Text 5"/>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15/64</a:t>
            </a:r>
            <a:endParaRPr lang="en-US" sz="7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2 — computed() — Consigne</a:t>
            </a:r>
            <a:endParaRPr lang="en-US" sz="1800" dirty="0"/>
          </a:p>
        </p:txBody>
      </p:sp>
      <p:sp>
        <p:nvSpPr>
          <p:cNvPr id="4" name="Text 2"/>
          <p:cNvSpPr/>
          <p:nvPr/>
        </p:nvSpPr>
        <p:spPr>
          <a:xfrm>
            <a:off x="411480" y="932688"/>
            <a:ext cx="11368735" cy="320040"/>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Transformer le getter blockedAccountsCount en computed() dans la façade, puis exposer le signal dans le composant.</a:t>
            </a:r>
            <a:endParaRPr lang="en-US" sz="1220" dirty="0"/>
          </a:p>
        </p:txBody>
      </p:sp>
      <p:sp>
        <p:nvSpPr>
          <p:cNvPr id="5" name="Text 3"/>
          <p:cNvSpPr/>
          <p:nvPr/>
        </p:nvSpPr>
        <p:spPr>
          <a:xfrm>
            <a:off x="411480" y="1362456"/>
            <a:ext cx="11368735" cy="1563624"/>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 Avant — AccountsFacade</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get blockedAccountsCount(): number {</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return this.filteredAccounts().filter(a =&gt; a.status === 'blocked').length;</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a:t>
            </a:r>
            <a:endParaRPr lang="en-US" sz="880" dirty="0"/>
          </a:p>
          <a:p>
            <a:pPr indent="0" marL="0">
              <a:buNone/>
            </a:pP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Après — AccountsFacade</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readonly blockedAccountsCount = computed(() =&gt;</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this.filteredAccounts().filter(a =&gt; a.status === 'blocked').length</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a:t>
            </a:r>
            <a:endParaRPr lang="en-US" sz="880" dirty="0"/>
          </a:p>
        </p:txBody>
      </p:sp>
      <p:sp>
        <p:nvSpPr>
          <p:cNvPr id="6" name="Text 4"/>
          <p:cNvSpPr/>
          <p:nvPr/>
        </p:nvSpPr>
        <p:spPr>
          <a:xfrm>
            <a:off x="411480" y="3072384"/>
            <a:ext cx="11368735" cy="941832"/>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 Avant — AccountsComponent</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get blockedAccountsCount(): number { return this.accountsFacade.blockedAccountsCount; }</a:t>
            </a:r>
            <a:endParaRPr lang="en-US" sz="880" dirty="0"/>
          </a:p>
          <a:p>
            <a:pPr indent="0" marL="0">
              <a:buNone/>
            </a:pP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Après — AccountsComponent</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readonly blockedAccountsCount = this.accountsFacade.blockedAccountsCount;</a:t>
            </a:r>
            <a:endParaRPr lang="en-US" sz="880" dirty="0"/>
          </a:p>
        </p:txBody>
      </p:sp>
      <p:sp>
        <p:nvSpPr>
          <p:cNvPr id="7" name="Text 5"/>
          <p:cNvSpPr/>
          <p:nvPr/>
        </p:nvSpPr>
        <p:spPr>
          <a:xfrm>
            <a:off x="411480" y="4160520"/>
            <a:ext cx="11368735" cy="320040"/>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Dans le template : {{ blockedAccountsCount }} → {{ blockedAccountsCount() }}</a:t>
            </a:r>
            <a:endParaRPr lang="en-US" sz="1220" dirty="0"/>
          </a:p>
        </p:txBody>
      </p:sp>
      <p:sp>
        <p:nvSpPr>
          <p:cNvPr id="8" name="Text 6"/>
          <p:cNvSpPr/>
          <p:nvPr/>
        </p:nvSpPr>
        <p:spPr>
          <a:xfrm>
            <a:off x="411480" y="4590288"/>
            <a:ext cx="11368735" cy="502920"/>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npm test -- --runTestsByPath src/app/features/accounts/pages/accounts/accounts.component.spec.ts</a:t>
            </a:r>
            <a:endParaRPr lang="en-US" sz="880" dirty="0"/>
          </a:p>
        </p:txBody>
      </p:sp>
      <p:sp>
        <p:nvSpPr>
          <p:cNvPr id="9" name="Text 7"/>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16/64</a:t>
            </a:r>
            <a:endParaRPr lang="en-US" sz="7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2 — computed() — Définition</a:t>
            </a:r>
            <a:endParaRPr lang="en-US" sz="1800" dirty="0"/>
          </a:p>
        </p:txBody>
      </p:sp>
      <p:sp>
        <p:nvSpPr>
          <p:cNvPr id="5" name="Text 2"/>
          <p:cNvSpPr/>
          <p:nvPr/>
        </p:nvSpPr>
        <p:spPr>
          <a:xfrm>
            <a:off x="411480" y="932688"/>
            <a:ext cx="11368735" cy="941832"/>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readonly blockedAccountsCount = computed(() =&gt;</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this.filteredAccounts().filter(a =&gt; a.status === 'blocked').length</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a:t>
            </a:r>
            <a:endParaRPr lang="en-US" sz="880" dirty="0"/>
          </a:p>
          <a:p>
            <a:pPr indent="0" marL="0">
              <a:buNone/>
            </a:pP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blockedAccountsCount()  // lecture</a:t>
            </a:r>
            <a:endParaRPr lang="en-US" sz="880" dirty="0"/>
          </a:p>
        </p:txBody>
      </p:sp>
      <p:sp>
        <p:nvSpPr>
          <p:cNvPr id="6" name="Text 3"/>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17/64</a:t>
            </a:r>
            <a:endParaRPr lang="en-US" sz="7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2 — computed() — vs Zone.js</a:t>
            </a:r>
            <a:endParaRPr lang="en-US" sz="18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411480" y="932688"/>
          <a:ext cx="11368735" cy="1243584"/>
        </p:xfrm>
        <a:graphic>
          <a:graphicData uri="http://schemas.openxmlformats.org/drawingml/2006/table">
            <a:tbl>
              <a:tblPr/>
              <a:tblGrid>
                <a:gridCol w="5684368"/>
                <a:gridCol w="5684368"/>
              </a:tblGrid>
              <a:tr h="310896">
                <a:tc>
                  <a:txBody>
                    <a:bodyPr/>
                    <a:lstStyle/>
                    <a:p>
                      <a:pPr indent="0" marL="0">
                        <a:buNone/>
                      </a:pPr>
                      <a:r>
                        <a:rPr lang="en-US" sz="1020" b="1" dirty="0">
                          <a:solidFill>
                            <a:srgbClr val="FFFFFF"/>
                          </a:solidFill>
                        </a:rPr>
                        <a:t>Getter + Zone.js</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c>
                  <a:txBody>
                    <a:bodyPr/>
                    <a:lstStyle/>
                    <a:p>
                      <a:pPr indent="0" marL="0">
                        <a:buNone/>
                      </a:pPr>
                      <a:r>
                        <a:rPr lang="en-US" sz="1020" b="1" dirty="0">
                          <a:solidFill>
                            <a:srgbClr val="FFFFFF"/>
                          </a:solidFill>
                        </a:rPr>
                        <a:t>computed()</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r>
              <a:tr h="310896">
                <a:tc>
                  <a:txBody>
                    <a:bodyPr/>
                    <a:lstStyle/>
                    <a:p>
                      <a:pPr indent="0" marL="0">
                        <a:buNone/>
                      </a:pPr>
                      <a:r>
                        <a:rPr lang="en-US" sz="1020" dirty="0">
                          <a:solidFill>
                            <a:srgbClr val="333333"/>
                          </a:solidFill>
                        </a:rPr>
                        <a:t>Recalculé à chaque cycle de détection</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Recalculé seulement si une dépendance change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Angular ignore si la valeur a changé</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Angular mémorise et invalide le cache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r h="310896">
                <a:tc>
                  <a:txBody>
                    <a:bodyPr/>
                    <a:lstStyle/>
                    <a:p>
                      <a:pPr indent="0" marL="0">
                        <a:buNone/>
                      </a:pPr>
                      <a:r>
                        <a:rPr lang="en-US" sz="1020" dirty="0">
                          <a:solidFill>
                            <a:srgbClr val="333333"/>
                          </a:solidFill>
                        </a:rPr>
                        <a:t>Règle dans le composant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Règle dans la façade, partageable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bl>
          </a:graphicData>
        </a:graphic>
      </p:graphicFrame>
      <p:sp>
        <p:nvSpPr>
          <p:cNvPr id="5"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18/64</a:t>
            </a:r>
            <a:endParaRPr lang="en-US" sz="7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2 — computed() — Quand utiliser computed() — et quand rester ailleurs</a:t>
            </a:r>
            <a:endParaRPr lang="en-US" sz="18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411480" y="932688"/>
          <a:ext cx="11368735" cy="1554480"/>
        </p:xfrm>
        <a:graphic>
          <a:graphicData uri="http://schemas.openxmlformats.org/drawingml/2006/table">
            <a:tbl>
              <a:tblPr/>
              <a:tblGrid>
                <a:gridCol w="5684368"/>
                <a:gridCol w="5684368"/>
              </a:tblGrid>
              <a:tr h="310896">
                <a:tc>
                  <a:txBody>
                    <a:bodyPr/>
                    <a:lstStyle/>
                    <a:p>
                      <a:pPr indent="0" marL="0">
                        <a:buNone/>
                      </a:pPr>
                      <a:r>
                        <a:rPr lang="en-US" sz="1020" b="1" dirty="0">
                          <a:solidFill>
                            <a:srgbClr val="FFFFFF"/>
                          </a:solidFill>
                        </a:rPr>
                        <a:t>Situation</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c>
                  <a:txBody>
                    <a:bodyPr/>
                    <a:lstStyle/>
                    <a:p>
                      <a:pPr indent="0" marL="0">
                        <a:buNone/>
                      </a:pPr>
                      <a:r>
                        <a:rPr lang="en-US" sz="1020" b="1" dirty="0">
                          <a:solidFill>
                            <a:srgbClr val="FFFFFF"/>
                          </a:solidFill>
                        </a:rPr>
                        <a:t>Outil</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r>
              <a:tr h="310896">
                <a:tc>
                  <a:txBody>
                    <a:bodyPr/>
                    <a:lstStyle/>
                    <a:p>
                      <a:pPr indent="0" marL="0">
                        <a:buNone/>
                      </a:pPr>
                      <a:r>
                        <a:rPr lang="en-US" sz="1020" dirty="0">
                          <a:solidFill>
                            <a:srgbClr val="333333"/>
                          </a:solidFill>
                        </a:rPr>
                        <a:t>Total, compteur, libellé dérivé d'autres signals</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computed()</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Règle qui dépend du temps (debounce, delay)</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Flux asynchrone — computed() est synchrone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r h="310896">
                <a:tc>
                  <a:txBody>
                    <a:bodyPr/>
                    <a:lstStyle/>
                    <a:p>
                      <a:pPr indent="0" marL="0">
                        <a:buNone/>
                      </a:pPr>
                      <a:r>
                        <a:rPr lang="en-US" sz="1020" dirty="0">
                          <a:solidFill>
                            <a:srgbClr val="333333"/>
                          </a:solidFill>
                        </a:rPr>
                        <a:t>Calcul déclenché par une source asynchrone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Source asynchrone puis toSignal()</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Effet de bord (appel HTTP, log, focus)</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effect() — pas computed()</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bl>
          </a:graphicData>
        </a:graphic>
      </p:graphicFrame>
      <p:sp>
        <p:nvSpPr>
          <p:cNvPr id="5"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19/64</a:t>
            </a:r>
            <a:endParaRPr lang="en-US" sz="7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1976D2"/>
        </a:solidFill>
      </p:bgPr>
    </p:bg>
    <p:spTree>
      <p:nvGrpSpPr>
        <p:cNvPr id="1" name=""/>
        <p:cNvGrpSpPr/>
        <p:nvPr/>
      </p:nvGrpSpPr>
      <p:grpSpPr>
        <a:xfrm>
          <a:off x="0" y="0"/>
          <a:ext cx="0" cy="0"/>
          <a:chOff x="0" y="0"/>
          <a:chExt cx="0" cy="0"/>
        </a:xfrm>
      </p:grpSpPr>
      <p:sp>
        <p:nvSpPr>
          <p:cNvPr id="2" name="Text 0"/>
          <p:cNvSpPr/>
          <p:nvPr/>
        </p:nvSpPr>
        <p:spPr>
          <a:xfrm>
            <a:off x="594360" y="1600200"/>
            <a:ext cx="11002975" cy="411480"/>
          </a:xfrm>
          <a:prstGeom prst="rect">
            <a:avLst/>
          </a:prstGeom>
          <a:noFill/>
          <a:ln/>
        </p:spPr>
        <p:txBody>
          <a:bodyPr wrap="square" lIns="0" tIns="0" rIns="0" bIns="0" rtlCol="0" anchor="ctr"/>
          <a:lstStyle/>
          <a:p>
            <a:pPr algn="ctr" indent="0" marL="0">
              <a:buNone/>
            </a:pPr>
            <a:r>
              <a:rPr lang="en-US" sz="1800" dirty="0">
                <a:solidFill>
                  <a:srgbClr val="CFE8FF"/>
                </a:solidFill>
              </a:rPr>
              <a:t>Exercice 3</a:t>
            </a:r>
            <a:endParaRPr lang="en-US" sz="1800" dirty="0"/>
          </a:p>
        </p:txBody>
      </p:sp>
      <p:sp>
        <p:nvSpPr>
          <p:cNvPr id="3" name="Text 1"/>
          <p:cNvSpPr/>
          <p:nvPr/>
        </p:nvSpPr>
        <p:spPr>
          <a:xfrm>
            <a:off x="594360" y="2148840"/>
            <a:ext cx="11002975" cy="1097280"/>
          </a:xfrm>
          <a:prstGeom prst="rect">
            <a:avLst/>
          </a:prstGeom>
          <a:noFill/>
          <a:ln/>
        </p:spPr>
        <p:txBody>
          <a:bodyPr wrap="square" lIns="0" tIns="0" rIns="0" bIns="0" rtlCol="0" anchor="ctr">
            <a:normAutofit/>
          </a:bodyPr>
          <a:lstStyle/>
          <a:p>
            <a:pPr algn="ctr" indent="0" marL="0">
              <a:buNone/>
            </a:pPr>
            <a:r>
              <a:rPr lang="en-US" sz="3800" b="1" dirty="0">
                <a:solidFill>
                  <a:srgbClr val="FFFFFF"/>
                </a:solidFill>
              </a:rPr>
              <a:t>effect() pour synchroniser un état</a:t>
            </a:r>
            <a:endParaRPr lang="en-US" sz="3800" dirty="0"/>
          </a:p>
        </p:txBody>
      </p:sp>
      <p:sp>
        <p:nvSpPr>
          <p:cNvPr id="4"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20/64</a:t>
            </a:r>
            <a:endParaRPr lang="en-US" sz="7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3 — effect() pour synchroniser un état — Fichier à modifier</a:t>
            </a:r>
            <a:endParaRPr lang="en-US" sz="1800" dirty="0"/>
          </a:p>
        </p:txBody>
      </p:sp>
      <p:sp>
        <p:nvSpPr>
          <p:cNvPr id="4" name="Text 2"/>
          <p:cNvSpPr/>
          <p:nvPr/>
        </p:nvSpPr>
        <p:spPr>
          <a:xfrm>
            <a:off x="411480" y="932688"/>
            <a:ext cx="11368735" cy="320040"/>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src/app/features/clients/pages/clients/clients.component.ts</a:t>
            </a:r>
            <a:endParaRPr lang="en-US" sz="1220" dirty="0"/>
          </a:p>
        </p:txBody>
      </p:sp>
      <p:sp>
        <p:nvSpPr>
          <p:cNvPr id="5" name="Text 3"/>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21/64</a:t>
            </a:r>
            <a:endParaRPr lang="en-US" sz="7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3 — effect() pour synchroniser un état — Consigne</a:t>
            </a:r>
            <a:endParaRPr lang="en-US" sz="1800" dirty="0"/>
          </a:p>
        </p:txBody>
      </p:sp>
      <p:sp>
        <p:nvSpPr>
          <p:cNvPr id="4" name="Text 2"/>
          <p:cNvSpPr/>
          <p:nvPr/>
        </p:nvSpPr>
        <p:spPr>
          <a:xfrm>
            <a:off x="411480" y="932688"/>
            <a:ext cx="11368735" cy="320040"/>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Remplacer l'appel impératif this.clampCurrentPage() par un effect() dans le constructeur.</a:t>
            </a:r>
            <a:endParaRPr lang="en-US" sz="1220" dirty="0"/>
          </a:p>
        </p:txBody>
      </p:sp>
      <p:sp>
        <p:nvSpPr>
          <p:cNvPr id="5" name="Text 3"/>
          <p:cNvSpPr/>
          <p:nvPr/>
        </p:nvSpPr>
        <p:spPr>
          <a:xfrm>
            <a:off x="411480" y="1362456"/>
            <a:ext cx="11368735" cy="1874520"/>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 Ajouter dans le constructeur</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effect(() =&gt; {</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const clamped = this.pageSlice().page;</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if (clamped !== this.page()) this.page.set(clamped);</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a:t>
            </a:r>
            <a:endParaRPr lang="en-US" sz="880" dirty="0"/>
          </a:p>
          <a:p>
            <a:pPr indent="0" marL="0">
              <a:buNone/>
            </a:pP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Supprimer dans deleteClient()</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this.clampCurrentPage(); // ← retirer cette ligne</a:t>
            </a:r>
            <a:endParaRPr lang="en-US" sz="880" dirty="0"/>
          </a:p>
          <a:p>
            <a:pPr indent="0" marL="0">
              <a:buNone/>
            </a:pP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Supprimer la méthode</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private clampCurrentPage(): void { ... }</a:t>
            </a:r>
            <a:endParaRPr lang="en-US" sz="880" dirty="0"/>
          </a:p>
        </p:txBody>
      </p:sp>
      <p:sp>
        <p:nvSpPr>
          <p:cNvPr id="6" name="Text 4"/>
          <p:cNvSpPr/>
          <p:nvPr/>
        </p:nvSpPr>
        <p:spPr>
          <a:xfrm>
            <a:off x="411480" y="3383280"/>
            <a:ext cx="11368735" cy="502920"/>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npm test -- --runTestsByPath src/app/features/clients/pages/clients/clients.component.spec.ts</a:t>
            </a:r>
            <a:endParaRPr lang="en-US" sz="880" dirty="0"/>
          </a:p>
        </p:txBody>
      </p:sp>
      <p:sp>
        <p:nvSpPr>
          <p:cNvPr id="7" name="Text 5"/>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22/64</a:t>
            </a:r>
            <a:endParaRPr lang="en-US" sz="7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1976D2"/>
        </a:solidFill>
      </p:bgPr>
    </p:bg>
    <p:spTree>
      <p:nvGrpSpPr>
        <p:cNvPr id="1" name=""/>
        <p:cNvGrpSpPr/>
        <p:nvPr/>
      </p:nvGrpSpPr>
      <p:grpSpPr>
        <a:xfrm>
          <a:off x="0" y="0"/>
          <a:ext cx="0" cy="0"/>
          <a:chOff x="0" y="0"/>
          <a:chExt cx="0" cy="0"/>
        </a:xfrm>
      </p:grpSpPr>
      <p:sp>
        <p:nvSpPr>
          <p:cNvPr id="2" name="Text 0"/>
          <p:cNvSpPr/>
          <p:nvPr/>
        </p:nvSpPr>
        <p:spPr>
          <a:xfrm>
            <a:off x="594360" y="1600200"/>
            <a:ext cx="11002975" cy="411480"/>
          </a:xfrm>
          <a:prstGeom prst="rect">
            <a:avLst/>
          </a:prstGeom>
          <a:noFill/>
          <a:ln/>
        </p:spPr>
        <p:txBody>
          <a:bodyPr wrap="square" lIns="0" tIns="0" rIns="0" bIns="0" rtlCol="0" anchor="ctr"/>
          <a:lstStyle/>
          <a:p>
            <a:pPr algn="ctr" indent="0" marL="0">
              <a:buNone/>
            </a:pPr>
            <a:r>
              <a:rPr lang="en-US" sz="1800" dirty="0">
                <a:solidFill>
                  <a:srgbClr val="CFE8FF"/>
                </a:solidFill>
              </a:rPr>
              <a:t>Exercice 3</a:t>
            </a:r>
            <a:endParaRPr lang="en-US" sz="1800" dirty="0"/>
          </a:p>
        </p:txBody>
      </p:sp>
      <p:sp>
        <p:nvSpPr>
          <p:cNvPr id="3" name="Text 1"/>
          <p:cNvSpPr/>
          <p:nvPr/>
        </p:nvSpPr>
        <p:spPr>
          <a:xfrm>
            <a:off x="594360" y="2148840"/>
            <a:ext cx="11002975" cy="1097280"/>
          </a:xfrm>
          <a:prstGeom prst="rect">
            <a:avLst/>
          </a:prstGeom>
          <a:noFill/>
          <a:ln/>
        </p:spPr>
        <p:txBody>
          <a:bodyPr wrap="square" lIns="0" tIns="0" rIns="0" bIns="0" rtlCol="0" anchor="ctr">
            <a:normAutofit/>
          </a:bodyPr>
          <a:lstStyle/>
          <a:p>
            <a:pPr algn="ctr" indent="0" marL="0">
              <a:buNone/>
            </a:pPr>
            <a:r>
              <a:rPr lang="en-US" sz="3800" b="1" dirty="0">
                <a:solidFill>
                  <a:srgbClr val="FFFFFF"/>
                </a:solidFill>
              </a:rPr>
              <a:t>effect() pour synchroniser un état</a:t>
            </a:r>
            <a:endParaRPr lang="en-US" sz="3800" dirty="0"/>
          </a:p>
        </p:txBody>
      </p:sp>
      <p:sp>
        <p:nvSpPr>
          <p:cNvPr id="5"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23/64</a:t>
            </a:r>
            <a:endParaRPr lang="en-US" sz="7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3 — effect() pour synchroniser un état — vs Zone.js</a:t>
            </a:r>
            <a:endParaRPr lang="en-US" sz="18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411480" y="932688"/>
          <a:ext cx="11368735" cy="1243584"/>
        </p:xfrm>
        <a:graphic>
          <a:graphicData uri="http://schemas.openxmlformats.org/drawingml/2006/table">
            <a:tbl>
              <a:tblPr/>
              <a:tblGrid>
                <a:gridCol w="5684368"/>
                <a:gridCol w="5684368"/>
              </a:tblGrid>
              <a:tr h="310896">
                <a:tc>
                  <a:txBody>
                    <a:bodyPr/>
                    <a:lstStyle/>
                    <a:p>
                      <a:pPr indent="0" marL="0">
                        <a:buNone/>
                      </a:pPr>
                      <a:r>
                        <a:rPr lang="en-US" sz="1020" b="1" dirty="0">
                          <a:solidFill>
                            <a:srgbClr val="FFFFFF"/>
                          </a:solidFill>
                        </a:rPr>
                        <a:t>Appel impératif après mutation</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c>
                  <a:txBody>
                    <a:bodyPr/>
                    <a:lstStyle/>
                    <a:p>
                      <a:pPr indent="0" marL="0">
                        <a:buNone/>
                      </a:pPr>
                      <a:r>
                        <a:rPr lang="en-US" sz="1020" b="1" dirty="0">
                          <a:solidFill>
                            <a:srgbClr val="FFFFFF"/>
                          </a:solidFill>
                        </a:rPr>
                        <a:t>effect()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r>
              <a:tr h="310896">
                <a:tc>
                  <a:txBody>
                    <a:bodyPr/>
                    <a:lstStyle/>
                    <a:p>
                      <a:pPr indent="0" marL="0">
                        <a:buNone/>
                      </a:pPr>
                      <a:r>
                        <a:rPr lang="en-US" sz="1020" dirty="0">
                          <a:solidFill>
                            <a:srgbClr val="333333"/>
                          </a:solidFill>
                        </a:rPr>
                        <a:t>On doit penser à appeler la méthode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Déclenché automatiquement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Logique dispersée dans plusieurs méthodes</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Logique centralisée dans l'effet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r h="310896">
                <a:tc>
                  <a:txBody>
                    <a:bodyPr/>
                    <a:lstStyle/>
                    <a:p>
                      <a:pPr indent="0" marL="0">
                        <a:buNone/>
                      </a:pPr>
                      <a:r>
                        <a:rPr lang="en-US" sz="1020" dirty="0">
                          <a:solidFill>
                            <a:srgbClr val="333333"/>
                          </a:solidFill>
                        </a:rPr>
                        <a:t>Bug si on oublie l'appel</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Moins de risque — l'effet observe les dépendances</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bl>
          </a:graphicData>
        </a:graphic>
      </p:graphicFrame>
      <p:sp>
        <p:nvSpPr>
          <p:cNvPr id="5"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24/64</a:t>
            </a:r>
            <a:endParaRPr lang="en-US" sz="7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500" b="1" dirty="0">
                <a:solidFill>
                  <a:srgbClr val="FFFFFF"/>
                </a:solidFill>
              </a:rPr>
              <a:t>Exercice 3 — effect() pour synchroniser un état — Quand utiliser effect() — et quand rester ailleurs</a:t>
            </a:r>
            <a:endParaRPr lang="en-US" sz="15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411480" y="932688"/>
          <a:ext cx="11368735" cy="1865376"/>
        </p:xfrm>
        <a:graphic>
          <a:graphicData uri="http://schemas.openxmlformats.org/drawingml/2006/table">
            <a:tbl>
              <a:tblPr/>
              <a:tblGrid>
                <a:gridCol w="5684368"/>
                <a:gridCol w="5684368"/>
              </a:tblGrid>
              <a:tr h="310896">
                <a:tc>
                  <a:txBody>
                    <a:bodyPr/>
                    <a:lstStyle/>
                    <a:p>
                      <a:pPr indent="0" marL="0">
                        <a:buNone/>
                      </a:pPr>
                      <a:r>
                        <a:rPr lang="en-US" sz="1020" b="1" dirty="0">
                          <a:solidFill>
                            <a:srgbClr val="FFFFFF"/>
                          </a:solidFill>
                        </a:rPr>
                        <a:t>Situation</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c>
                  <a:txBody>
                    <a:bodyPr/>
                    <a:lstStyle/>
                    <a:p>
                      <a:pPr indent="0" marL="0">
                        <a:buNone/>
                      </a:pPr>
                      <a:r>
                        <a:rPr lang="en-US" sz="1020" b="1" dirty="0">
                          <a:solidFill>
                            <a:srgbClr val="FFFFFF"/>
                          </a:solidFill>
                        </a:rPr>
                        <a:t>Outil</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r>
              <a:tr h="310896">
                <a:tc>
                  <a:txBody>
                    <a:bodyPr/>
                    <a:lstStyle/>
                    <a:p>
                      <a:pPr indent="0" marL="0">
                        <a:buNone/>
                      </a:pPr>
                      <a:r>
                        <a:rPr lang="en-US" sz="1020" dirty="0">
                          <a:solidFill>
                            <a:srgbClr val="333333"/>
                          </a:solidFill>
                        </a:rPr>
                        <a:t>Titre du document, focus, scroll après changement d'état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effect()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Correction d'un état cohérent (clamping, reset)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effect()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r h="310896">
                <a:tc>
                  <a:txBody>
                    <a:bodyPr/>
                    <a:lstStyle/>
                    <a:p>
                      <a:pPr indent="0" marL="0">
                        <a:buNone/>
                      </a:pPr>
                      <a:r>
                        <a:rPr lang="en-US" sz="1020" dirty="0">
                          <a:solidFill>
                            <a:srgbClr val="333333"/>
                          </a:solidFill>
                        </a:rPr>
                        <a:t>Chargement HTTP déclenché par un signal</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Possible avec effect(), mais à encadrer</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Valeur calculée à partir d'autres signals</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computed() — pas effect()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r h="310896">
                <a:tc>
                  <a:txBody>
                    <a:bodyPr/>
                    <a:lstStyle/>
                    <a:p>
                      <a:pPr indent="0" marL="0">
                        <a:buNone/>
                      </a:pPr>
                      <a:r>
                        <a:rPr lang="en-US" sz="1020" dirty="0">
                          <a:solidFill>
                            <a:srgbClr val="333333"/>
                          </a:solidFill>
                        </a:rPr>
                        <a:t>Effet déclenché par une source asynchrone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Source asynchrone ou toSignal() selon le cas</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bl>
          </a:graphicData>
        </a:graphic>
      </p:graphicFrame>
      <p:sp>
        <p:nvSpPr>
          <p:cNvPr id="5"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25/64</a:t>
            </a:r>
            <a:endParaRPr lang="en-US" sz="7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1976D2"/>
        </a:solidFill>
      </p:bgPr>
    </p:bg>
    <p:spTree>
      <p:nvGrpSpPr>
        <p:cNvPr id="1" name=""/>
        <p:cNvGrpSpPr/>
        <p:nvPr/>
      </p:nvGrpSpPr>
      <p:grpSpPr>
        <a:xfrm>
          <a:off x="0" y="0"/>
          <a:ext cx="0" cy="0"/>
          <a:chOff x="0" y="0"/>
          <a:chExt cx="0" cy="0"/>
        </a:xfrm>
      </p:grpSpPr>
      <p:sp>
        <p:nvSpPr>
          <p:cNvPr id="2" name="Text 0"/>
          <p:cNvSpPr/>
          <p:nvPr/>
        </p:nvSpPr>
        <p:spPr>
          <a:xfrm>
            <a:off x="594360" y="1600200"/>
            <a:ext cx="11002975" cy="411480"/>
          </a:xfrm>
          <a:prstGeom prst="rect">
            <a:avLst/>
          </a:prstGeom>
          <a:noFill/>
          <a:ln/>
        </p:spPr>
        <p:txBody>
          <a:bodyPr wrap="square" lIns="0" tIns="0" rIns="0" bIns="0" rtlCol="0" anchor="ctr"/>
          <a:lstStyle/>
          <a:p>
            <a:pPr algn="ctr" indent="0" marL="0">
              <a:buNone/>
            </a:pPr>
            <a:r>
              <a:rPr lang="en-US" sz="1800" dirty="0">
                <a:solidFill>
                  <a:srgbClr val="CFE8FF"/>
                </a:solidFill>
              </a:rPr>
              <a:t>Exercice 4</a:t>
            </a:r>
            <a:endParaRPr lang="en-US" sz="1800" dirty="0"/>
          </a:p>
        </p:txBody>
      </p:sp>
      <p:sp>
        <p:nvSpPr>
          <p:cNvPr id="3" name="Text 1"/>
          <p:cNvSpPr/>
          <p:nvPr/>
        </p:nvSpPr>
        <p:spPr>
          <a:xfrm>
            <a:off x="594360" y="2148840"/>
            <a:ext cx="11002975" cy="1097280"/>
          </a:xfrm>
          <a:prstGeom prst="rect">
            <a:avLst/>
          </a:prstGeom>
          <a:noFill/>
          <a:ln/>
        </p:spPr>
        <p:txBody>
          <a:bodyPr wrap="square" lIns="0" tIns="0" rIns="0" bIns="0" rtlCol="0" anchor="ctr">
            <a:normAutofit/>
          </a:bodyPr>
          <a:lstStyle/>
          <a:p>
            <a:pPr algn="ctr" indent="0" marL="0">
              <a:buNone/>
            </a:pPr>
            <a:r>
              <a:rPr lang="en-US" sz="3800" b="1" dirty="0">
                <a:solidFill>
                  <a:srgbClr val="FFFFFF"/>
                </a:solidFill>
              </a:rPr>
              <a:t>viewChild() + effect() pour le DOM</a:t>
            </a:r>
            <a:endParaRPr lang="en-US" sz="3800" dirty="0"/>
          </a:p>
        </p:txBody>
      </p:sp>
      <p:sp>
        <p:nvSpPr>
          <p:cNvPr id="4"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26/64</a:t>
            </a:r>
            <a:endParaRPr lang="en-US" sz="7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4 — viewChild() + effect() pour le DOM — Fichier à modifier</a:t>
            </a:r>
            <a:endParaRPr lang="en-US" sz="1800" dirty="0"/>
          </a:p>
        </p:txBody>
      </p:sp>
      <p:sp>
        <p:nvSpPr>
          <p:cNvPr id="4" name="Text 2"/>
          <p:cNvSpPr/>
          <p:nvPr/>
        </p:nvSpPr>
        <p:spPr>
          <a:xfrm>
            <a:off x="411480" y="932688"/>
            <a:ext cx="11368735" cy="320040"/>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src/app/features/clients/pages/clients/clients.component.ts</a:t>
            </a:r>
            <a:endParaRPr lang="en-US" sz="1220" dirty="0"/>
          </a:p>
        </p:txBody>
      </p:sp>
      <p:sp>
        <p:nvSpPr>
          <p:cNvPr id="5" name="Text 3"/>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27/64</a:t>
            </a:r>
            <a:endParaRPr lang="en-US" sz="7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1976D2"/>
        </a:solidFill>
      </p:bgPr>
    </p:bg>
    <p:spTree>
      <p:nvGrpSpPr>
        <p:cNvPr id="1" name=""/>
        <p:cNvGrpSpPr/>
        <p:nvPr/>
      </p:nvGrpSpPr>
      <p:grpSpPr>
        <a:xfrm>
          <a:off x="0" y="0"/>
          <a:ext cx="0" cy="0"/>
          <a:chOff x="0" y="0"/>
          <a:chExt cx="0" cy="0"/>
        </a:xfrm>
      </p:grpSpPr>
      <p:sp>
        <p:nvSpPr>
          <p:cNvPr id="2" name="Text 0"/>
          <p:cNvSpPr/>
          <p:nvPr/>
        </p:nvSpPr>
        <p:spPr>
          <a:xfrm>
            <a:off x="594360" y="1600200"/>
            <a:ext cx="11002975" cy="411480"/>
          </a:xfrm>
          <a:prstGeom prst="rect">
            <a:avLst/>
          </a:prstGeom>
          <a:noFill/>
          <a:ln/>
        </p:spPr>
        <p:txBody>
          <a:bodyPr wrap="square" lIns="0" tIns="0" rIns="0" bIns="0" rtlCol="0" anchor="ctr"/>
          <a:lstStyle/>
          <a:p>
            <a:pPr algn="ctr" indent="0" marL="0">
              <a:buNone/>
            </a:pPr>
            <a:r>
              <a:rPr lang="en-US" sz="1800" dirty="0">
                <a:solidFill>
                  <a:srgbClr val="CFE8FF"/>
                </a:solidFill>
              </a:rPr>
              <a:t>Exercice 4</a:t>
            </a:r>
            <a:endParaRPr lang="en-US" sz="1800" dirty="0"/>
          </a:p>
        </p:txBody>
      </p:sp>
      <p:sp>
        <p:nvSpPr>
          <p:cNvPr id="3" name="Text 1"/>
          <p:cNvSpPr/>
          <p:nvPr/>
        </p:nvSpPr>
        <p:spPr>
          <a:xfrm>
            <a:off x="594360" y="2148840"/>
            <a:ext cx="11002975" cy="1097280"/>
          </a:xfrm>
          <a:prstGeom prst="rect">
            <a:avLst/>
          </a:prstGeom>
          <a:noFill/>
          <a:ln/>
        </p:spPr>
        <p:txBody>
          <a:bodyPr wrap="square" lIns="0" tIns="0" rIns="0" bIns="0" rtlCol="0" anchor="ctr">
            <a:normAutofit/>
          </a:bodyPr>
          <a:lstStyle/>
          <a:p>
            <a:pPr algn="ctr" indent="0" marL="0">
              <a:buNone/>
            </a:pPr>
            <a:r>
              <a:rPr lang="en-US" sz="3800" b="1" dirty="0">
                <a:solidFill>
                  <a:srgbClr val="FFFFFF"/>
                </a:solidFill>
              </a:rPr>
              <a:t>viewChild() + effect() pour le DOM</a:t>
            </a:r>
            <a:endParaRPr lang="en-US" sz="3800" dirty="0"/>
          </a:p>
        </p:txBody>
      </p:sp>
      <p:sp>
        <p:nvSpPr>
          <p:cNvPr id="5"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28/64</a:t>
            </a:r>
            <a:endParaRPr lang="en-US" sz="7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4 — viewChild() + effect() pour le DOM — Définition viewChild()</a:t>
            </a:r>
            <a:endParaRPr lang="en-US" sz="1800" dirty="0"/>
          </a:p>
        </p:txBody>
      </p:sp>
      <p:sp>
        <p:nvSpPr>
          <p:cNvPr id="5" name="Text 2"/>
          <p:cNvSpPr/>
          <p:nvPr/>
        </p:nvSpPr>
        <p:spPr>
          <a:xfrm>
            <a:off x="411480" y="932688"/>
            <a:ext cx="11368735" cy="502920"/>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private readonly firstNameInput = viewChild&lt;ElementRef&gt;('firstNameRef');</a:t>
            </a:r>
            <a:endParaRPr lang="en-US" sz="880" dirty="0"/>
          </a:p>
        </p:txBody>
      </p:sp>
      <p:sp>
        <p:nvSpPr>
          <p:cNvPr id="6" name="Text 3"/>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29/64</a:t>
            </a:r>
            <a:endParaRPr lang="en-US" sz="7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4 — viewChild() + effect() pour le DOM — Consigne</a:t>
            </a:r>
            <a:endParaRPr lang="en-US" sz="1800" dirty="0"/>
          </a:p>
        </p:txBody>
      </p:sp>
      <p:sp>
        <p:nvSpPr>
          <p:cNvPr id="4" name="Text 2"/>
          <p:cNvSpPr/>
          <p:nvPr/>
        </p:nvSpPr>
        <p:spPr>
          <a:xfrm>
            <a:off x="411480" y="932688"/>
            <a:ext cx="11368735" cy="320040"/>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Conditionner le focus sur adding() dans l'effet viewChild existant.</a:t>
            </a:r>
            <a:endParaRPr lang="en-US" sz="1220" dirty="0"/>
          </a:p>
        </p:txBody>
      </p:sp>
      <p:sp>
        <p:nvSpPr>
          <p:cNvPr id="5" name="Text 3"/>
          <p:cNvSpPr/>
          <p:nvPr/>
        </p:nvSpPr>
        <p:spPr>
          <a:xfrm>
            <a:off x="411480" y="1362456"/>
            <a:ext cx="11368735" cy="941832"/>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 Avant</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effect(() =&gt; { this.firstNameInput()?.nativeElement.focus(); });</a:t>
            </a:r>
            <a:endParaRPr lang="en-US" sz="880" dirty="0"/>
          </a:p>
          <a:p>
            <a:pPr indent="0" marL="0">
              <a:buNone/>
            </a:pP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Après</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effect(() =&gt; { if (this.adding()) this.firstNameInput()?.nativeElement.focus(); });</a:t>
            </a:r>
            <a:endParaRPr lang="en-US" sz="880" dirty="0"/>
          </a:p>
        </p:txBody>
      </p:sp>
      <p:sp>
        <p:nvSpPr>
          <p:cNvPr id="6" name="Text 4"/>
          <p:cNvSpPr/>
          <p:nvPr/>
        </p:nvSpPr>
        <p:spPr>
          <a:xfrm>
            <a:off x="411480" y="2450592"/>
            <a:ext cx="11368735" cy="502920"/>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npm test -- --runTestsByPath src/app/features/clients/pages/clients/clients.component.spec.ts</a:t>
            </a:r>
            <a:endParaRPr lang="en-US" sz="880" dirty="0"/>
          </a:p>
        </p:txBody>
      </p:sp>
      <p:sp>
        <p:nvSpPr>
          <p:cNvPr id="7" name="Text 5"/>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30/64</a:t>
            </a:r>
            <a:endParaRPr lang="en-US" sz="7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1976D2"/>
        </a:solidFill>
      </p:bgPr>
    </p:bg>
    <p:spTree>
      <p:nvGrpSpPr>
        <p:cNvPr id="1" name=""/>
        <p:cNvGrpSpPr/>
        <p:nvPr/>
      </p:nvGrpSpPr>
      <p:grpSpPr>
        <a:xfrm>
          <a:off x="0" y="0"/>
          <a:ext cx="0" cy="0"/>
          <a:chOff x="0" y="0"/>
          <a:chExt cx="0" cy="0"/>
        </a:xfrm>
      </p:grpSpPr>
      <p:sp>
        <p:nvSpPr>
          <p:cNvPr id="2" name="Text 0"/>
          <p:cNvSpPr/>
          <p:nvPr/>
        </p:nvSpPr>
        <p:spPr>
          <a:xfrm>
            <a:off x="594360" y="1600200"/>
            <a:ext cx="11002975" cy="411480"/>
          </a:xfrm>
          <a:prstGeom prst="rect">
            <a:avLst/>
          </a:prstGeom>
          <a:noFill/>
          <a:ln/>
        </p:spPr>
        <p:txBody>
          <a:bodyPr wrap="square" lIns="0" tIns="0" rIns="0" bIns="0" rtlCol="0" anchor="ctr"/>
          <a:lstStyle/>
          <a:p>
            <a:pPr algn="ctr" indent="0" marL="0">
              <a:buNone/>
            </a:pPr>
            <a:r>
              <a:rPr lang="en-US" sz="1800" dirty="0">
                <a:solidFill>
                  <a:srgbClr val="CFE8FF"/>
                </a:solidFill>
              </a:rPr>
              <a:t>Exercice 4</a:t>
            </a:r>
            <a:endParaRPr lang="en-US" sz="1800" dirty="0"/>
          </a:p>
        </p:txBody>
      </p:sp>
      <p:sp>
        <p:nvSpPr>
          <p:cNvPr id="3" name="Text 1"/>
          <p:cNvSpPr/>
          <p:nvPr/>
        </p:nvSpPr>
        <p:spPr>
          <a:xfrm>
            <a:off x="594360" y="2148840"/>
            <a:ext cx="11002975" cy="1097280"/>
          </a:xfrm>
          <a:prstGeom prst="rect">
            <a:avLst/>
          </a:prstGeom>
          <a:noFill/>
          <a:ln/>
        </p:spPr>
        <p:txBody>
          <a:bodyPr wrap="square" lIns="0" tIns="0" rIns="0" bIns="0" rtlCol="0" anchor="ctr">
            <a:normAutofit/>
          </a:bodyPr>
          <a:lstStyle/>
          <a:p>
            <a:pPr algn="ctr" indent="0" marL="0">
              <a:buNone/>
            </a:pPr>
            <a:r>
              <a:rPr lang="en-US" sz="3800" b="1" dirty="0">
                <a:solidFill>
                  <a:srgbClr val="FFFFFF"/>
                </a:solidFill>
              </a:rPr>
              <a:t>viewChild() + effect() pour le DOM</a:t>
            </a:r>
            <a:endParaRPr lang="en-US" sz="3800" dirty="0"/>
          </a:p>
        </p:txBody>
      </p:sp>
      <p:sp>
        <p:nvSpPr>
          <p:cNvPr id="5"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31/64</a:t>
            </a:r>
            <a:endParaRPr lang="en-US" sz="7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1976D2"/>
        </a:solidFill>
      </p:bgPr>
    </p:bg>
    <p:spTree>
      <p:nvGrpSpPr>
        <p:cNvPr id="1" name=""/>
        <p:cNvGrpSpPr/>
        <p:nvPr/>
      </p:nvGrpSpPr>
      <p:grpSpPr>
        <a:xfrm>
          <a:off x="0" y="0"/>
          <a:ext cx="0" cy="0"/>
          <a:chOff x="0" y="0"/>
          <a:chExt cx="0" cy="0"/>
        </a:xfrm>
      </p:grpSpPr>
      <p:sp>
        <p:nvSpPr>
          <p:cNvPr id="2" name="Text 0"/>
          <p:cNvSpPr/>
          <p:nvPr/>
        </p:nvSpPr>
        <p:spPr>
          <a:xfrm>
            <a:off x="594360" y="1600200"/>
            <a:ext cx="11002975" cy="411480"/>
          </a:xfrm>
          <a:prstGeom prst="rect">
            <a:avLst/>
          </a:prstGeom>
          <a:noFill/>
          <a:ln/>
        </p:spPr>
        <p:txBody>
          <a:bodyPr wrap="square" lIns="0" tIns="0" rIns="0" bIns="0" rtlCol="0" anchor="ctr"/>
          <a:lstStyle/>
          <a:p>
            <a:pPr algn="ctr" indent="0" marL="0">
              <a:buNone/>
            </a:pPr>
            <a:r>
              <a:rPr lang="en-US" sz="1800" dirty="0">
                <a:solidFill>
                  <a:srgbClr val="CFE8FF"/>
                </a:solidFill>
              </a:rPr>
              <a:t>Exercice 5</a:t>
            </a:r>
            <a:endParaRPr lang="en-US" sz="1800" dirty="0"/>
          </a:p>
        </p:txBody>
      </p:sp>
      <p:sp>
        <p:nvSpPr>
          <p:cNvPr id="3" name="Text 1"/>
          <p:cNvSpPr/>
          <p:nvPr/>
        </p:nvSpPr>
        <p:spPr>
          <a:xfrm>
            <a:off x="594360" y="2148840"/>
            <a:ext cx="11002975" cy="1097280"/>
          </a:xfrm>
          <a:prstGeom prst="rect">
            <a:avLst/>
          </a:prstGeom>
          <a:noFill/>
          <a:ln/>
        </p:spPr>
        <p:txBody>
          <a:bodyPr wrap="square" lIns="0" tIns="0" rIns="0" bIns="0" rtlCol="0" anchor="ctr">
            <a:normAutofit/>
          </a:bodyPr>
          <a:lstStyle/>
          <a:p>
            <a:pPr algn="ctr" indent="0" marL="0">
              <a:buNone/>
            </a:pPr>
            <a:r>
              <a:rPr lang="en-US" sz="3800" b="1" dirty="0">
                <a:solidFill>
                  <a:srgbClr val="FFFFFF"/>
                </a:solidFill>
              </a:rPr>
              <a:t>input()</a:t>
            </a:r>
            <a:endParaRPr lang="en-US" sz="3800" dirty="0"/>
          </a:p>
        </p:txBody>
      </p:sp>
      <p:sp>
        <p:nvSpPr>
          <p:cNvPr id="4"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32/64</a:t>
            </a:r>
            <a:endParaRPr lang="en-US" sz="7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5 — input() — Fichier à modifier</a:t>
            </a:r>
            <a:endParaRPr lang="en-US" sz="1800" dirty="0"/>
          </a:p>
        </p:txBody>
      </p:sp>
      <p:sp>
        <p:nvSpPr>
          <p:cNvPr id="4" name="Text 2"/>
          <p:cNvSpPr/>
          <p:nvPr/>
        </p:nvSpPr>
        <p:spPr>
          <a:xfrm>
            <a:off x="411480" y="932688"/>
            <a:ext cx="11368735" cy="320040"/>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src/app/features/accounts/components/account-card/account-card.component.ts</a:t>
            </a:r>
            <a:endParaRPr lang="en-US" sz="1220" dirty="0"/>
          </a:p>
        </p:txBody>
      </p:sp>
      <p:sp>
        <p:nvSpPr>
          <p:cNvPr id="5" name="Text 3"/>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33/64</a:t>
            </a:r>
            <a:endParaRPr lang="en-US" sz="7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5 — input() — Consigne</a:t>
            </a:r>
            <a:endParaRPr lang="en-US" sz="1800" dirty="0"/>
          </a:p>
        </p:txBody>
      </p:sp>
      <p:sp>
        <p:nvSpPr>
          <p:cNvPr id="5" name="Text 2"/>
          <p:cNvSpPr/>
          <p:nvPr/>
        </p:nvSpPr>
        <p:spPr>
          <a:xfrm>
            <a:off x="411480" y="932688"/>
            <a:ext cx="11368735" cy="320040"/>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Transformer @Input() showStatus = true en showStatus = input(true) et retirer Input des imports.</a:t>
            </a:r>
            <a:endParaRPr lang="en-US" sz="1220" dirty="0"/>
          </a:p>
        </p:txBody>
      </p:sp>
      <p:sp>
        <p:nvSpPr>
          <p:cNvPr id="6" name="Text 3"/>
          <p:cNvSpPr/>
          <p:nvPr/>
        </p:nvSpPr>
        <p:spPr>
          <a:xfrm>
            <a:off x="411480" y="1362456"/>
            <a:ext cx="11368735" cy="1252728"/>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 Avant</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@Input() showStatus = true;</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readonly visibleStatusLabel = computed(() =&gt; this.showStatus ? this.statusLabel() : null);</a:t>
            </a:r>
            <a:endParaRPr lang="en-US" sz="880" dirty="0"/>
          </a:p>
          <a:p>
            <a:pPr indent="0" marL="0">
              <a:buNone/>
            </a:pP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Après</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showStatus = input(true);</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readonly visibleStatusLabel = computed(() =&gt; this.showStatus() ? this.statusLabel() : null);</a:t>
            </a:r>
            <a:endParaRPr lang="en-US" sz="880" dirty="0"/>
          </a:p>
        </p:txBody>
      </p:sp>
      <p:sp>
        <p:nvSpPr>
          <p:cNvPr id="7" name="Text 4"/>
          <p:cNvSpPr/>
          <p:nvPr/>
        </p:nvSpPr>
        <p:spPr>
          <a:xfrm>
            <a:off x="411480" y="2761488"/>
            <a:ext cx="11368735" cy="502920"/>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npm test -- --runTestsByPath src/app/features/accounts/components/account-card/account-card.component.spec.ts</a:t>
            </a:r>
            <a:endParaRPr lang="en-US" sz="880" dirty="0"/>
          </a:p>
        </p:txBody>
      </p:sp>
      <p:sp>
        <p:nvSpPr>
          <p:cNvPr id="8" name="Text 5"/>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34/64</a:t>
            </a:r>
            <a:endParaRPr lang="en-US" sz="7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5 — input() — Définition</a:t>
            </a:r>
            <a:endParaRPr lang="en-US" sz="1800" dirty="0"/>
          </a:p>
        </p:txBody>
      </p:sp>
      <p:sp>
        <p:nvSpPr>
          <p:cNvPr id="5" name="Text 2"/>
          <p:cNvSpPr/>
          <p:nvPr/>
        </p:nvSpPr>
        <p:spPr>
          <a:xfrm>
            <a:off x="411480" y="932688"/>
            <a:ext cx="11368735" cy="630936"/>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showStatus = input(true);              // avec valeur par défaut</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account = input.required&lt;Account&gt;();   // requis</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showStatus()                           // lecture</a:t>
            </a:r>
            <a:endParaRPr lang="en-US" sz="880" dirty="0"/>
          </a:p>
        </p:txBody>
      </p:sp>
      <p:sp>
        <p:nvSpPr>
          <p:cNvPr id="6" name="Text 3"/>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35/64</a:t>
            </a:r>
            <a:endParaRPr lang="en-US" sz="7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5 — input() — vs Zone.js</a:t>
            </a:r>
            <a:endParaRPr lang="en-US" sz="180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411480" y="932688"/>
          <a:ext cx="11368735" cy="1243584"/>
        </p:xfrm>
        <a:graphic>
          <a:graphicData uri="http://schemas.openxmlformats.org/drawingml/2006/table">
            <a:tbl>
              <a:tblPr/>
              <a:tblGrid>
                <a:gridCol w="5684368"/>
                <a:gridCol w="5684368"/>
              </a:tblGrid>
              <a:tr h="310896">
                <a:tc>
                  <a:txBody>
                    <a:bodyPr/>
                    <a:lstStyle/>
                    <a:p>
                      <a:pPr indent="0" marL="0">
                        <a:buNone/>
                      </a:pPr>
                      <a:r>
                        <a:rPr lang="en-US" sz="1020" b="1" dirty="0">
                          <a:solidFill>
                            <a:srgbClr val="FFFFFF"/>
                          </a:solidFill>
                        </a:rPr>
                        <a:t>@Input() classique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c>
                  <a:txBody>
                    <a:bodyPr/>
                    <a:lstStyle/>
                    <a:p>
                      <a:pPr indent="0" marL="0">
                        <a:buNone/>
                      </a:pPr>
                      <a:r>
                        <a:rPr lang="en-US" sz="1020" b="1" dirty="0">
                          <a:solidFill>
                            <a:srgbClr val="FFFFFF"/>
                          </a:solidFill>
                        </a:rPr>
                        <a:t>input()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r>
              <a:tr h="310896">
                <a:tc>
                  <a:txBody>
                    <a:bodyPr/>
                    <a:lstStyle/>
                    <a:p>
                      <a:pPr indent="0" marL="0">
                        <a:buNone/>
                      </a:pPr>
                      <a:r>
                        <a:rPr lang="en-US" sz="1020" dirty="0">
                          <a:solidFill>
                            <a:srgbClr val="333333"/>
                          </a:solidFill>
                        </a:rPr>
                        <a:t>Propriété TS mise à jour par Angular</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Signal mis à jour par Angular</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Lu dans computed() sans créer de dépendance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Lu dans computed() → dépendance réelle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r h="310896">
                <a:tc>
                  <a:txBody>
                    <a:bodyPr/>
                    <a:lstStyle/>
                    <a:p>
                      <a:pPr indent="0" marL="0">
                        <a:buNone/>
                      </a:pPr>
                      <a:r>
                        <a:rPr lang="en-US" sz="1020" dirty="0">
                          <a:solidFill>
                            <a:srgbClr val="333333"/>
                          </a:solidFill>
                        </a:rPr>
                        <a:t>Zone.js déclenche détection après chaque cycle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Re-render seulement si la valeur change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bl>
          </a:graphicData>
        </a:graphic>
      </p:graphicFrame>
      <p:sp>
        <p:nvSpPr>
          <p:cNvPr id="5"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36/64</a:t>
            </a:r>
            <a:endParaRPr lang="en-US" sz="7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5 — input() — Quand utiliser input() — et quand rester ailleurs</a:t>
            </a:r>
            <a:endParaRPr lang="en-US" sz="1800" dirty="0"/>
          </a:p>
        </p:txBody>
      </p:sp>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411480" y="932688"/>
          <a:ext cx="11368735" cy="1554480"/>
        </p:xfrm>
        <a:graphic>
          <a:graphicData uri="http://schemas.openxmlformats.org/drawingml/2006/table">
            <a:tbl>
              <a:tblPr/>
              <a:tblGrid>
                <a:gridCol w="5684368"/>
                <a:gridCol w="5684368"/>
              </a:tblGrid>
              <a:tr h="310896">
                <a:tc>
                  <a:txBody>
                    <a:bodyPr/>
                    <a:lstStyle/>
                    <a:p>
                      <a:pPr indent="0" marL="0">
                        <a:buNone/>
                      </a:pPr>
                      <a:r>
                        <a:rPr lang="en-US" sz="1020" b="1" dirty="0">
                          <a:solidFill>
                            <a:srgbClr val="FFFFFF"/>
                          </a:solidFill>
                        </a:rPr>
                        <a:t>Situation</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c>
                  <a:txBody>
                    <a:bodyPr/>
                    <a:lstStyle/>
                    <a:p>
                      <a:pPr indent="0" marL="0">
                        <a:buNone/>
                      </a:pPr>
                      <a:r>
                        <a:rPr lang="en-US" sz="1020" b="1" dirty="0">
                          <a:solidFill>
                            <a:srgbClr val="FFFFFF"/>
                          </a:solidFill>
                        </a:rPr>
                        <a:t>Outil</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r>
              <a:tr h="310896">
                <a:tc>
                  <a:txBody>
                    <a:bodyPr/>
                    <a:lstStyle/>
                    <a:p>
                      <a:pPr indent="0" marL="0">
                        <a:buNone/>
                      </a:pPr>
                      <a:r>
                        <a:rPr lang="en-US" sz="1020" dirty="0">
                          <a:solidFill>
                            <a:srgbClr val="333333"/>
                          </a:solidFill>
                        </a:rPr>
                        <a:t>Entrée lue dans un computed() ou effect()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input()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Entrée requise sans valeur par défaut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input.required&lt;T&gt;()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r h="310896">
                <a:tc>
                  <a:txBody>
                    <a:bodyPr/>
                    <a:lstStyle/>
                    <a:p>
                      <a:pPr indent="0" marL="0">
                        <a:buNone/>
                      </a:pPr>
                      <a:r>
                        <a:rPr lang="en-US" sz="1020" dirty="0">
                          <a:solidFill>
                            <a:srgbClr val="333333"/>
                          </a:solidFill>
                        </a:rPr>
                        <a:t>Entrée legacy dans un composant non migré</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@Input() acceptable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Valeur bidirectionnelle parent ↔ enfant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model() (voir parenthèse après output())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bl>
          </a:graphicData>
        </a:graphic>
      </p:graphicFrame>
      <p:sp>
        <p:nvSpPr>
          <p:cNvPr id="5"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37/64</a:t>
            </a:r>
            <a:endParaRPr lang="en-US" sz="7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1976D2"/>
        </a:solidFill>
      </p:bgPr>
    </p:bg>
    <p:spTree>
      <p:nvGrpSpPr>
        <p:cNvPr id="1" name=""/>
        <p:cNvGrpSpPr/>
        <p:nvPr/>
      </p:nvGrpSpPr>
      <p:grpSpPr>
        <a:xfrm>
          <a:off x="0" y="0"/>
          <a:ext cx="0" cy="0"/>
          <a:chOff x="0" y="0"/>
          <a:chExt cx="0" cy="0"/>
        </a:xfrm>
      </p:grpSpPr>
      <p:sp>
        <p:nvSpPr>
          <p:cNvPr id="2" name="Text 0"/>
          <p:cNvSpPr/>
          <p:nvPr/>
        </p:nvSpPr>
        <p:spPr>
          <a:xfrm>
            <a:off x="594360" y="1600200"/>
            <a:ext cx="11002975" cy="411480"/>
          </a:xfrm>
          <a:prstGeom prst="rect">
            <a:avLst/>
          </a:prstGeom>
          <a:noFill/>
          <a:ln/>
        </p:spPr>
        <p:txBody>
          <a:bodyPr wrap="square" lIns="0" tIns="0" rIns="0" bIns="0" rtlCol="0" anchor="ctr"/>
          <a:lstStyle/>
          <a:p>
            <a:pPr algn="ctr" indent="0" marL="0">
              <a:buNone/>
            </a:pPr>
            <a:r>
              <a:rPr lang="en-US" sz="1800" dirty="0">
                <a:solidFill>
                  <a:srgbClr val="CFE8FF"/>
                </a:solidFill>
              </a:rPr>
              <a:t>Exercice 6</a:t>
            </a:r>
            <a:endParaRPr lang="en-US" sz="1800" dirty="0"/>
          </a:p>
        </p:txBody>
      </p:sp>
      <p:sp>
        <p:nvSpPr>
          <p:cNvPr id="3" name="Text 1"/>
          <p:cNvSpPr/>
          <p:nvPr/>
        </p:nvSpPr>
        <p:spPr>
          <a:xfrm>
            <a:off x="594360" y="2148840"/>
            <a:ext cx="11002975" cy="1097280"/>
          </a:xfrm>
          <a:prstGeom prst="rect">
            <a:avLst/>
          </a:prstGeom>
          <a:noFill/>
          <a:ln/>
        </p:spPr>
        <p:txBody>
          <a:bodyPr wrap="square" lIns="0" tIns="0" rIns="0" bIns="0" rtlCol="0" anchor="ctr">
            <a:normAutofit/>
          </a:bodyPr>
          <a:lstStyle/>
          <a:p>
            <a:pPr algn="ctr" indent="0" marL="0">
              <a:buNone/>
            </a:pPr>
            <a:r>
              <a:rPr lang="en-US" sz="3800" b="1" dirty="0">
                <a:solidFill>
                  <a:srgbClr val="FFFFFF"/>
                </a:solidFill>
              </a:rPr>
              <a:t>output()</a:t>
            </a:r>
            <a:endParaRPr lang="en-US" sz="3800" dirty="0"/>
          </a:p>
        </p:txBody>
      </p:sp>
      <p:sp>
        <p:nvSpPr>
          <p:cNvPr id="4"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38/64</a:t>
            </a:r>
            <a:endParaRPr lang="en-US" sz="7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6 — output() — Fichier à modifier</a:t>
            </a:r>
            <a:endParaRPr lang="en-US" sz="1800" dirty="0"/>
          </a:p>
        </p:txBody>
      </p:sp>
      <p:sp>
        <p:nvSpPr>
          <p:cNvPr id="4" name="Text 2"/>
          <p:cNvSpPr/>
          <p:nvPr/>
        </p:nvSpPr>
        <p:spPr>
          <a:xfrm>
            <a:off x="411480" y="932688"/>
            <a:ext cx="11368735" cy="320040"/>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src/app/features/accounts/components/account-list/account-list.component.ts</a:t>
            </a:r>
            <a:endParaRPr lang="en-US" sz="1220" dirty="0"/>
          </a:p>
        </p:txBody>
      </p:sp>
      <p:sp>
        <p:nvSpPr>
          <p:cNvPr id="5" name="Text 3"/>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39/64</a:t>
            </a:r>
            <a:endParaRPr lang="en-US" sz="7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6 — output() — Lecture guidée</a:t>
            </a:r>
            <a:endParaRPr lang="en-US" sz="1800" dirty="0"/>
          </a:p>
        </p:txBody>
      </p:sp>
      <p:sp>
        <p:nvSpPr>
          <p:cNvPr id="5" name="Text 2"/>
          <p:cNvSpPr/>
          <p:nvPr/>
        </p:nvSpPr>
        <p:spPr>
          <a:xfrm>
            <a:off x="411480" y="932688"/>
            <a:ext cx="11368735" cy="786384"/>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editRequested = output&lt;Account&gt;();</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saveRequested = output&lt;void&gt;();</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cancelRequested = output&lt;void&gt;();</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deleteRequested = output&lt;Account&gt;();</a:t>
            </a:r>
            <a:endParaRPr lang="en-US" sz="880" dirty="0"/>
          </a:p>
        </p:txBody>
      </p:sp>
      <p:sp>
        <p:nvSpPr>
          <p:cNvPr id="6" name="Text 3"/>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40/64</a:t>
            </a:r>
            <a:endParaRPr lang="en-US" sz="7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6 — output() — Consigne</a:t>
            </a:r>
            <a:endParaRPr lang="en-US" sz="1800" dirty="0"/>
          </a:p>
        </p:txBody>
      </p:sp>
      <p:sp>
        <p:nvSpPr>
          <p:cNvPr id="4" name="Text 2"/>
          <p:cNvSpPr/>
          <p:nvPr/>
        </p:nvSpPr>
        <p:spPr>
          <a:xfrm>
            <a:off x="411480" y="932688"/>
            <a:ext cx="11368735" cy="429768"/>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Transformer @Output() selectedRequested = new EventEmitter&lt;Account&gt;() en output(). Retirer EventEmitter et Output des imports.</a:t>
            </a:r>
            <a:endParaRPr lang="en-US" sz="1220" dirty="0"/>
          </a:p>
        </p:txBody>
      </p:sp>
      <p:sp>
        <p:nvSpPr>
          <p:cNvPr id="5" name="Text 3"/>
          <p:cNvSpPr/>
          <p:nvPr/>
        </p:nvSpPr>
        <p:spPr>
          <a:xfrm>
            <a:off x="411480" y="1472184"/>
            <a:ext cx="11368735" cy="941832"/>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 Avant</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@Output() selectedRequested = new EventEmitter&lt;Account&gt;();</a:t>
            </a:r>
            <a:endParaRPr lang="en-US" sz="880" dirty="0"/>
          </a:p>
          <a:p>
            <a:pPr indent="0" marL="0">
              <a:buNone/>
            </a:pP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Après</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selectedRequested = output&lt;Account&gt;();</a:t>
            </a:r>
            <a:endParaRPr lang="en-US" sz="880" dirty="0"/>
          </a:p>
        </p:txBody>
      </p:sp>
      <p:sp>
        <p:nvSpPr>
          <p:cNvPr id="6" name="Text 4"/>
          <p:cNvSpPr/>
          <p:nvPr/>
        </p:nvSpPr>
        <p:spPr>
          <a:xfrm>
            <a:off x="411480" y="2560320"/>
            <a:ext cx="11368735" cy="320040"/>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L'émission dans l'effect() reste identique : this.selectedRequested.emit(account).</a:t>
            </a:r>
            <a:endParaRPr lang="en-US" sz="1220" dirty="0"/>
          </a:p>
        </p:txBody>
      </p:sp>
      <p:sp>
        <p:nvSpPr>
          <p:cNvPr id="7" name="Text 5"/>
          <p:cNvSpPr/>
          <p:nvPr/>
        </p:nvSpPr>
        <p:spPr>
          <a:xfrm>
            <a:off x="411480" y="2990088"/>
            <a:ext cx="11368735" cy="502920"/>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npm test -- --runTestsByPath src/app/features/accounts/pages/accounts/accounts.component.spec.ts</a:t>
            </a:r>
            <a:endParaRPr lang="en-US" sz="880" dirty="0"/>
          </a:p>
        </p:txBody>
      </p:sp>
      <p:sp>
        <p:nvSpPr>
          <p:cNvPr id="8" name="Text 6"/>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41/64</a:t>
            </a:r>
            <a:endParaRPr lang="en-US" sz="7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6 — output() — Définition</a:t>
            </a:r>
            <a:endParaRPr lang="en-US" sz="1800" dirty="0"/>
          </a:p>
        </p:txBody>
      </p:sp>
      <p:sp>
        <p:nvSpPr>
          <p:cNvPr id="5" name="Text 2"/>
          <p:cNvSpPr/>
          <p:nvPr/>
        </p:nvSpPr>
        <p:spPr>
          <a:xfrm>
            <a:off x="411480" y="932688"/>
            <a:ext cx="11368735" cy="630936"/>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selectedRequested = output&lt;Account&gt;();       // déclarer</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this.selectedRequested.emit(account);        // émettre</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(selectedRequested)="startEdit($event)"      // écouter dans le parent</a:t>
            </a:r>
            <a:endParaRPr lang="en-US" sz="880" dirty="0"/>
          </a:p>
        </p:txBody>
      </p:sp>
      <p:sp>
        <p:nvSpPr>
          <p:cNvPr id="6" name="Text 3"/>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42/64</a:t>
            </a:r>
            <a:endParaRPr lang="en-US" sz="7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6 — output() — vs Zone.js</a:t>
            </a:r>
            <a:endParaRPr lang="en-US" sz="1800" dirty="0"/>
          </a:p>
        </p:txBody>
      </p:sp>
      <p:graphicFrame>
        <p:nvGraphicFramePr>
          <p:cNvPr id="44" name="Table 0"/>
          <p:cNvGraphicFramePr>
            <a:graphicFrameLocks noGrp="1"/>
          </p:cNvGraphicFramePr>
          <p:nvPr>
            <p:extLst>
              <p:ext uri="{D42A27DB-BD31-4B8C-83A1-F6EECF244321}">
                <p14:modId xmlns:p14="http://schemas.microsoft.com/office/powerpoint/2010/main" val="1579011935"/>
              </p:ext>
            </p:extLst>
          </p:nvPr>
        </p:nvGraphicFramePr>
        <p:xfrm>
          <a:off x="411480" y="932688"/>
          <a:ext cx="11368735" cy="1243584"/>
        </p:xfrm>
        <a:graphic>
          <a:graphicData uri="http://schemas.openxmlformats.org/drawingml/2006/table">
            <a:tbl>
              <a:tblPr/>
              <a:tblGrid>
                <a:gridCol w="5684368"/>
                <a:gridCol w="5684368"/>
              </a:tblGrid>
              <a:tr h="310896">
                <a:tc>
                  <a:txBody>
                    <a:bodyPr/>
                    <a:lstStyle/>
                    <a:p>
                      <a:pPr indent="0" marL="0">
                        <a:buNone/>
                      </a:pPr>
                      <a:r>
                        <a:rPr lang="en-US" sz="1020" b="1" dirty="0">
                          <a:solidFill>
                            <a:srgbClr val="FFFFFF"/>
                          </a:solidFill>
                        </a:rPr>
                        <a:t>@Output() + EventEmitter</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c>
                  <a:txBody>
                    <a:bodyPr/>
                    <a:lstStyle/>
                    <a:p>
                      <a:pPr indent="0" marL="0">
                        <a:buNone/>
                      </a:pPr>
                      <a:r>
                        <a:rPr lang="en-US" sz="1020" b="1" dirty="0">
                          <a:solidFill>
                            <a:srgbClr val="FFFFFF"/>
                          </a:solidFill>
                        </a:rPr>
                        <a:t>output()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r>
              <a:tr h="310896">
                <a:tc>
                  <a:txBody>
                    <a:bodyPr/>
                    <a:lstStyle/>
                    <a:p>
                      <a:pPr indent="0" marL="0">
                        <a:buNone/>
                      </a:pPr>
                      <a:r>
                        <a:rPr lang="en-US" sz="1020" dirty="0">
                          <a:solidFill>
                            <a:srgbClr val="333333"/>
                          </a:solidFill>
                        </a:rPr>
                        <a:t>Hérite historiquement d'un mécanisme de flux</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Pas d'Observable interne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Souvent détourné comme flux applicatif</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Contrat pensé pour le parent direct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r h="310896">
                <a:tc>
                  <a:txBody>
                    <a:bodyPr/>
                    <a:lstStyle/>
                    <a:p>
                      <a:pPr indent="0" marL="0">
                        <a:buNone/>
                      </a:pPr>
                      <a:r>
                        <a:rPr lang="en-US" sz="1020" dirty="0">
                          <a:solidFill>
                            <a:srgbClr val="333333"/>
                          </a:solidFill>
                        </a:rPr>
                        <a:t>Zone.js déclenche détection après l'émission</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Angular notifie directement le parent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bl>
          </a:graphicData>
        </a:graphic>
      </p:graphicFrame>
      <p:sp>
        <p:nvSpPr>
          <p:cNvPr id="5"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43/64</a:t>
            </a:r>
            <a:endParaRPr lang="en-US" sz="7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6 — output() — Quand utiliser output() — et quand rester ailleurs</a:t>
            </a:r>
            <a:endParaRPr lang="en-US" sz="1800" dirty="0"/>
          </a:p>
        </p:txBody>
      </p:sp>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411480" y="932688"/>
          <a:ext cx="11368735" cy="1554480"/>
        </p:xfrm>
        <a:graphic>
          <a:graphicData uri="http://schemas.openxmlformats.org/drawingml/2006/table">
            <a:tbl>
              <a:tblPr/>
              <a:tblGrid>
                <a:gridCol w="5684368"/>
                <a:gridCol w="5684368"/>
              </a:tblGrid>
              <a:tr h="310896">
                <a:tc>
                  <a:txBody>
                    <a:bodyPr/>
                    <a:lstStyle/>
                    <a:p>
                      <a:pPr indent="0" marL="0">
                        <a:buNone/>
                      </a:pPr>
                      <a:r>
                        <a:rPr lang="en-US" sz="1020" b="1" dirty="0">
                          <a:solidFill>
                            <a:srgbClr val="FFFFFF"/>
                          </a:solidFill>
                        </a:rPr>
                        <a:t>Situation</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c>
                  <a:txBody>
                    <a:bodyPr/>
                    <a:lstStyle/>
                    <a:p>
                      <a:pPr indent="0" marL="0">
                        <a:buNone/>
                      </a:pPr>
                      <a:r>
                        <a:rPr lang="en-US" sz="1020" b="1" dirty="0">
                          <a:solidFill>
                            <a:srgbClr val="FFFFFF"/>
                          </a:solidFill>
                        </a:rPr>
                        <a:t>Outil</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r>
              <a:tr h="310896">
                <a:tc>
                  <a:txBody>
                    <a:bodyPr/>
                    <a:lstStyle/>
                    <a:p>
                      <a:pPr indent="0" marL="0">
                        <a:buNone/>
                      </a:pPr>
                      <a:r>
                        <a:rPr lang="en-US" sz="1020" dirty="0">
                          <a:solidFill>
                            <a:srgbClr val="333333"/>
                          </a:solidFill>
                        </a:rPr>
                        <a:t>Événement vers le parent direct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output()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Événement global ou cross-composant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Service dédié</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r h="310896">
                <a:tc>
                  <a:txBody>
                    <a:bodyPr/>
                    <a:lstStyle/>
                    <a:p>
                      <a:pPr indent="0" marL="0">
                        <a:buNone/>
                      </a:pPr>
                      <a:r>
                        <a:rPr lang="en-US" sz="1020" dirty="0">
                          <a:solidFill>
                            <a:srgbClr val="333333"/>
                          </a:solidFill>
                        </a:rPr>
                        <a:t>Flux avec opérateurs temporels</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Flux dédié, pas output()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Valeur bidirectionnelle entrée + sortie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model() (voir ci-dessous)</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bl>
          </a:graphicData>
        </a:graphic>
      </p:graphicFrame>
      <p:sp>
        <p:nvSpPr>
          <p:cNvPr id="5"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44/64</a:t>
            </a:r>
            <a:endParaRPr lang="en-US" sz="7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6 — output() — Parenthèse rapide — model()</a:t>
            </a:r>
            <a:endParaRPr lang="en-US" sz="1800" dirty="0"/>
          </a:p>
        </p:txBody>
      </p:sp>
      <p:sp>
        <p:nvSpPr>
          <p:cNvPr id="5" name="Text 2"/>
          <p:cNvSpPr/>
          <p:nvPr/>
        </p:nvSpPr>
        <p:spPr>
          <a:xfrm>
            <a:off x="411480" y="932688"/>
            <a:ext cx="11368735" cy="786384"/>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value = model('');</a:t>
            </a:r>
            <a:endParaRPr lang="en-US" sz="880" dirty="0"/>
          </a:p>
          <a:p>
            <a:pPr indent="0" marL="0">
              <a:buNone/>
            </a:pP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Parent</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&lt;app-search-box [(value)]="searchTerm" /&gt;</a:t>
            </a:r>
            <a:endParaRPr lang="en-US" sz="880" dirty="0"/>
          </a:p>
        </p:txBody>
      </p:sp>
      <p:sp>
        <p:nvSpPr>
          <p:cNvPr id="6" name="Text 3"/>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45/64</a:t>
            </a:r>
            <a:endParaRPr lang="en-US" sz="7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Rappel RxJS — Avant toSignal()</a:t>
            </a:r>
            <a:endParaRPr lang="en-US" sz="1800" dirty="0"/>
          </a:p>
        </p:txBody>
      </p:sp>
      <p:sp>
        <p:nvSpPr>
          <p:cNvPr id="5" name="Text 2"/>
          <p:cNvSpPr/>
          <p:nvPr/>
        </p:nvSpPr>
        <p:spPr>
          <a:xfrm>
            <a:off x="411480" y="932688"/>
            <a:ext cx="11368735" cy="502920"/>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RxJS    : un flux émet dans le temps → on compose/transforme ce flux</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toSignal: Observable → Signal        → on lit la dernière valeur avec ()</a:t>
            </a:r>
            <a:endParaRPr lang="en-US" sz="880" dirty="0"/>
          </a:p>
        </p:txBody>
      </p:sp>
      <p:sp>
        <p:nvSpPr>
          <p:cNvPr id="6" name="Text 3"/>
          <p:cNvSpPr/>
          <p:nvPr/>
        </p:nvSpPr>
        <p:spPr>
          <a:xfrm>
            <a:off x="411480" y="1581912"/>
            <a:ext cx="11368735" cy="1097280"/>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readonly clientId = toSignal(</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this.route.paramMap.pipe(map(params =&gt; params.get('id'))),</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 initialValue: null }</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a:t>
            </a:r>
            <a:endParaRPr lang="en-US" sz="880" dirty="0"/>
          </a:p>
          <a:p>
            <a:pPr indent="0" marL="0">
              <a:buNone/>
            </a:pP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clientId() // lecture côté composant/template</a:t>
            </a:r>
            <a:endParaRPr lang="en-US" sz="880" dirty="0"/>
          </a:p>
        </p:txBody>
      </p:sp>
      <p:sp>
        <p:nvSpPr>
          <p:cNvPr id="7" name="Text 4"/>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46/64</a:t>
            </a:r>
            <a:endParaRPr lang="en-US" sz="7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1976D2"/>
        </a:solidFill>
      </p:bgPr>
    </p:bg>
    <p:spTree>
      <p:nvGrpSpPr>
        <p:cNvPr id="1" name=""/>
        <p:cNvGrpSpPr/>
        <p:nvPr/>
      </p:nvGrpSpPr>
      <p:grpSpPr>
        <a:xfrm>
          <a:off x="0" y="0"/>
          <a:ext cx="0" cy="0"/>
          <a:chOff x="0" y="0"/>
          <a:chExt cx="0" cy="0"/>
        </a:xfrm>
      </p:grpSpPr>
      <p:sp>
        <p:nvSpPr>
          <p:cNvPr id="2" name="Text 0"/>
          <p:cNvSpPr/>
          <p:nvPr/>
        </p:nvSpPr>
        <p:spPr>
          <a:xfrm>
            <a:off x="594360" y="1600200"/>
            <a:ext cx="11002975" cy="411480"/>
          </a:xfrm>
          <a:prstGeom prst="rect">
            <a:avLst/>
          </a:prstGeom>
          <a:noFill/>
          <a:ln/>
        </p:spPr>
        <p:txBody>
          <a:bodyPr wrap="square" lIns="0" tIns="0" rIns="0" bIns="0" rtlCol="0" anchor="ctr"/>
          <a:lstStyle/>
          <a:p>
            <a:pPr algn="ctr" indent="0" marL="0">
              <a:buNone/>
            </a:pPr>
            <a:r>
              <a:rPr lang="en-US" sz="1800" dirty="0">
                <a:solidFill>
                  <a:srgbClr val="CFE8FF"/>
                </a:solidFill>
              </a:rPr>
              <a:t>Exercice 7</a:t>
            </a:r>
            <a:endParaRPr lang="en-US" sz="1800" dirty="0"/>
          </a:p>
        </p:txBody>
      </p:sp>
      <p:sp>
        <p:nvSpPr>
          <p:cNvPr id="3" name="Text 1"/>
          <p:cNvSpPr/>
          <p:nvPr/>
        </p:nvSpPr>
        <p:spPr>
          <a:xfrm>
            <a:off x="594360" y="2148840"/>
            <a:ext cx="11002975" cy="1097280"/>
          </a:xfrm>
          <a:prstGeom prst="rect">
            <a:avLst/>
          </a:prstGeom>
          <a:noFill/>
          <a:ln/>
        </p:spPr>
        <p:txBody>
          <a:bodyPr wrap="square" lIns="0" tIns="0" rIns="0" bIns="0" rtlCol="0" anchor="ctr">
            <a:normAutofit/>
          </a:bodyPr>
          <a:lstStyle/>
          <a:p>
            <a:pPr algn="ctr" indent="0" marL="0">
              <a:buNone/>
            </a:pPr>
            <a:r>
              <a:rPr lang="en-US" sz="3800" b="1" dirty="0">
                <a:solidFill>
                  <a:srgbClr val="FFFFFF"/>
                </a:solidFill>
              </a:rPr>
              <a:t>Interop RxJS progressive</a:t>
            </a:r>
            <a:endParaRPr lang="en-US" sz="3800" dirty="0"/>
          </a:p>
        </p:txBody>
      </p:sp>
      <p:sp>
        <p:nvSpPr>
          <p:cNvPr id="4"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47/64</a:t>
            </a:r>
            <a:endParaRPr lang="en-US" sz="7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7 — Interop RxJS progressive — Fichiers à modifier</a:t>
            </a:r>
            <a:endParaRPr lang="en-US" sz="1800" dirty="0"/>
          </a:p>
        </p:txBody>
      </p:sp>
      <p:sp>
        <p:nvSpPr>
          <p:cNvPr id="4" name="Text 2"/>
          <p:cNvSpPr/>
          <p:nvPr/>
        </p:nvSpPr>
        <p:spPr>
          <a:xfrm>
            <a:off x="411480" y="932688"/>
            <a:ext cx="11368735" cy="320040"/>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7a — toSignal() simple — src/app/features/accounts/pages/accounts/accounts.component.ts</a:t>
            </a:r>
            <a:endParaRPr lang="en-US" sz="1220" dirty="0"/>
          </a:p>
        </p:txBody>
      </p:sp>
      <p:sp>
        <p:nvSpPr>
          <p:cNvPr id="5" name="Text 3"/>
          <p:cNvSpPr/>
          <p:nvPr/>
        </p:nvSpPr>
        <p:spPr>
          <a:xfrm>
            <a:off x="411480" y="1362456"/>
            <a:ext cx="11368735" cy="320040"/>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7b — toSignal() avec état de chargement — src/app/features/clients/pages/dashboard/dashboard.component.ts</a:t>
            </a:r>
            <a:endParaRPr lang="en-US" sz="1220" dirty="0"/>
          </a:p>
        </p:txBody>
      </p:sp>
      <p:sp>
        <p:nvSpPr>
          <p:cNvPr id="6" name="Text 4"/>
          <p:cNvSpPr/>
          <p:nvPr/>
        </p:nvSpPr>
        <p:spPr>
          <a:xfrm>
            <a:off x="411480" y="1792224"/>
            <a:ext cx="11368735" cy="320040"/>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7c — toObservable() — src/app/features/clients/pages/clients/clients.component.ts (lecture seule / bonus)</a:t>
            </a:r>
            <a:endParaRPr lang="en-US" sz="1220" dirty="0"/>
          </a:p>
        </p:txBody>
      </p:sp>
      <p:sp>
        <p:nvSpPr>
          <p:cNvPr id="7" name="Text 5"/>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48/64</a:t>
            </a:r>
            <a:endParaRPr lang="en-US" sz="7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1976D2"/>
        </a:solidFill>
      </p:bgPr>
    </p:bg>
    <p:spTree>
      <p:nvGrpSpPr>
        <p:cNvPr id="1" name=""/>
        <p:cNvGrpSpPr/>
        <p:nvPr/>
      </p:nvGrpSpPr>
      <p:grpSpPr>
        <a:xfrm>
          <a:off x="0" y="0"/>
          <a:ext cx="0" cy="0"/>
          <a:chOff x="0" y="0"/>
          <a:chExt cx="0" cy="0"/>
        </a:xfrm>
      </p:grpSpPr>
      <p:sp>
        <p:nvSpPr>
          <p:cNvPr id="2" name="Text 0"/>
          <p:cNvSpPr/>
          <p:nvPr/>
        </p:nvSpPr>
        <p:spPr>
          <a:xfrm>
            <a:off x="594360" y="1600200"/>
            <a:ext cx="11002975" cy="411480"/>
          </a:xfrm>
          <a:prstGeom prst="rect">
            <a:avLst/>
          </a:prstGeom>
          <a:noFill/>
          <a:ln/>
        </p:spPr>
        <p:txBody>
          <a:bodyPr wrap="square" lIns="0" tIns="0" rIns="0" bIns="0" rtlCol="0" anchor="ctr"/>
          <a:lstStyle/>
          <a:p>
            <a:pPr algn="ctr" indent="0" marL="0">
              <a:buNone/>
            </a:pPr>
            <a:r>
              <a:rPr lang="en-US" sz="1800" dirty="0">
                <a:solidFill>
                  <a:srgbClr val="CFE8FF"/>
                </a:solidFill>
              </a:rPr>
              <a:t>Exercice 7</a:t>
            </a:r>
            <a:endParaRPr lang="en-US" sz="1800" dirty="0"/>
          </a:p>
        </p:txBody>
      </p:sp>
      <p:sp>
        <p:nvSpPr>
          <p:cNvPr id="3" name="Text 1"/>
          <p:cNvSpPr/>
          <p:nvPr/>
        </p:nvSpPr>
        <p:spPr>
          <a:xfrm>
            <a:off x="594360" y="2148840"/>
            <a:ext cx="11002975" cy="1097280"/>
          </a:xfrm>
          <a:prstGeom prst="rect">
            <a:avLst/>
          </a:prstGeom>
          <a:noFill/>
          <a:ln/>
        </p:spPr>
        <p:txBody>
          <a:bodyPr wrap="square" lIns="0" tIns="0" rIns="0" bIns="0" rtlCol="0" anchor="ctr">
            <a:normAutofit/>
          </a:bodyPr>
          <a:lstStyle/>
          <a:p>
            <a:pPr algn="ctr" indent="0" marL="0">
              <a:buNone/>
            </a:pPr>
            <a:r>
              <a:rPr lang="en-US" sz="3800" b="1" dirty="0">
                <a:solidFill>
                  <a:srgbClr val="FFFFFF"/>
                </a:solidFill>
              </a:rPr>
              <a:t>Interop RxJS progressive</a:t>
            </a:r>
            <a:endParaRPr lang="en-US" sz="3800" dirty="0"/>
          </a:p>
        </p:txBody>
      </p:sp>
      <p:sp>
        <p:nvSpPr>
          <p:cNvPr id="5"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49/64</a:t>
            </a:r>
            <a:endParaRPr lang="en-US" sz="7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7 — Interop RxJS progressive — Consigne</a:t>
            </a:r>
            <a:endParaRPr lang="en-US" sz="1800" dirty="0"/>
          </a:p>
        </p:txBody>
      </p:sp>
      <p:sp>
        <p:nvSpPr>
          <p:cNvPr id="4" name="Text 2"/>
          <p:cNvSpPr/>
          <p:nvPr/>
        </p:nvSpPr>
        <p:spPr>
          <a:xfrm>
            <a:off x="411480" y="932688"/>
            <a:ext cx="11368735" cy="320040"/>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7a : remplacer la souscription manuelle à paramMap par toSignal().</a:t>
            </a:r>
            <a:endParaRPr lang="en-US" sz="1220" dirty="0"/>
          </a:p>
        </p:txBody>
      </p:sp>
      <p:sp>
        <p:nvSpPr>
          <p:cNvPr id="5" name="Text 3"/>
          <p:cNvSpPr/>
          <p:nvPr/>
        </p:nvSpPr>
        <p:spPr>
          <a:xfrm>
            <a:off x="411480" y="1362456"/>
            <a:ext cx="11368735" cy="2496312"/>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 Avant — souscription manuelle</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readonly clientId = signal&lt;string | null&gt;(null);</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constructor() {</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this.clientId$.pipe(takeUntilDestroyed(this.destroyRef))</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.subscribe(id =&gt; { this.clientId.set(id); this.accountsFacade.load(id); });</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a:t>
            </a:r>
            <a:endParaRPr lang="en-US" sz="880" dirty="0"/>
          </a:p>
          <a:p>
            <a:pPr indent="0" marL="0">
              <a:buNone/>
            </a:pP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Après</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readonly clientId = toSignal(</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this.route.paramMap.pipe(map(p =&gt; p.get('id'))),</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 initialValue: null }</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constructor() {</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effect(() =&gt; { this.accountsFacade.load(this.clientId()); });</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a:t>
            </a:r>
            <a:endParaRPr lang="en-US" sz="880" dirty="0"/>
          </a:p>
        </p:txBody>
      </p:sp>
      <p:sp>
        <p:nvSpPr>
          <p:cNvPr id="6" name="Text 4"/>
          <p:cNvSpPr/>
          <p:nvPr/>
        </p:nvSpPr>
        <p:spPr>
          <a:xfrm>
            <a:off x="411480" y="4005072"/>
            <a:ext cx="11368735" cy="320040"/>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Nettoyer aussi les imports devenus inutiles :</a:t>
            </a:r>
            <a:endParaRPr lang="en-US" sz="1220" dirty="0"/>
          </a:p>
        </p:txBody>
      </p:sp>
      <p:sp>
        <p:nvSpPr>
          <p:cNvPr id="7" name="Text 5"/>
          <p:cNvSpPr/>
          <p:nvPr/>
        </p:nvSpPr>
        <p:spPr>
          <a:xfrm>
            <a:off x="411480" y="4434840"/>
            <a:ext cx="11368735" cy="630936"/>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 À retirer après conversion</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DestroyRef</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takeUntilDestroyed</a:t>
            </a:r>
            <a:endParaRPr lang="en-US" sz="880" dirty="0"/>
          </a:p>
        </p:txBody>
      </p:sp>
      <p:sp>
        <p:nvSpPr>
          <p:cNvPr id="8" name="Text 6"/>
          <p:cNvSpPr/>
          <p:nvPr/>
        </p:nvSpPr>
        <p:spPr>
          <a:xfrm>
            <a:off x="411480" y="5212080"/>
            <a:ext cx="11368735" cy="320040"/>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7b : remplacer firstValueFrom() + états manuels par toSignal() + pipe RxJS.</a:t>
            </a:r>
            <a:endParaRPr lang="en-US" sz="1220" dirty="0"/>
          </a:p>
        </p:txBody>
      </p:sp>
      <p:sp>
        <p:nvSpPr>
          <p:cNvPr id="9" name="Text 7"/>
          <p:cNvSpPr/>
          <p:nvPr/>
        </p:nvSpPr>
        <p:spPr>
          <a:xfrm>
            <a:off x="411480" y="5641848"/>
            <a:ext cx="11368735" cy="429768"/>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Point d'attention : ici RxJS reste utile. Le pipe() construit un petit état de vue unique : données, chargement et erreur.</a:t>
            </a:r>
            <a:endParaRPr lang="en-US" sz="1220" dirty="0"/>
          </a:p>
        </p:txBody>
      </p:sp>
      <p:sp>
        <p:nvSpPr>
          <p:cNvPr id="10" name="Text 8"/>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50/64</a:t>
            </a:r>
            <a:endParaRPr lang="en-US" sz="7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7 — Interop RxJS progressive — Lecture de la pipeline 7b</a:t>
            </a:r>
            <a:endParaRPr lang="en-US" sz="1800" dirty="0"/>
          </a:p>
        </p:txBody>
      </p:sp>
      <p:sp>
        <p:nvSpPr>
          <p:cNvPr id="5" name="Text 2"/>
          <p:cNvSpPr/>
          <p:nvPr/>
        </p:nvSpPr>
        <p:spPr>
          <a:xfrm>
            <a:off x="576072" y="932688"/>
            <a:ext cx="11204143" cy="256032"/>
          </a:xfrm>
          <a:prstGeom prst="rect">
            <a:avLst/>
          </a:prstGeom>
          <a:noFill/>
          <a:ln/>
        </p:spPr>
        <p:txBody>
          <a:bodyPr wrap="square" lIns="127" tIns="127" rIns="127" bIns="127" rtlCol="0" anchor="ctr">
            <a:normAutofit/>
          </a:bodyPr>
          <a:lstStyle/>
          <a:p>
            <a:r>
              <a:rPr lang="en-US" sz="1160" dirty="0">
                <a:solidFill>
                  <a:srgbClr val="333333"/>
                </a:solidFill>
              </a:rPr>
              <a:t>startWith(...) donne l'état initial avant la réponse HTTP ;</a:t>
            </a:r>
            <a:endParaRPr lang="en-US" sz="1160" dirty="0"/>
          </a:p>
        </p:txBody>
      </p:sp>
      <p:sp>
        <p:nvSpPr>
          <p:cNvPr id="6" name="Text 3"/>
          <p:cNvSpPr/>
          <p:nvPr/>
        </p:nvSpPr>
        <p:spPr>
          <a:xfrm>
            <a:off x="576072" y="1243584"/>
            <a:ext cx="11204143" cy="256032"/>
          </a:xfrm>
          <a:prstGeom prst="rect">
            <a:avLst/>
          </a:prstGeom>
          <a:noFill/>
          <a:ln/>
        </p:spPr>
        <p:txBody>
          <a:bodyPr wrap="square" lIns="127" tIns="127" rIns="127" bIns="127" rtlCol="0" anchor="ctr">
            <a:normAutofit/>
          </a:bodyPr>
          <a:lstStyle/>
          <a:p>
            <a:r>
              <a:rPr lang="en-US" sz="1160" dirty="0">
                <a:solidFill>
                  <a:srgbClr val="333333"/>
                </a:solidFill>
              </a:rPr>
              <a:t>map(...) transforme la réponse HTTP en état de vue réussi ;</a:t>
            </a:r>
            <a:endParaRPr lang="en-US" sz="1160" dirty="0"/>
          </a:p>
        </p:txBody>
      </p:sp>
      <p:sp>
        <p:nvSpPr>
          <p:cNvPr id="7" name="Text 4"/>
          <p:cNvSpPr/>
          <p:nvPr/>
        </p:nvSpPr>
        <p:spPr>
          <a:xfrm>
            <a:off x="576072" y="1554480"/>
            <a:ext cx="11204143" cy="256032"/>
          </a:xfrm>
          <a:prstGeom prst="rect">
            <a:avLst/>
          </a:prstGeom>
          <a:noFill/>
          <a:ln/>
        </p:spPr>
        <p:txBody>
          <a:bodyPr wrap="square" lIns="127" tIns="127" rIns="127" bIns="127" rtlCol="0" anchor="ctr">
            <a:normAutofit/>
          </a:bodyPr>
          <a:lstStyle/>
          <a:p>
            <a:r>
              <a:rPr lang="en-US" sz="1160" dirty="0">
                <a:solidFill>
                  <a:srgbClr val="333333"/>
                </a:solidFill>
              </a:rPr>
              <a:t>catchError(...) transforme l'erreur HTTP en état de vue en erreur ;</a:t>
            </a:r>
            <a:endParaRPr lang="en-US" sz="1160" dirty="0"/>
          </a:p>
        </p:txBody>
      </p:sp>
      <p:sp>
        <p:nvSpPr>
          <p:cNvPr id="8" name="Text 5"/>
          <p:cNvSpPr/>
          <p:nvPr/>
        </p:nvSpPr>
        <p:spPr>
          <a:xfrm>
            <a:off x="576072" y="1865376"/>
            <a:ext cx="11204143" cy="256032"/>
          </a:xfrm>
          <a:prstGeom prst="rect">
            <a:avLst/>
          </a:prstGeom>
          <a:noFill/>
          <a:ln/>
        </p:spPr>
        <p:txBody>
          <a:bodyPr wrap="square" lIns="127" tIns="127" rIns="127" bIns="127" rtlCol="0" anchor="ctr">
            <a:normAutofit/>
          </a:bodyPr>
          <a:lstStyle/>
          <a:p>
            <a:r>
              <a:rPr lang="en-US" sz="1160" dirty="0">
                <a:solidFill>
                  <a:srgbClr val="333333"/>
                </a:solidFill>
              </a:rPr>
              <a:t>toSignal(...) expose la dernière version de cet état au template.</a:t>
            </a:r>
            <a:endParaRPr lang="en-US" sz="1160" dirty="0"/>
          </a:p>
        </p:txBody>
      </p:sp>
      <p:sp>
        <p:nvSpPr>
          <p:cNvPr id="9" name="Text 6"/>
          <p:cNvSpPr/>
          <p:nvPr/>
        </p:nvSpPr>
        <p:spPr>
          <a:xfrm>
            <a:off x="411480" y="2176272"/>
            <a:ext cx="11368735" cy="1719072"/>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private readonly clientsQuery = toSignal(</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this.clientsApi.getAll().pipe(</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map(clients =&gt; ({ clients, loading: false, error: null })),</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catchError(err =&gt; of({ clients: [], loading: false, error: err.message })),</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startWith({ clients: [], loading: true, error: null })</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 initialValue: { clients: [], loading: true, error: null } }</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readonly loading = computed(() =&gt; this.clientsQuery().loading);</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readonly error   = computed(() =&gt; this.clientsQuery().error);</a:t>
            </a:r>
            <a:endParaRPr lang="en-US" sz="880" dirty="0"/>
          </a:p>
        </p:txBody>
      </p:sp>
      <p:sp>
        <p:nvSpPr>
          <p:cNvPr id="10" name="Text 7"/>
          <p:cNvSpPr/>
          <p:nvPr/>
        </p:nvSpPr>
        <p:spPr>
          <a:xfrm>
            <a:off x="411480" y="4041648"/>
            <a:ext cx="11368735" cy="502920"/>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npm test -- --runTestsByPath src/app/features/accounts/pages/accounts/accounts.component.spec.ts</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npm test -- --runTestsByPath src/app/features/clients/pages/dashboard/dashboard.component.spec.ts</a:t>
            </a:r>
            <a:endParaRPr lang="en-US" sz="880" dirty="0"/>
          </a:p>
        </p:txBody>
      </p:sp>
      <p:sp>
        <p:nvSpPr>
          <p:cNvPr id="11" name="Text 8"/>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51/64</a:t>
            </a:r>
            <a:endParaRPr lang="en-US" sz="7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7 — Interop RxJS progressive — Définition</a:t>
            </a:r>
            <a:endParaRPr lang="en-US" sz="1800" dirty="0"/>
          </a:p>
        </p:txBody>
      </p:sp>
      <p:sp>
        <p:nvSpPr>
          <p:cNvPr id="5" name="Text 2"/>
          <p:cNvSpPr/>
          <p:nvPr/>
        </p:nvSpPr>
        <p:spPr>
          <a:xfrm>
            <a:off x="411480" y="932688"/>
            <a:ext cx="11368735" cy="502920"/>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 Signal → Observable pour opérateurs RxJS</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readonly debouncedSearch$ = toObservable(this.search).pipe(debounceTime(300));</a:t>
            </a:r>
            <a:endParaRPr lang="en-US" sz="880" dirty="0"/>
          </a:p>
        </p:txBody>
      </p:sp>
      <p:sp>
        <p:nvSpPr>
          <p:cNvPr id="6" name="Text 3"/>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52/64</a:t>
            </a:r>
            <a:endParaRPr lang="en-US" sz="7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7 — Interop RxJS progressive — vs Zone.js</a:t>
            </a:r>
            <a:endParaRPr lang="en-US" sz="18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411480" y="932688"/>
          <a:ext cx="11368735" cy="1243584"/>
        </p:xfrm>
        <a:graphic>
          <a:graphicData uri="http://schemas.openxmlformats.org/drawingml/2006/table">
            <a:tbl>
              <a:tblPr/>
              <a:tblGrid>
                <a:gridCol w="5684368"/>
                <a:gridCol w="5684368"/>
              </a:tblGrid>
              <a:tr h="310896">
                <a:tc>
                  <a:txBody>
                    <a:bodyPr/>
                    <a:lstStyle/>
                    <a:p>
                      <a:pPr indent="0" marL="0">
                        <a:buNone/>
                      </a:pPr>
                      <a:r>
                        <a:rPr lang="en-US" sz="1020" b="1" dirty="0">
                          <a:solidFill>
                            <a:srgbClr val="FFFFFF"/>
                          </a:solidFill>
                        </a:rPr>
                        <a:t>Observable + .subscribe()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c>
                  <a:txBody>
                    <a:bodyPr/>
                    <a:lstStyle/>
                    <a:p>
                      <a:pPr indent="0" marL="0">
                        <a:buNone/>
                      </a:pPr>
                      <a:r>
                        <a:rPr lang="en-US" sz="1020" b="1" dirty="0">
                          <a:solidFill>
                            <a:srgbClr val="FFFFFF"/>
                          </a:solidFill>
                        </a:rPr>
                        <a:t>toSignal()</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r>
              <a:tr h="310896">
                <a:tc>
                  <a:txBody>
                    <a:bodyPr/>
                    <a:lstStyle/>
                    <a:p>
                      <a:pPr indent="0" marL="0">
                        <a:buNone/>
                      </a:pPr>
                      <a:r>
                        <a:rPr lang="en-US" sz="1020" dirty="0">
                          <a:solidFill>
                            <a:srgbClr val="333333"/>
                          </a:solidFill>
                        </a:rPr>
                        <a:t>takeUntilDestroyed requis</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Abonnement géré automatiquement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Copie manuelle dans un signal</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toSignal() crée et alimente le signal</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r h="310896">
                <a:tc>
                  <a:txBody>
                    <a:bodyPr/>
                    <a:lstStyle/>
                    <a:p>
                      <a:pPr indent="0" marL="0">
                        <a:buNone/>
                      </a:pPr>
                      <a:r>
                        <a:rPr lang="en-US" sz="1020" dirty="0">
                          <a:solidFill>
                            <a:srgbClr val="333333"/>
                          </a:solidFill>
                        </a:rPr>
                        <a:t>Zone.js détecte l'émission, re-rend tout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Angular re-rend seulement les dépendants du signal</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bl>
          </a:graphicData>
        </a:graphic>
      </p:graphicFrame>
      <p:sp>
        <p:nvSpPr>
          <p:cNvPr id="5"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53/64</a:t>
            </a:r>
            <a:endParaRPr lang="en-US" sz="7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7 — Interop RxJS progressive — vs RxJS</a:t>
            </a:r>
            <a:endParaRPr lang="en-US" sz="18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411480" y="932688"/>
          <a:ext cx="11368735" cy="932688"/>
        </p:xfrm>
        <a:graphic>
          <a:graphicData uri="http://schemas.openxmlformats.org/drawingml/2006/table">
            <a:tbl>
              <a:tblPr/>
              <a:tblGrid>
                <a:gridCol w="5684368"/>
                <a:gridCol w="5684368"/>
              </a:tblGrid>
              <a:tr h="310896">
                <a:tc>
                  <a:txBody>
                    <a:bodyPr/>
                    <a:lstStyle/>
                    <a:p>
                      <a:pPr indent="0" marL="0">
                        <a:buNone/>
                      </a:pPr>
                      <a:r>
                        <a:rPr lang="en-US" sz="1020" b="1" dirty="0">
                          <a:solidFill>
                            <a:srgbClr val="FFFFFF"/>
                          </a:solidFill>
                        </a:rPr>
                        <a:t>BehaviorSubject exposé</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c>
                  <a:txBody>
                    <a:bodyPr/>
                    <a:lstStyle/>
                    <a:p>
                      <a:pPr indent="0" marL="0">
                        <a:buNone/>
                      </a:pPr>
                      <a:r>
                        <a:rPr lang="en-US" sz="1020" b="1" dirty="0">
                          <a:solidFill>
                            <a:srgbClr val="FFFFFF"/>
                          </a:solidFill>
                        </a:rPr>
                        <a:t>toSignal()</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r>
              <a:tr h="310896">
                <a:tc>
                  <a:txBody>
                    <a:bodyPr/>
                    <a:lstStyle/>
                    <a:p>
                      <a:pPr indent="0" marL="0">
                        <a:buNone/>
                      </a:pPr>
                      <a:r>
                        <a:rPr lang="en-US" sz="1020" dirty="0">
                          <a:solidFill>
                            <a:srgbClr val="333333"/>
                          </a:solidFill>
                        </a:rPr>
                        <a:t>Source mutable, .next() depuis plusieurs endroits</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Alimenté uniquement par l'Observable source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Adapté à l'état partagé entre services</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Adapté à consommer un Observable dans un composant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bl>
          </a:graphicData>
        </a:graphic>
      </p:graphicFrame>
      <p:sp>
        <p:nvSpPr>
          <p:cNvPr id="5"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54/64</a:t>
            </a:r>
            <a:endParaRPr lang="en-US" sz="7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500" b="1" dirty="0">
                <a:solidFill>
                  <a:srgbClr val="FFFFFF"/>
                </a:solidFill>
              </a:rPr>
              <a:t>Exercice 7 — Interop RxJS progressive — Quand utiliser toSignal() / toObservable() — et quand rester en RxJS pur</a:t>
            </a:r>
            <a:endParaRPr lang="en-US" sz="1500" dirty="0"/>
          </a:p>
        </p:txBody>
      </p:sp>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411480" y="932688"/>
          <a:ext cx="11368735" cy="2176272"/>
        </p:xfrm>
        <a:graphic>
          <a:graphicData uri="http://schemas.openxmlformats.org/drawingml/2006/table">
            <a:tbl>
              <a:tblPr/>
              <a:tblGrid>
                <a:gridCol w="5684368"/>
                <a:gridCol w="5684368"/>
              </a:tblGrid>
              <a:tr h="310896">
                <a:tc>
                  <a:txBody>
                    <a:bodyPr/>
                    <a:lstStyle/>
                    <a:p>
                      <a:pPr indent="0" marL="0">
                        <a:buNone/>
                      </a:pPr>
                      <a:r>
                        <a:rPr lang="en-US" sz="1020" b="1" dirty="0">
                          <a:solidFill>
                            <a:srgbClr val="FFFFFF"/>
                          </a:solidFill>
                        </a:rPr>
                        <a:t>Situation</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c>
                  <a:txBody>
                    <a:bodyPr/>
                    <a:lstStyle/>
                    <a:p>
                      <a:pPr indent="0" marL="0">
                        <a:buNone/>
                      </a:pPr>
                      <a:r>
                        <a:rPr lang="en-US" sz="1020" b="1" dirty="0">
                          <a:solidFill>
                            <a:srgbClr val="FFFFFF"/>
                          </a:solidFill>
                        </a:rPr>
                        <a:t>Outil</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r>
              <a:tr h="310896">
                <a:tc>
                  <a:txBody>
                    <a:bodyPr/>
                    <a:lstStyle/>
                    <a:p>
                      <a:pPr indent="0" marL="0">
                        <a:buNone/>
                      </a:pPr>
                      <a:r>
                        <a:rPr lang="en-US" sz="1020" dirty="0">
                          <a:solidFill>
                            <a:srgbClr val="333333"/>
                          </a:solidFill>
                        </a:rPr>
                        <a:t>Lire paramMap ou queryParamMap dans un composant signal</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toSignal()</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Observable HTTP one-shot dans un composant signal</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toSignal() + pipe(map, catchError, startWith)</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r h="310896">
                <a:tc>
                  <a:txBody>
                    <a:bodyPr/>
                    <a:lstStyle/>
                    <a:p>
                      <a:pPr indent="0" marL="0">
                        <a:buNone/>
                      </a:pPr>
                      <a:r>
                        <a:rPr lang="en-US" sz="1020" dirty="0">
                          <a:solidFill>
                            <a:srgbClr val="333333"/>
                          </a:solidFill>
                        </a:rPr>
                        <a:t>Debounce, distinctUntilChanged sur un signal</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toObservable() + pipe()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Flux continu (WebSocket, polling)</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RxJS pur</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r h="310896">
                <a:tc>
                  <a:txBody>
                    <a:bodyPr/>
                    <a:lstStyle/>
                    <a:p>
                      <a:pPr indent="0" marL="0">
                        <a:buNone/>
                      </a:pPr>
                      <a:r>
                        <a:rPr lang="en-US" sz="1020" dirty="0">
                          <a:solidFill>
                            <a:srgbClr val="333333"/>
                          </a:solidFill>
                        </a:rPr>
                        <a:t>Combiner deux flux avec temporalité</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combineLatest RxJS</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Requête POST / PUT / DELETE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firstValueFrom() dans une méthode async</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bl>
          </a:graphicData>
        </a:graphic>
      </p:graphicFrame>
      <p:sp>
        <p:nvSpPr>
          <p:cNvPr id="5"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55/64</a:t>
            </a:r>
            <a:endParaRPr lang="en-US" sz="7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1976D2"/>
        </a:solidFill>
      </p:bgPr>
    </p:bg>
    <p:spTree>
      <p:nvGrpSpPr>
        <p:cNvPr id="1" name=""/>
        <p:cNvGrpSpPr/>
        <p:nvPr/>
      </p:nvGrpSpPr>
      <p:grpSpPr>
        <a:xfrm>
          <a:off x="0" y="0"/>
          <a:ext cx="0" cy="0"/>
          <a:chOff x="0" y="0"/>
          <a:chExt cx="0" cy="0"/>
        </a:xfrm>
      </p:grpSpPr>
      <p:sp>
        <p:nvSpPr>
          <p:cNvPr id="2" name="Text 0"/>
          <p:cNvSpPr/>
          <p:nvPr/>
        </p:nvSpPr>
        <p:spPr>
          <a:xfrm>
            <a:off x="594360" y="1600200"/>
            <a:ext cx="11002975" cy="411480"/>
          </a:xfrm>
          <a:prstGeom prst="rect">
            <a:avLst/>
          </a:prstGeom>
          <a:noFill/>
          <a:ln/>
        </p:spPr>
        <p:txBody>
          <a:bodyPr wrap="square" lIns="0" tIns="0" rIns="0" bIns="0" rtlCol="0" anchor="ctr"/>
          <a:lstStyle/>
          <a:p>
            <a:pPr algn="ctr" indent="0" marL="0">
              <a:buNone/>
            </a:pPr>
            <a:r>
              <a:rPr lang="en-US" sz="1800" dirty="0">
                <a:solidFill>
                  <a:srgbClr val="CFE8FF"/>
                </a:solidFill>
              </a:rPr>
              <a:t>Exercice 8</a:t>
            </a:r>
            <a:endParaRPr lang="en-US" sz="1800" dirty="0"/>
          </a:p>
        </p:txBody>
      </p:sp>
      <p:sp>
        <p:nvSpPr>
          <p:cNvPr id="3" name="Text 1"/>
          <p:cNvSpPr/>
          <p:nvPr/>
        </p:nvSpPr>
        <p:spPr>
          <a:xfrm>
            <a:off x="594360" y="2148840"/>
            <a:ext cx="11002975" cy="1097280"/>
          </a:xfrm>
          <a:prstGeom prst="rect">
            <a:avLst/>
          </a:prstGeom>
          <a:noFill/>
          <a:ln/>
        </p:spPr>
        <p:txBody>
          <a:bodyPr wrap="square" lIns="0" tIns="0" rIns="0" bIns="0" rtlCol="0" anchor="ctr">
            <a:normAutofit/>
          </a:bodyPr>
          <a:lstStyle/>
          <a:p>
            <a:pPr algn="ctr" indent="0" marL="0">
              <a:buNone/>
            </a:pPr>
            <a:r>
              <a:rPr lang="en-US" sz="3800" b="1" dirty="0">
                <a:solidFill>
                  <a:srgbClr val="FFFFFF"/>
                </a:solidFill>
              </a:rPr>
              <a:t>Consolidation façade avec computed()</a:t>
            </a:r>
            <a:endParaRPr lang="en-US" sz="3800" dirty="0"/>
          </a:p>
        </p:txBody>
      </p:sp>
      <p:sp>
        <p:nvSpPr>
          <p:cNvPr id="4"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56/64</a:t>
            </a:r>
            <a:endParaRPr lang="en-US" sz="7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8 — Consolidation façade avec computed() — Fichiers à modifier</a:t>
            </a:r>
            <a:endParaRPr lang="en-US" sz="1800" dirty="0"/>
          </a:p>
        </p:txBody>
      </p:sp>
      <p:sp>
        <p:nvSpPr>
          <p:cNvPr id="4" name="Text 2"/>
          <p:cNvSpPr/>
          <p:nvPr/>
        </p:nvSpPr>
        <p:spPr>
          <a:xfrm>
            <a:off x="576072" y="932688"/>
            <a:ext cx="11204143" cy="256032"/>
          </a:xfrm>
          <a:prstGeom prst="rect">
            <a:avLst/>
          </a:prstGeom>
          <a:noFill/>
          <a:ln/>
        </p:spPr>
        <p:txBody>
          <a:bodyPr wrap="square" lIns="127" tIns="127" rIns="127" bIns="127" rtlCol="0" anchor="ctr">
            <a:normAutofit/>
          </a:bodyPr>
          <a:lstStyle/>
          <a:p>
            <a:r>
              <a:rPr lang="en-US" sz="1160" dirty="0">
                <a:solidFill>
                  <a:srgbClr val="333333"/>
                </a:solidFill>
              </a:rPr>
              <a:t>src/app/features/accounts/services/accounts.facade.ts</a:t>
            </a:r>
            <a:endParaRPr lang="en-US" sz="1160" dirty="0"/>
          </a:p>
        </p:txBody>
      </p:sp>
      <p:sp>
        <p:nvSpPr>
          <p:cNvPr id="5" name="Text 3"/>
          <p:cNvSpPr/>
          <p:nvPr/>
        </p:nvSpPr>
        <p:spPr>
          <a:xfrm>
            <a:off x="576072" y="1243584"/>
            <a:ext cx="11204143" cy="256032"/>
          </a:xfrm>
          <a:prstGeom prst="rect">
            <a:avLst/>
          </a:prstGeom>
          <a:noFill/>
          <a:ln/>
        </p:spPr>
        <p:txBody>
          <a:bodyPr wrap="square" lIns="127" tIns="127" rIns="127" bIns="127" rtlCol="0" anchor="ctr">
            <a:normAutofit/>
          </a:bodyPr>
          <a:lstStyle/>
          <a:p>
            <a:r>
              <a:rPr lang="en-US" sz="1160" dirty="0">
                <a:solidFill>
                  <a:srgbClr val="333333"/>
                </a:solidFill>
              </a:rPr>
              <a:t>src/app/features/accounts/pages/accounts/accounts.component.ts</a:t>
            </a:r>
            <a:endParaRPr lang="en-US" sz="1160" dirty="0"/>
          </a:p>
        </p:txBody>
      </p:sp>
      <p:sp>
        <p:nvSpPr>
          <p:cNvPr id="6" name="Text 4"/>
          <p:cNvSpPr/>
          <p:nvPr/>
        </p:nvSpPr>
        <p:spPr>
          <a:xfrm>
            <a:off x="576072" y="1554480"/>
            <a:ext cx="11204143" cy="256032"/>
          </a:xfrm>
          <a:prstGeom prst="rect">
            <a:avLst/>
          </a:prstGeom>
          <a:noFill/>
          <a:ln/>
        </p:spPr>
        <p:txBody>
          <a:bodyPr wrap="square" lIns="127" tIns="127" rIns="127" bIns="127" rtlCol="0" anchor="ctr">
            <a:normAutofit/>
          </a:bodyPr>
          <a:lstStyle/>
          <a:p>
            <a:r>
              <a:rPr lang="en-US" sz="1160" dirty="0">
                <a:solidFill>
                  <a:srgbClr val="333333"/>
                </a:solidFill>
              </a:rPr>
              <a:t>src/app/features/accounts/pages/accounts/accounts.component.html</a:t>
            </a:r>
            <a:endParaRPr lang="en-US" sz="1160" dirty="0"/>
          </a:p>
        </p:txBody>
      </p:sp>
      <p:sp>
        <p:nvSpPr>
          <p:cNvPr id="7" name="Text 5"/>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57/64</a:t>
            </a:r>
            <a:endParaRPr lang="en-US" sz="7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8 — Consolidation façade avec computed() — Consigne</a:t>
            </a:r>
            <a:endParaRPr lang="en-US" sz="1800" dirty="0"/>
          </a:p>
        </p:txBody>
      </p:sp>
      <p:sp>
        <p:nvSpPr>
          <p:cNvPr id="4" name="Text 2"/>
          <p:cNvSpPr/>
          <p:nvPr/>
        </p:nvSpPr>
        <p:spPr>
          <a:xfrm>
            <a:off x="411480" y="932688"/>
            <a:ext cx="11368735" cy="320040"/>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Ajouter hasActiveFilter comme computed() dans la façade, l'exposer dans le composant, l'utiliser dans le template.</a:t>
            </a:r>
            <a:endParaRPr lang="en-US" sz="1220" dirty="0"/>
          </a:p>
        </p:txBody>
      </p:sp>
      <p:sp>
        <p:nvSpPr>
          <p:cNvPr id="5" name="Text 3"/>
          <p:cNvSpPr/>
          <p:nvPr/>
        </p:nvSpPr>
        <p:spPr>
          <a:xfrm>
            <a:off x="411480" y="1362456"/>
            <a:ext cx="11368735" cy="786384"/>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 accounts.facade.ts — ajouter après typeFilter</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readonly hasActiveFilter = computed(() =&gt;</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this.search().trim().length &gt; 0 || this.typeFilter() !== 'all'</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a:t>
            </a:r>
            <a:endParaRPr lang="en-US" sz="880" dirty="0"/>
          </a:p>
        </p:txBody>
      </p:sp>
      <p:sp>
        <p:nvSpPr>
          <p:cNvPr id="6" name="Text 4"/>
          <p:cNvSpPr/>
          <p:nvPr/>
        </p:nvSpPr>
        <p:spPr>
          <a:xfrm>
            <a:off x="411480" y="2295144"/>
            <a:ext cx="11368735" cy="502920"/>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 AccountsComponent — exposer le signal de la façade</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readonly hasActiveFilter = this.accountsFacade.hasActiveFilter;</a:t>
            </a:r>
            <a:endParaRPr lang="en-US" sz="880" dirty="0"/>
          </a:p>
        </p:txBody>
      </p:sp>
      <p:sp>
        <p:nvSpPr>
          <p:cNvPr id="7" name="Text 5"/>
          <p:cNvSpPr/>
          <p:nvPr/>
        </p:nvSpPr>
        <p:spPr>
          <a:xfrm>
            <a:off x="411480" y="2944368"/>
            <a:ext cx="11368735" cy="502920"/>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&lt;!-- accounts.component.html — remplacer le message vide --&gt;</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hasActiveFilter() ? 'Aucun compte ne correspond aux filtres.' : 'Aucun compte trouvé.' }}</a:t>
            </a:r>
            <a:endParaRPr lang="en-US" sz="880" dirty="0"/>
          </a:p>
        </p:txBody>
      </p:sp>
      <p:sp>
        <p:nvSpPr>
          <p:cNvPr id="8" name="Text 6"/>
          <p:cNvSpPr/>
          <p:nvPr/>
        </p:nvSpPr>
        <p:spPr>
          <a:xfrm>
            <a:off x="411480" y="3593592"/>
            <a:ext cx="11368735" cy="502920"/>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npm test -- --runTestsByPath src/app/features/accounts/pages/accounts/accounts.component.spec.ts</a:t>
            </a:r>
            <a:endParaRPr lang="en-US" sz="880" dirty="0"/>
          </a:p>
        </p:txBody>
      </p:sp>
      <p:sp>
        <p:nvSpPr>
          <p:cNvPr id="9" name="Text 7"/>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58/64</a:t>
            </a:r>
            <a:endParaRPr lang="en-US" sz="7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1976D2"/>
        </a:solidFill>
      </p:bgPr>
    </p:bg>
    <p:spTree>
      <p:nvGrpSpPr>
        <p:cNvPr id="1" name=""/>
        <p:cNvGrpSpPr/>
        <p:nvPr/>
      </p:nvGrpSpPr>
      <p:grpSpPr>
        <a:xfrm>
          <a:off x="0" y="0"/>
          <a:ext cx="0" cy="0"/>
          <a:chOff x="0" y="0"/>
          <a:chExt cx="0" cy="0"/>
        </a:xfrm>
      </p:grpSpPr>
      <p:sp>
        <p:nvSpPr>
          <p:cNvPr id="2" name="Text 0"/>
          <p:cNvSpPr/>
          <p:nvPr/>
        </p:nvSpPr>
        <p:spPr>
          <a:xfrm>
            <a:off x="594360" y="1600200"/>
            <a:ext cx="11002975" cy="411480"/>
          </a:xfrm>
          <a:prstGeom prst="rect">
            <a:avLst/>
          </a:prstGeom>
          <a:noFill/>
          <a:ln/>
        </p:spPr>
        <p:txBody>
          <a:bodyPr wrap="square" lIns="0" tIns="0" rIns="0" bIns="0" rtlCol="0" anchor="ctr"/>
          <a:lstStyle/>
          <a:p>
            <a:pPr algn="ctr" indent="0" marL="0">
              <a:buNone/>
            </a:pPr>
            <a:r>
              <a:rPr lang="en-US" sz="1800" dirty="0">
                <a:solidFill>
                  <a:srgbClr val="CFE8FF"/>
                </a:solidFill>
              </a:rPr>
              <a:t>Exercice 8</a:t>
            </a:r>
            <a:endParaRPr lang="en-US" sz="1800" dirty="0"/>
          </a:p>
        </p:txBody>
      </p:sp>
      <p:sp>
        <p:nvSpPr>
          <p:cNvPr id="3" name="Text 1"/>
          <p:cNvSpPr/>
          <p:nvPr/>
        </p:nvSpPr>
        <p:spPr>
          <a:xfrm>
            <a:off x="594360" y="2148840"/>
            <a:ext cx="11002975" cy="1097280"/>
          </a:xfrm>
          <a:prstGeom prst="rect">
            <a:avLst/>
          </a:prstGeom>
          <a:noFill/>
          <a:ln/>
        </p:spPr>
        <p:txBody>
          <a:bodyPr wrap="square" lIns="0" tIns="0" rIns="0" bIns="0" rtlCol="0" anchor="ctr">
            <a:normAutofit/>
          </a:bodyPr>
          <a:lstStyle/>
          <a:p>
            <a:pPr algn="ctr" indent="0" marL="0">
              <a:buNone/>
            </a:pPr>
            <a:r>
              <a:rPr lang="en-US" sz="3800" b="1" dirty="0">
                <a:solidFill>
                  <a:srgbClr val="FFFFFF"/>
                </a:solidFill>
              </a:rPr>
              <a:t>Consolidation façade avec computed()</a:t>
            </a:r>
            <a:endParaRPr lang="en-US" sz="3800" dirty="0"/>
          </a:p>
        </p:txBody>
      </p:sp>
      <p:sp>
        <p:nvSpPr>
          <p:cNvPr id="5"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59/64</a:t>
            </a:r>
            <a:endParaRPr lang="en-US" sz="70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1976D2"/>
        </a:solidFill>
      </p:bgPr>
    </p:bg>
    <p:spTree>
      <p:nvGrpSpPr>
        <p:cNvPr id="1" name=""/>
        <p:cNvGrpSpPr/>
        <p:nvPr/>
      </p:nvGrpSpPr>
      <p:grpSpPr>
        <a:xfrm>
          <a:off x="0" y="0"/>
          <a:ext cx="0" cy="0"/>
          <a:chOff x="0" y="0"/>
          <a:chExt cx="0" cy="0"/>
        </a:xfrm>
      </p:grpSpPr>
      <p:sp>
        <p:nvSpPr>
          <p:cNvPr id="2" name="Text 0"/>
          <p:cNvSpPr/>
          <p:nvPr/>
        </p:nvSpPr>
        <p:spPr>
          <a:xfrm>
            <a:off x="594360" y="1600200"/>
            <a:ext cx="11002975" cy="411480"/>
          </a:xfrm>
          <a:prstGeom prst="rect">
            <a:avLst/>
          </a:prstGeom>
          <a:noFill/>
          <a:ln/>
        </p:spPr>
        <p:txBody>
          <a:bodyPr wrap="square" lIns="0" tIns="0" rIns="0" bIns="0" rtlCol="0" anchor="ctr"/>
          <a:lstStyle/>
          <a:p>
            <a:pPr algn="ctr" indent="0" marL="0">
              <a:buNone/>
            </a:pPr>
            <a:r>
              <a:rPr lang="en-US" sz="1800" dirty="0">
                <a:solidFill>
                  <a:srgbClr val="CFE8FF"/>
                </a:solidFill>
              </a:rPr>
              <a:t>Exercice 8</a:t>
            </a:r>
            <a:endParaRPr lang="en-US" sz="1800" dirty="0"/>
          </a:p>
        </p:txBody>
      </p:sp>
      <p:sp>
        <p:nvSpPr>
          <p:cNvPr id="3" name="Text 1"/>
          <p:cNvSpPr/>
          <p:nvPr/>
        </p:nvSpPr>
        <p:spPr>
          <a:xfrm>
            <a:off x="594360" y="2148840"/>
            <a:ext cx="11002975" cy="1097280"/>
          </a:xfrm>
          <a:prstGeom prst="rect">
            <a:avLst/>
          </a:prstGeom>
          <a:noFill/>
          <a:ln/>
        </p:spPr>
        <p:txBody>
          <a:bodyPr wrap="square" lIns="0" tIns="0" rIns="0" bIns="0" rtlCol="0" anchor="ctr">
            <a:normAutofit/>
          </a:bodyPr>
          <a:lstStyle/>
          <a:p>
            <a:pPr algn="ctr" indent="0" marL="0">
              <a:buNone/>
            </a:pPr>
            <a:r>
              <a:rPr lang="en-US" sz="3800" b="1" dirty="0">
                <a:solidFill>
                  <a:srgbClr val="FFFFFF"/>
                </a:solidFill>
              </a:rPr>
              <a:t>Consolidation façade avec computed()</a:t>
            </a:r>
            <a:endParaRPr lang="en-US" sz="3800" dirty="0"/>
          </a:p>
        </p:txBody>
      </p:sp>
      <p:sp>
        <p:nvSpPr>
          <p:cNvPr id="5"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60/64</a:t>
            </a:r>
            <a:endParaRPr lang="en-US" sz="70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8 — Consolidation façade avec computed() — vs Zone.js / vs RxJS</a:t>
            </a:r>
            <a:endParaRPr lang="en-US" sz="1800" dirty="0"/>
          </a:p>
        </p:txBody>
      </p:sp>
      <p:graphicFrame>
        <p:nvGraphicFramePr>
          <p:cNvPr id="62" name="Table 0"/>
          <p:cNvGraphicFramePr>
            <a:graphicFrameLocks noGrp="1"/>
          </p:cNvGraphicFramePr>
          <p:nvPr>
            <p:extLst>
              <p:ext uri="{D42A27DB-BD31-4B8C-83A1-F6EECF244321}">
                <p14:modId xmlns:p14="http://schemas.microsoft.com/office/powerpoint/2010/main" val="1579011935"/>
              </p:ext>
            </p:extLst>
          </p:nvPr>
        </p:nvGraphicFramePr>
        <p:xfrm>
          <a:off x="411480" y="932688"/>
          <a:ext cx="11368735" cy="1554480"/>
        </p:xfrm>
        <a:graphic>
          <a:graphicData uri="http://schemas.openxmlformats.org/drawingml/2006/table">
            <a:tbl>
              <a:tblPr/>
              <a:tblGrid>
                <a:gridCol w="5684368"/>
                <a:gridCol w="5684368"/>
              </a:tblGrid>
              <a:tr h="310896">
                <a:tc>
                  <a:txBody>
                    <a:bodyPr/>
                    <a:lstStyle/>
                    <a:p>
                      <a:pPr indent="0" marL="0">
                        <a:buNone/>
                      </a:pPr>
                      <a:r>
                        <a:rPr lang="en-US" sz="1020" b="1" dirty="0">
                          <a:solidFill>
                            <a:srgbClr val="FFFFFF"/>
                          </a:solidFill>
                        </a:rPr>
                        <a:t>Règle dans le template ou le composant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c>
                  <a:txBody>
                    <a:bodyPr/>
                    <a:lstStyle/>
                    <a:p>
                      <a:pPr indent="0" marL="0">
                        <a:buNone/>
                      </a:pPr>
                      <a:r>
                        <a:rPr lang="en-US" sz="1020" b="1" dirty="0">
                          <a:solidFill>
                            <a:srgbClr val="FFFFFF"/>
                          </a:solidFill>
                        </a:rPr>
                        <a:t>computed() dans la façade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r>
              <a:tr h="310896">
                <a:tc>
                  <a:txBody>
                    <a:bodyPr/>
                    <a:lstStyle/>
                    <a:p>
                      <a:pPr indent="0" marL="0">
                        <a:buNone/>
                      </a:pPr>
                      <a:r>
                        <a:rPr lang="en-US" sz="1020" dirty="0">
                          <a:solidFill>
                            <a:srgbClr val="333333"/>
                          </a:solidFill>
                        </a:rPr>
                        <a:t>Logique inline, intention illisible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Nom qui exprime l'intention métier</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Dupliquée si plusieurs composants en ont besoin</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Partageable depuis la façade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r h="310896">
                <a:tc>
                  <a:txBody>
                    <a:bodyPr/>
                    <a:lstStyle/>
                    <a:p>
                      <a:pPr indent="0" marL="0">
                        <a:buNone/>
                      </a:pPr>
                      <a:r>
                        <a:rPr lang="en-US" sz="1020" dirty="0">
                          <a:solidFill>
                            <a:srgbClr val="333333"/>
                          </a:solidFill>
                        </a:rPr>
                        <a:t>Non testable directement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Testable unitairement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Recalculée à chaque cycle Zone.js</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Mémorisée, recalculée seulement si nécessaire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bl>
          </a:graphicData>
        </a:graphic>
      </p:graphicFrame>
      <p:sp>
        <p:nvSpPr>
          <p:cNvPr id="5"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61/64</a:t>
            </a:r>
            <a:endParaRPr lang="en-US" sz="70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Récapitulatif — Signal ou RxJS ?</a:t>
            </a:r>
            <a:endParaRPr lang="en-US" sz="1800" dirty="0"/>
          </a:p>
        </p:txBody>
      </p:sp>
      <p:graphicFrame>
        <p:nvGraphicFramePr>
          <p:cNvPr id="63" name="Table 0"/>
          <p:cNvGraphicFramePr>
            <a:graphicFrameLocks noGrp="1"/>
          </p:cNvGraphicFramePr>
          <p:nvPr>
            <p:extLst>
              <p:ext uri="{D42A27DB-BD31-4B8C-83A1-F6EECF244321}">
                <p14:modId xmlns:p14="http://schemas.microsoft.com/office/powerpoint/2010/main" val="1579011935"/>
              </p:ext>
            </p:extLst>
          </p:nvPr>
        </p:nvGraphicFramePr>
        <p:xfrm>
          <a:off x="411480" y="932688"/>
          <a:ext cx="11368735" cy="1865376"/>
        </p:xfrm>
        <a:graphic>
          <a:graphicData uri="http://schemas.openxmlformats.org/drawingml/2006/table">
            <a:tbl>
              <a:tblPr/>
              <a:tblGrid>
                <a:gridCol w="5684368"/>
                <a:gridCol w="5684368"/>
              </a:tblGrid>
              <a:tr h="310896">
                <a:tc>
                  <a:txBody>
                    <a:bodyPr/>
                    <a:lstStyle/>
                    <a:p>
                      <a:pPr indent="0" marL="0">
                        <a:buNone/>
                      </a:pPr>
                      <a:r>
                        <a:rPr lang="en-US" sz="1020" b="1" dirty="0">
                          <a:solidFill>
                            <a:srgbClr val="FFFFFF"/>
                          </a:solidFill>
                        </a:rPr>
                        <a:t>Utiliser Signals</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c>
                  <a:txBody>
                    <a:bodyPr/>
                    <a:lstStyle/>
                    <a:p>
                      <a:pPr indent="0" marL="0">
                        <a:buNone/>
                      </a:pPr>
                      <a:r>
                        <a:rPr lang="en-US" sz="1020" b="1" dirty="0">
                          <a:solidFill>
                            <a:srgbClr val="FFFFFF"/>
                          </a:solidFill>
                        </a:rPr>
                        <a:t>Utiliser RxJS</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r>
              <a:tr h="310896">
                <a:tc>
                  <a:txBody>
                    <a:bodyPr/>
                    <a:lstStyle/>
                    <a:p>
                      <a:pPr indent="0" marL="0">
                        <a:buNone/>
                      </a:pPr>
                      <a:r>
                        <a:rPr lang="en-US" sz="1020" dirty="0">
                          <a:solidFill>
                            <a:srgbClr val="333333"/>
                          </a:solidFill>
                        </a:rPr>
                        <a:t>État UI local synchrone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Flux impliquant le temps (debounceTime, delay…)</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Valeur dérivée d'autres états locaux</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Combinaison de plusieurs sources (combineLatest, merge)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r h="310896">
                <a:tc>
                  <a:txBody>
                    <a:bodyPr/>
                    <a:lstStyle/>
                    <a:p>
                      <a:pPr indent="0" marL="0">
                        <a:buNone/>
                      </a:pPr>
                      <a:r>
                        <a:rPr lang="en-US" sz="1020" dirty="0">
                          <a:solidFill>
                            <a:srgbClr val="333333"/>
                          </a:solidFill>
                        </a:rPr>
                        <a:t>Entrée / sortie de composant réactive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Source continue (WebSocket, polling)</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Effet de bord déclenché par un état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Commande async (POST, PUT, DELETE)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r h="310896">
                <a:tc>
                  <a:txBody>
                    <a:bodyPr/>
                    <a:lstStyle/>
                    <a:p>
                      <a:pPr indent="0" marL="0">
                        <a:buNone/>
                      </a:pPr>
                      <a:r>
                        <a:rPr lang="en-US" sz="1020" dirty="0">
                          <a:solidFill>
                            <a:srgbClr val="333333"/>
                          </a:solidFill>
                        </a:rPr>
                        <a:t>Consommer un Observable dans un composant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Multicasting (shareReplay, share)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bl>
          </a:graphicData>
        </a:graphic>
      </p:graphicFrame>
      <p:sp>
        <p:nvSpPr>
          <p:cNvPr id="5"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62/64</a:t>
            </a:r>
            <a:endParaRPr lang="en-US" sz="70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Récapitulatif — Signal ou RxJS ? — Zone d'intersection — utiliser les deux</a:t>
            </a:r>
            <a:endParaRPr lang="en-US" sz="1800" dirty="0"/>
          </a:p>
        </p:txBody>
      </p:sp>
      <p:sp>
        <p:nvSpPr>
          <p:cNvPr id="4" name="Text 2"/>
          <p:cNvSpPr/>
          <p:nvPr/>
        </p:nvSpPr>
        <p:spPr>
          <a:xfrm>
            <a:off x="411480" y="932688"/>
            <a:ext cx="11368735" cy="502920"/>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Signal → toObservable() → pipe(debounceTime) → toSignal()</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Observable HTTP         → pipe(map, catchError, startWith) → toSignal()</a:t>
            </a:r>
            <a:endParaRPr lang="en-US" sz="880" dirty="0"/>
          </a:p>
        </p:txBody>
      </p:sp>
      <p:sp>
        <p:nvSpPr>
          <p:cNvPr id="5" name="Text 3"/>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63/64</a:t>
            </a:r>
            <a:endParaRPr lang="en-US" sz="70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Clôture du dojo — Règles à retenir</a:t>
            </a:r>
            <a:endParaRPr lang="en-US" sz="1800" dirty="0"/>
          </a:p>
        </p:txBody>
      </p:sp>
      <p:sp>
        <p:nvSpPr>
          <p:cNvPr id="5" name="Text 2"/>
          <p:cNvSpPr/>
          <p:nvPr/>
        </p:nvSpPr>
        <p:spPr>
          <a:xfrm>
            <a:off x="411480" y="932688"/>
            <a:ext cx="11368735" cy="1252728"/>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1. computed()   ne fait jamais d'appel HTTP — calcul pur uniquement</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2. effect()     n'expose jamais de valeur    — effets de bord uniquement</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3. L'enfant émet une INTENTION, le parent exécute l'ACTION</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4. Ne pas bridger signal ↔ RxJS systématiquement — rester dans un seul monde</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5. Zone.js peut coexister — migrer progressivement, pas tout d'un coup</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6. input() dans un computed() = dépendance réelle / @Input() dans computed() = non</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7. toSignal() gère le désabonnement — ne pas ajouter takeUntilDestroyed en plus</a:t>
            </a:r>
            <a:endParaRPr lang="en-US" sz="880" dirty="0"/>
          </a:p>
        </p:txBody>
      </p:sp>
      <p:sp>
        <p:nvSpPr>
          <p:cNvPr id="6" name="Text 3"/>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64/64</a:t>
            </a:r>
            <a:endParaRPr lang="en-US" sz="7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64</Slides>
  <Notes>64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64</vt:i4>
      </vt:variant>
    </vt:vector>
  </HeadingPairs>
  <TitlesOfParts>
    <vt:vector size="6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vector>
  </TitlesOfParts>
  <Company>Dojo Angular</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Angular 21 Signals - Support de presentation dojo</dc:title>
  <dc:subject>Angular 21 Signals</dc:subject>
  <dc:creator>Dojo Angular Signals</dc:creator>
  <cp:lastModifiedBy>Dojo Angular Signals</cp:lastModifiedBy>
  <cp:revision>1</cp:revision>
  <dcterms:created xsi:type="dcterms:W3CDTF">2026-06-03T19:32:49Z</dcterms:created>
  <dcterms:modified xsi:type="dcterms:W3CDTF">2026-06-03T19:32:49Z</dcterms:modified>
</cp:coreProperties>
</file>