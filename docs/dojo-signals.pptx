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3" d="100"/>
          <a:sy n="113" d="100"/>
        </p:scale>
        <p:origin x="47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262096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parcours vise les usages essentiels des Signals :</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signal est une valeur réactive observable par Angular. Il contient une valeur, se lit avec (), et Angular mémorise automatiquement les templates, computed() et effect() qui l'ont lu.
Signals rend l'état local explicite et permet à Angular de savoir précisément quelles vues ou valeurs dérivées dépendent de cet état.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Zone.js aide Angular à savoir qu'un événement asynchrone a eu lieu. Il patche les APIs du navigateur (setTimeout, Promise, addEventListener, XMLHttpRequest, etc.) puis prévient Angular qu'un cycle de détection doit être lancé.
Zone.js ne modélise pas l'état de l'application : il sert surtout à déclencher la détection de changement après un événement.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OnPush est une stratégie de détection de changement qui limite les vérifications inutiles d'un composant.
Avec OnPush, Angular vérifie surtout un composant quand :</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application zoneless fonctionne sans zone.js : Angular ne s'appuie plus sur le patch automatique des APIs async pour lancer la détection de changement.
En zoneless, les mises à jour doivent venir de mécanismes explicites :
En zoneless, signal et async pipe ne se comportent pas de la même façon : un signal met à jour uniquement ses lecteurs directs. async pipe appelle markForCheck() — le composant et ses parents sont vérifiés, le DOM est mis à jour seulement si quelque chose a effectivement changé.</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signal() est une primitive Signal : une valeur réactive observable par Angular. Elle contient une valeur, se lit avec (), et Angular mémorise automatiquement les templates, computed() et effect() qui l'ont lue.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computed() est une primitive Signal : une valeur dérivée mémorisée. Le calcul ne se relance que si une dépendance lue a changé depuis la dernière lecture.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effect() est une primitive Signal : elle exécute un effet de bord quand les signals lus dans son corps changent. Elle s'exécute automatiquement, sans appel explicite.
untracked() permet de lire un signal dans un effect() sans l'ajouter aux dépendances suivies.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Quand un effet crée une ressource (timer, abonnement, listener), onCleanup permet de la libérer avant que l'effet se ré-exécute ou que le composant soit détruit.
Sans onCleanup, chaque ré-exécution de l'effet crée un nouveau timer sans supprimer le précédent.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input() est une API Angular : elle déclare une entrée de composant sous forme de signal. La valeur passée par le parent devient une dépendance réelle dans les computed() et effect().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output() remplace @Output() + EventEmitter pour déclarer une intention envoyée au parent.
output() n'est pas un Observable : il sert à signaler un événement de composant.
model() sert quand le parent et l'enfant partagent une valeur modifiable des deux côtés. Il remplace le couple @Input() + @Output() utilisé pour le two-way binding.
À retenir : output() émet une intention ; model() partage une valeur éditable.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linkedSignal() est une primitive Signal : elle crée un signal writable dérivé d'un autre signal. Contrairement à computed() qui est en lecture seule, sa valeur peut être modifiée par .set() ou .update(). Elle est automatiquement recalculée quand la source change.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conventions d'usage des APIs Signals utilisées ici et la décision de ne pas migrer vers le mode zoneless sont détaillées dans docs/adr/0002-conventions-usage-signals-et-detection-changement.md.</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3F8F6"/>
        </a:solidFill>
        <a:effectLst/>
      </p:bgPr>
    </p:bg>
    <p:spTree>
      <p:nvGrpSpPr>
        <p:cNvPr id="1" name=""/>
        <p:cNvGrpSpPr/>
        <p:nvPr/>
      </p:nvGrpSpPr>
      <p:grpSpPr>
        <a:xfrm>
          <a:off x="0" y="0"/>
          <a:ext cx="0" cy="0"/>
          <a:chOff x="0" y="0"/>
          <a:chExt cx="0" cy="0"/>
        </a:xfrm>
      </p:grpSpPr>
      <p:sp>
        <p:nvSpPr>
          <p:cNvPr id="2" name="Shape 0"/>
          <p:cNvSpPr/>
          <p:nvPr/>
        </p:nvSpPr>
        <p:spPr>
          <a:xfrm>
            <a:off x="0" y="0"/>
            <a:ext cx="2971800" cy="6858000"/>
          </a:xfrm>
          <a:prstGeom prst="rect">
            <a:avLst/>
          </a:prstGeom>
          <a:solidFill>
            <a:srgbClr val="008A5B"/>
          </a:solidFill>
          <a:ln w="12700">
            <a:solidFill>
              <a:srgbClr val="008A5B"/>
            </a:solidFill>
            <a:prstDash val="solid"/>
          </a:ln>
        </p:spPr>
      </p:sp>
      <p:sp>
        <p:nvSpPr>
          <p:cNvPr id="3" name="Shape 1"/>
          <p:cNvSpPr/>
          <p:nvPr/>
        </p:nvSpPr>
        <p:spPr>
          <a:xfrm>
            <a:off x="164592" y="164592"/>
            <a:ext cx="109728" cy="6528816"/>
          </a:xfrm>
          <a:prstGeom prst="rect">
            <a:avLst/>
          </a:prstGeom>
          <a:solidFill>
            <a:srgbClr val="00A86B"/>
          </a:solidFill>
          <a:ln w="12700">
            <a:solidFill>
              <a:srgbClr val="00A86B"/>
            </a:solidFill>
            <a:prstDash val="solid"/>
          </a:ln>
        </p:spPr>
      </p:sp>
      <p:sp>
        <p:nvSpPr>
          <p:cNvPr id="4" name="Text 2"/>
          <p:cNvSpPr/>
          <p:nvPr/>
        </p:nvSpPr>
        <p:spPr>
          <a:xfrm>
            <a:off x="502920" y="502920"/>
            <a:ext cx="2011680" cy="411480"/>
          </a:xfrm>
          <a:prstGeom prst="rect">
            <a:avLst/>
          </a:prstGeom>
          <a:noFill/>
          <a:ln/>
        </p:spPr>
        <p:txBody>
          <a:bodyPr wrap="square" lIns="0" tIns="0" rIns="0" bIns="0" rtlCol="0" anchor="ctr"/>
          <a:lstStyle/>
          <a:p>
            <a:pPr marL="0" indent="0">
              <a:buNone/>
            </a:pPr>
            <a:r>
              <a:rPr lang="en-US" sz="1800" b="1" dirty="0">
                <a:solidFill>
                  <a:srgbClr val="FFFFFF"/>
                </a:solidFill>
              </a:rPr>
              <a:t>BNP Paribas</a:t>
            </a:r>
            <a:endParaRPr lang="en-US" sz="1800" dirty="0"/>
          </a:p>
        </p:txBody>
      </p:sp>
      <p:sp>
        <p:nvSpPr>
          <p:cNvPr id="5" name="Text 3"/>
          <p:cNvSpPr/>
          <p:nvPr/>
        </p:nvSpPr>
        <p:spPr>
          <a:xfrm>
            <a:off x="502920" y="1024128"/>
            <a:ext cx="2011680" cy="292608"/>
          </a:xfrm>
          <a:prstGeom prst="rect">
            <a:avLst/>
          </a:prstGeom>
          <a:noFill/>
          <a:ln/>
        </p:spPr>
        <p:txBody>
          <a:bodyPr wrap="square" lIns="0" tIns="0" rIns="0" bIns="0" rtlCol="0" anchor="ctr"/>
          <a:lstStyle/>
          <a:p>
            <a:pPr marL="0" indent="0">
              <a:buNone/>
            </a:pPr>
            <a:r>
              <a:rPr lang="en-US" sz="1200" dirty="0">
                <a:solidFill>
                  <a:srgbClr val="DFF2EA"/>
                </a:solidFill>
              </a:rPr>
              <a:t>Angular Dojo</a:t>
            </a:r>
            <a:endParaRPr lang="en-US" sz="1200" dirty="0"/>
          </a:p>
        </p:txBody>
      </p:sp>
      <p:sp>
        <p:nvSpPr>
          <p:cNvPr id="6" name="Text 4"/>
          <p:cNvSpPr/>
          <p:nvPr/>
        </p:nvSpPr>
        <p:spPr>
          <a:xfrm>
            <a:off x="3520440" y="1417320"/>
            <a:ext cx="8122615" cy="1143000"/>
          </a:xfrm>
          <a:prstGeom prst="rect">
            <a:avLst/>
          </a:prstGeom>
          <a:noFill/>
          <a:ln/>
        </p:spPr>
        <p:txBody>
          <a:bodyPr wrap="square" lIns="0" tIns="0" rIns="0" bIns="0" rtlCol="0" anchor="ctr">
            <a:normAutofit/>
          </a:bodyPr>
          <a:lstStyle/>
          <a:p>
            <a:pPr marL="0" indent="0" algn="l">
              <a:buNone/>
            </a:pPr>
            <a:r>
              <a:rPr lang="en-US" sz="3800" b="1" dirty="0">
                <a:solidFill>
                  <a:srgbClr val="1B2B2A"/>
                </a:solidFill>
              </a:rPr>
              <a:t>Angular 21 Signals — Support de présentation dojo</a:t>
            </a:r>
            <a:endParaRPr lang="en-US" sz="3800" dirty="0"/>
          </a:p>
        </p:txBody>
      </p:sp>
      <p:sp>
        <p:nvSpPr>
          <p:cNvPr id="7" name="Text 5"/>
          <p:cNvSpPr/>
          <p:nvPr/>
        </p:nvSpPr>
        <p:spPr>
          <a:xfrm>
            <a:off x="3566160" y="2788920"/>
            <a:ext cx="8076895" cy="384048"/>
          </a:xfrm>
          <a:prstGeom prst="rect">
            <a:avLst/>
          </a:prstGeom>
          <a:noFill/>
          <a:ln/>
        </p:spPr>
        <p:txBody>
          <a:bodyPr wrap="square" lIns="0" tIns="0" rIns="0" bIns="0" rtlCol="0" anchor="ctr"/>
          <a:lstStyle/>
          <a:p>
            <a:pPr marL="0" indent="0" algn="l">
              <a:buNone/>
            </a:pPr>
            <a:r>
              <a:rPr lang="en-US" sz="1800" dirty="0">
                <a:solidFill>
                  <a:srgbClr val="61716F"/>
                </a:solidFill>
              </a:rPr>
              <a:t>Support de présentation dojo</a:t>
            </a:r>
            <a:endParaRPr lang="en-US" sz="1800" dirty="0"/>
          </a:p>
        </p:txBody>
      </p:sp>
      <p:sp>
        <p:nvSpPr>
          <p:cNvPr id="8" name="Text 6"/>
          <p:cNvSpPr/>
          <p:nvPr/>
        </p:nvSpPr>
        <p:spPr>
          <a:xfrm>
            <a:off x="3566160" y="4160520"/>
            <a:ext cx="4114800" cy="310896"/>
          </a:xfrm>
          <a:prstGeom prst="rect">
            <a:avLst/>
          </a:prstGeom>
          <a:solidFill>
            <a:srgbClr val="CFEDE2"/>
          </a:solidFill>
          <a:ln>
            <a:solidFill>
              <a:srgbClr val="CFEDE2"/>
            </a:solidFill>
          </a:ln>
        </p:spPr>
        <p:txBody>
          <a:bodyPr wrap="square" lIns="254" tIns="254" rIns="254" bIns="254" rtlCol="0" anchor="ctr"/>
          <a:lstStyle/>
          <a:p>
            <a:pPr marL="0" indent="0" algn="ctr">
              <a:buNone/>
            </a:pPr>
            <a:r>
              <a:rPr lang="en-US" sz="1100" b="1" dirty="0">
                <a:solidFill>
                  <a:srgbClr val="008A5B"/>
                </a:solidFill>
              </a:rPr>
              <a:t>Angular 21 · Signals · Zone.js · RxJS interop</a:t>
            </a:r>
            <a:endParaRPr lang="en-US" sz="1100" dirty="0"/>
          </a:p>
        </p:txBody>
      </p:sp>
      <p:sp>
        <p:nvSpPr>
          <p:cNvPr id="9" name="Text 7"/>
          <p:cNvSpPr/>
          <p:nvPr/>
        </p:nvSpPr>
        <p:spPr>
          <a:xfrm>
            <a:off x="11277295" y="6537960"/>
            <a:ext cx="502920" cy="182880"/>
          </a:xfrm>
          <a:prstGeom prst="rect">
            <a:avLst/>
          </a:prstGeom>
          <a:noFill/>
          <a:ln/>
        </p:spPr>
        <p:txBody>
          <a:bodyPr wrap="square" rtlCol="0" anchor="ctr"/>
          <a:lstStyle/>
          <a:p>
            <a:pPr marL="0" indent="0" algn="r">
              <a:buNone/>
            </a:pPr>
            <a:r>
              <a:rPr lang="en-US" sz="700" dirty="0">
                <a:solidFill>
                  <a:srgbClr val="61716F"/>
                </a:solidFill>
              </a:rPr>
              <a:t>1/29</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8F6"/>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8A5B"/>
          </a:solidFill>
          <a:ln w="12700">
            <a:solidFill>
              <a:srgbClr val="008A5B"/>
            </a:solidFill>
            <a:prstDash val="solid"/>
          </a:ln>
        </p:spPr>
      </p:sp>
      <p:sp>
        <p:nvSpPr>
          <p:cNvPr id="3" name="Text 1"/>
          <p:cNvSpPr/>
          <p:nvPr/>
        </p:nvSpPr>
        <p:spPr>
          <a:xfrm>
            <a:off x="411480" y="219456"/>
            <a:ext cx="9357055" cy="347472"/>
          </a:xfrm>
          <a:prstGeom prst="rect">
            <a:avLst/>
          </a:prstGeom>
          <a:noFill/>
          <a:ln/>
        </p:spPr>
        <p:txBody>
          <a:bodyPr wrap="square" lIns="0" tIns="0" rIns="0" bIns="0" rtlCol="0" anchor="ctr">
            <a:normAutofit/>
          </a:bodyPr>
          <a:lstStyle/>
          <a:p>
            <a:pPr marL="0" indent="0">
              <a:buNone/>
            </a:pPr>
            <a:r>
              <a:rPr lang="en-US" sz="2300" b="1" dirty="0">
                <a:solidFill>
                  <a:srgbClr val="1B2B2A"/>
                </a:solidFill>
              </a:rPr>
              <a:t>Objectif du dojo</a:t>
            </a:r>
            <a:endParaRPr lang="en-US" sz="2300" dirty="0"/>
          </a:p>
        </p:txBody>
      </p:sp>
      <p:sp>
        <p:nvSpPr>
          <p:cNvPr id="4" name="Text 2"/>
          <p:cNvSpPr/>
          <p:nvPr/>
        </p:nvSpPr>
        <p:spPr>
          <a:xfrm>
            <a:off x="10317175" y="246888"/>
            <a:ext cx="1463040" cy="219456"/>
          </a:xfrm>
          <a:prstGeom prst="rect">
            <a:avLst/>
          </a:prstGeom>
          <a:solidFill>
            <a:srgbClr val="CFEDE2"/>
          </a:solidFill>
          <a:ln>
            <a:solidFill>
              <a:srgbClr val="CFEDE2"/>
            </a:solidFill>
          </a:ln>
        </p:spPr>
        <p:txBody>
          <a:bodyPr wrap="square" lIns="254" tIns="254" rIns="254" bIns="254" rtlCol="0" anchor="ctr"/>
          <a:lstStyle/>
          <a:p>
            <a:pPr marL="0" indent="0" algn="ctr">
              <a:buNone/>
            </a:pPr>
            <a:r>
              <a:rPr lang="en-US" sz="800" b="1" dirty="0">
                <a:solidFill>
                  <a:srgbClr val="008A5B"/>
                </a:solidFill>
              </a:rPr>
              <a:t>BNP Paribas</a:t>
            </a:r>
            <a:endParaRPr lang="en-US" sz="800" dirty="0"/>
          </a:p>
        </p:txBody>
      </p:sp>
      <p:sp>
        <p:nvSpPr>
          <p:cNvPr id="6" name="Text 3"/>
          <p:cNvSpPr/>
          <p:nvPr/>
        </p:nvSpPr>
        <p:spPr>
          <a:xfrm>
            <a:off x="576072" y="932688"/>
            <a:ext cx="11204143" cy="329184"/>
          </a:xfrm>
          <a:prstGeom prst="rect">
            <a:avLst/>
          </a:prstGeom>
          <a:noFill/>
          <a:ln/>
        </p:spPr>
        <p:txBody>
          <a:bodyPr wrap="square" lIns="127" tIns="127" rIns="127" bIns="127" rtlCol="0" anchor="ctr">
            <a:normAutofit/>
          </a:bodyPr>
          <a:lstStyle/>
          <a:p>
            <a:r>
              <a:rPr lang="en-US" sz="1350" dirty="0">
                <a:solidFill>
                  <a:srgbClr val="263B38"/>
                </a:solidFill>
              </a:rPr>
              <a:t>rendre un état local réactif avec signal() ;</a:t>
            </a:r>
            <a:endParaRPr lang="en-US" sz="1350" dirty="0"/>
          </a:p>
        </p:txBody>
      </p:sp>
      <p:sp>
        <p:nvSpPr>
          <p:cNvPr id="7" name="Text 4"/>
          <p:cNvSpPr/>
          <p:nvPr/>
        </p:nvSpPr>
        <p:spPr>
          <a:xfrm>
            <a:off x="576072" y="1316736"/>
            <a:ext cx="11204143" cy="329184"/>
          </a:xfrm>
          <a:prstGeom prst="rect">
            <a:avLst/>
          </a:prstGeom>
          <a:noFill/>
          <a:ln/>
        </p:spPr>
        <p:txBody>
          <a:bodyPr wrap="square" lIns="127" tIns="127" rIns="127" bIns="127" rtlCol="0" anchor="ctr">
            <a:normAutofit/>
          </a:bodyPr>
          <a:lstStyle/>
          <a:p>
            <a:r>
              <a:rPr lang="en-US" sz="1350" dirty="0">
                <a:solidFill>
                  <a:srgbClr val="263B38"/>
                </a:solidFill>
              </a:rPr>
              <a:t>dériver une valeur sans recalcul inutile avec computed() ;</a:t>
            </a:r>
            <a:endParaRPr lang="en-US" sz="1350" dirty="0"/>
          </a:p>
        </p:txBody>
      </p:sp>
      <p:sp>
        <p:nvSpPr>
          <p:cNvPr id="8" name="Text 5"/>
          <p:cNvSpPr/>
          <p:nvPr/>
        </p:nvSpPr>
        <p:spPr>
          <a:xfrm>
            <a:off x="576072" y="1700784"/>
            <a:ext cx="11204143" cy="329184"/>
          </a:xfrm>
          <a:prstGeom prst="rect">
            <a:avLst/>
          </a:prstGeom>
          <a:noFill/>
          <a:ln/>
        </p:spPr>
        <p:txBody>
          <a:bodyPr wrap="square" lIns="127" tIns="127" rIns="127" bIns="127" rtlCol="0" anchor="ctr">
            <a:normAutofit/>
          </a:bodyPr>
          <a:lstStyle/>
          <a:p>
            <a:r>
              <a:rPr lang="en-US" sz="1350" dirty="0">
                <a:solidFill>
                  <a:srgbClr val="263B38"/>
                </a:solidFill>
              </a:rPr>
              <a:t>synchroniser un état avec effect() ;</a:t>
            </a:r>
            <a:endParaRPr lang="en-US" sz="1350" dirty="0"/>
          </a:p>
        </p:txBody>
      </p:sp>
      <p:sp>
        <p:nvSpPr>
          <p:cNvPr id="9" name="Text 6"/>
          <p:cNvSpPr/>
          <p:nvPr/>
        </p:nvSpPr>
        <p:spPr>
          <a:xfrm>
            <a:off x="576072" y="2084832"/>
            <a:ext cx="11204143" cy="329184"/>
          </a:xfrm>
          <a:prstGeom prst="rect">
            <a:avLst/>
          </a:prstGeom>
          <a:noFill/>
          <a:ln/>
        </p:spPr>
        <p:txBody>
          <a:bodyPr wrap="square" lIns="127" tIns="127" rIns="127" bIns="127" rtlCol="0" anchor="ctr">
            <a:normAutofit/>
          </a:bodyPr>
          <a:lstStyle/>
          <a:p>
            <a:r>
              <a:rPr lang="en-US" sz="1350" dirty="0">
                <a:solidFill>
                  <a:srgbClr val="263B38"/>
                </a:solidFill>
              </a:rPr>
              <a:t>transformer une entrée composant en dépendance signal avec input() ;</a:t>
            </a:r>
            <a:endParaRPr lang="en-US" sz="1350" dirty="0"/>
          </a:p>
        </p:txBody>
      </p:sp>
      <p:sp>
        <p:nvSpPr>
          <p:cNvPr id="10" name="Text 7"/>
          <p:cNvSpPr/>
          <p:nvPr/>
        </p:nvSpPr>
        <p:spPr>
          <a:xfrm>
            <a:off x="576072" y="2468880"/>
            <a:ext cx="11204143" cy="329184"/>
          </a:xfrm>
          <a:prstGeom prst="rect">
            <a:avLst/>
          </a:prstGeom>
          <a:noFill/>
          <a:ln/>
        </p:spPr>
        <p:txBody>
          <a:bodyPr wrap="square" lIns="127" tIns="127" rIns="127" bIns="127" rtlCol="0" anchor="ctr">
            <a:normAutofit/>
          </a:bodyPr>
          <a:lstStyle/>
          <a:p>
            <a:r>
              <a:rPr lang="en-US" sz="1350" dirty="0">
                <a:solidFill>
                  <a:srgbClr val="263B38"/>
                </a:solidFill>
              </a:rPr>
              <a:t>gérer une valeur dérivée mais éditable avec linkedSignal().</a:t>
            </a:r>
            <a:endParaRPr lang="en-US" sz="1350" dirty="0"/>
          </a:p>
        </p:txBody>
      </p:sp>
      <p:sp>
        <p:nvSpPr>
          <p:cNvPr id="11" name="Text 8"/>
          <p:cNvSpPr/>
          <p:nvPr/>
        </p:nvSpPr>
        <p:spPr>
          <a:xfrm>
            <a:off x="11277295" y="6537960"/>
            <a:ext cx="502920" cy="182880"/>
          </a:xfrm>
          <a:prstGeom prst="rect">
            <a:avLst/>
          </a:prstGeom>
          <a:noFill/>
          <a:ln/>
        </p:spPr>
        <p:txBody>
          <a:bodyPr wrap="square" rtlCol="0" anchor="ctr"/>
          <a:lstStyle/>
          <a:p>
            <a:pPr marL="0" indent="0" algn="r">
              <a:buNone/>
            </a:pPr>
            <a:r>
              <a:rPr lang="en-US" sz="700" dirty="0">
                <a:solidFill>
                  <a:srgbClr val="61716F"/>
                </a:solidFill>
              </a:rPr>
              <a:t>2/29</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8F6"/>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8A5B"/>
          </a:solidFill>
          <a:ln w="12700">
            <a:solidFill>
              <a:srgbClr val="008A5B"/>
            </a:solidFill>
            <a:prstDash val="solid"/>
          </a:ln>
        </p:spPr>
      </p:sp>
      <p:sp>
        <p:nvSpPr>
          <p:cNvPr id="3" name="Text 1"/>
          <p:cNvSpPr/>
          <p:nvPr/>
        </p:nvSpPr>
        <p:spPr>
          <a:xfrm>
            <a:off x="411480" y="219456"/>
            <a:ext cx="9357055" cy="347472"/>
          </a:xfrm>
          <a:prstGeom prst="rect">
            <a:avLst/>
          </a:prstGeom>
          <a:noFill/>
          <a:ln/>
        </p:spPr>
        <p:txBody>
          <a:bodyPr wrap="square" lIns="0" tIns="0" rIns="0" bIns="0" rtlCol="0" anchor="ctr">
            <a:normAutofit/>
          </a:bodyPr>
          <a:lstStyle/>
          <a:p>
            <a:pPr marL="0" indent="0">
              <a:buNone/>
            </a:pPr>
            <a:r>
              <a:rPr lang="en-US" sz="2300" b="1" dirty="0">
                <a:solidFill>
                  <a:srgbClr val="1B2B2A"/>
                </a:solidFill>
              </a:rPr>
              <a:t>Sommaire</a:t>
            </a:r>
            <a:endParaRPr lang="en-US" sz="2300" dirty="0"/>
          </a:p>
        </p:txBody>
      </p:sp>
      <p:sp>
        <p:nvSpPr>
          <p:cNvPr id="4" name="Text 2"/>
          <p:cNvSpPr/>
          <p:nvPr/>
        </p:nvSpPr>
        <p:spPr>
          <a:xfrm>
            <a:off x="10317175" y="246888"/>
            <a:ext cx="1463040" cy="219456"/>
          </a:xfrm>
          <a:prstGeom prst="rect">
            <a:avLst/>
          </a:prstGeom>
          <a:solidFill>
            <a:srgbClr val="CFEDE2"/>
          </a:solidFill>
          <a:ln>
            <a:solidFill>
              <a:srgbClr val="CFEDE2"/>
            </a:solidFill>
          </a:ln>
        </p:spPr>
        <p:txBody>
          <a:bodyPr wrap="square" lIns="254" tIns="254" rIns="254" bIns="254" rtlCol="0" anchor="ctr"/>
          <a:lstStyle/>
          <a:p>
            <a:pPr marL="0" indent="0" algn="ctr">
              <a:buNone/>
            </a:pPr>
            <a:r>
              <a:rPr lang="en-US" sz="800" b="1" dirty="0">
                <a:solidFill>
                  <a:srgbClr val="008A5B"/>
                </a:solidFill>
              </a:rPr>
              <a:t>BNP Paribas</a:t>
            </a:r>
            <a:endParaRPr lang="en-US" sz="800" dirty="0"/>
          </a:p>
        </p:txBody>
      </p:sp>
      <p:sp>
        <p:nvSpPr>
          <p:cNvPr id="5" name="Text 3"/>
          <p:cNvSpPr/>
          <p:nvPr/>
        </p:nvSpPr>
        <p:spPr>
          <a:xfrm>
            <a:off x="576072" y="932688"/>
            <a:ext cx="11204143" cy="329184"/>
          </a:xfrm>
          <a:prstGeom prst="rect">
            <a:avLst/>
          </a:prstGeom>
          <a:noFill/>
          <a:ln/>
        </p:spPr>
        <p:txBody>
          <a:bodyPr wrap="square" lIns="127" tIns="127" rIns="127" bIns="127" rtlCol="0" anchor="ctr">
            <a:normAutofit/>
          </a:bodyPr>
          <a:lstStyle/>
          <a:p>
            <a:r>
              <a:rPr lang="en-US" sz="1350" dirty="0">
                <a:solidFill>
                  <a:srgbClr val="263B38"/>
                </a:solidFill>
              </a:rPr>
              <a:t>Rappels : Signal, Zone.js, OnPush, zoneless</a:t>
            </a:r>
            <a:endParaRPr lang="en-US" sz="1350" dirty="0"/>
          </a:p>
        </p:txBody>
      </p:sp>
      <p:sp>
        <p:nvSpPr>
          <p:cNvPr id="6" name="Text 4"/>
          <p:cNvSpPr/>
          <p:nvPr/>
        </p:nvSpPr>
        <p:spPr>
          <a:xfrm>
            <a:off x="576072" y="1316736"/>
            <a:ext cx="11204143" cy="329184"/>
          </a:xfrm>
          <a:prstGeom prst="rect">
            <a:avLst/>
          </a:prstGeom>
          <a:noFill/>
          <a:ln/>
        </p:spPr>
        <p:txBody>
          <a:bodyPr wrap="square" lIns="127" tIns="127" rIns="127" bIns="127" rtlCol="0" anchor="ctr">
            <a:normAutofit/>
          </a:bodyPr>
          <a:lstStyle/>
          <a:p>
            <a:r>
              <a:rPr lang="en-US" sz="1350" dirty="0">
                <a:solidFill>
                  <a:srgbClr val="263B38"/>
                </a:solidFill>
              </a:rPr>
              <a:t>Exercices 1 à 3 : signal(), computed(), effect()</a:t>
            </a:r>
            <a:endParaRPr lang="en-US" sz="1350" dirty="0"/>
          </a:p>
        </p:txBody>
      </p:sp>
      <p:sp>
        <p:nvSpPr>
          <p:cNvPr id="7" name="Text 5"/>
          <p:cNvSpPr/>
          <p:nvPr/>
        </p:nvSpPr>
        <p:spPr>
          <a:xfrm>
            <a:off x="576072" y="1700784"/>
            <a:ext cx="11204143" cy="329184"/>
          </a:xfrm>
          <a:prstGeom prst="rect">
            <a:avLst/>
          </a:prstGeom>
          <a:noFill/>
          <a:ln/>
        </p:spPr>
        <p:txBody>
          <a:bodyPr wrap="square" lIns="127" tIns="127" rIns="127" bIns="127" rtlCol="0" anchor="ctr">
            <a:normAutofit/>
          </a:bodyPr>
          <a:lstStyle/>
          <a:p>
            <a:r>
              <a:rPr lang="en-US" sz="1350" dirty="0">
                <a:solidFill>
                  <a:srgbClr val="263B38"/>
                </a:solidFill>
              </a:rPr>
              <a:t>Exercices 4 à 5 : input(), linkedSignal()</a:t>
            </a:r>
            <a:endParaRPr lang="en-US" sz="1350" dirty="0"/>
          </a:p>
        </p:txBody>
      </p:sp>
      <p:sp>
        <p:nvSpPr>
          <p:cNvPr id="8" name="Text 6"/>
          <p:cNvSpPr/>
          <p:nvPr/>
        </p:nvSpPr>
        <p:spPr>
          <a:xfrm>
            <a:off x="576072" y="2084832"/>
            <a:ext cx="11204143" cy="329184"/>
          </a:xfrm>
          <a:prstGeom prst="rect">
            <a:avLst/>
          </a:prstGeom>
          <a:noFill/>
          <a:ln/>
        </p:spPr>
        <p:txBody>
          <a:bodyPr wrap="square" lIns="127" tIns="127" rIns="127" bIns="127" rtlCol="0" anchor="ctr">
            <a:normAutofit/>
          </a:bodyPr>
          <a:lstStyle/>
          <a:p>
            <a:r>
              <a:rPr lang="en-US" sz="1350" dirty="0">
                <a:solidFill>
                  <a:srgbClr val="263B38"/>
                </a:solidFill>
              </a:rPr>
              <a:t>Récapitulatif et règles d'usage</a:t>
            </a:r>
            <a:endParaRPr lang="en-US" sz="1350" dirty="0"/>
          </a:p>
        </p:txBody>
      </p:sp>
      <p:sp>
        <p:nvSpPr>
          <p:cNvPr id="9" name="Text 7"/>
          <p:cNvSpPr/>
          <p:nvPr/>
        </p:nvSpPr>
        <p:spPr>
          <a:xfrm>
            <a:off x="11277295" y="6537960"/>
            <a:ext cx="502920" cy="182880"/>
          </a:xfrm>
          <a:prstGeom prst="rect">
            <a:avLst/>
          </a:prstGeom>
          <a:noFill/>
          <a:ln/>
        </p:spPr>
        <p:txBody>
          <a:bodyPr wrap="square" rtlCol="0" anchor="ctr"/>
          <a:lstStyle/>
          <a:p>
            <a:pPr marL="0" indent="0" algn="r">
              <a:buNone/>
            </a:pPr>
            <a:r>
              <a:rPr lang="en-US" sz="700" dirty="0">
                <a:solidFill>
                  <a:srgbClr val="61716F"/>
                </a:solidFill>
              </a:rPr>
              <a:t>3/29</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6B4F"/>
        </a:solidFill>
        <a:effectLst/>
      </p:bgPr>
    </p:bg>
    <p:spTree>
      <p:nvGrpSpPr>
        <p:cNvPr id="1" name=""/>
        <p:cNvGrpSpPr/>
        <p:nvPr/>
      </p:nvGrpSpPr>
      <p:grpSpPr>
        <a:xfrm>
          <a:off x="0" y="0"/>
          <a:ext cx="0" cy="0"/>
          <a:chOff x="0" y="0"/>
          <a:chExt cx="0" cy="0"/>
        </a:xfrm>
      </p:grpSpPr>
      <p:sp>
        <p:nvSpPr>
          <p:cNvPr id="2" name="Text 0"/>
          <p:cNvSpPr/>
          <p:nvPr/>
        </p:nvSpPr>
        <p:spPr>
          <a:xfrm>
            <a:off x="594360" y="2011680"/>
            <a:ext cx="11002975" cy="1097280"/>
          </a:xfrm>
          <a:prstGeom prst="rect">
            <a:avLst/>
          </a:prstGeom>
          <a:noFill/>
          <a:ln/>
        </p:spPr>
        <p:txBody>
          <a:bodyPr wrap="square" lIns="0" tIns="0" rIns="0" bIns="0" rtlCol="0" anchor="ctr">
            <a:normAutofit/>
          </a:bodyPr>
          <a:lstStyle/>
          <a:p>
            <a:pPr marL="0" indent="0" algn="ctr">
              <a:buNone/>
            </a:pPr>
            <a:r>
              <a:rPr lang="en-US" sz="3800" b="1" dirty="0">
                <a:solidFill>
                  <a:srgbClr val="FFFFFF"/>
                </a:solidFill>
              </a:rPr>
              <a:t>Signal</a:t>
            </a:r>
            <a:endParaRPr lang="en-US" sz="3800" dirty="0"/>
          </a:p>
        </p:txBody>
      </p:sp>
      <p:sp>
        <p:nvSpPr>
          <p:cNvPr id="4" name="Text 1"/>
          <p:cNvSpPr/>
          <p:nvPr/>
        </p:nvSpPr>
        <p:spPr>
          <a:xfrm>
            <a:off x="11277295" y="6537960"/>
            <a:ext cx="502920" cy="182880"/>
          </a:xfrm>
          <a:prstGeom prst="rect">
            <a:avLst/>
          </a:prstGeom>
          <a:noFill/>
          <a:ln/>
        </p:spPr>
        <p:txBody>
          <a:bodyPr wrap="square" rtlCol="0" anchor="ctr"/>
          <a:lstStyle/>
          <a:p>
            <a:pPr marL="0" indent="0" algn="r">
              <a:buNone/>
            </a:pPr>
            <a:r>
              <a:rPr lang="en-US" sz="700" dirty="0">
                <a:solidFill>
                  <a:srgbClr val="61716F"/>
                </a:solidFill>
              </a:rPr>
              <a:t>4/29</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8F6"/>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8A5B"/>
          </a:solidFill>
          <a:ln w="12700">
            <a:solidFill>
              <a:srgbClr val="008A5B"/>
            </a:solidFill>
            <a:prstDash val="solid"/>
          </a:ln>
        </p:spPr>
      </p:sp>
      <p:sp>
        <p:nvSpPr>
          <p:cNvPr id="3" name="Text 1"/>
          <p:cNvSpPr/>
          <p:nvPr/>
        </p:nvSpPr>
        <p:spPr>
          <a:xfrm>
            <a:off x="411480" y="219456"/>
            <a:ext cx="9357055" cy="347472"/>
          </a:xfrm>
          <a:prstGeom prst="rect">
            <a:avLst/>
          </a:prstGeom>
          <a:noFill/>
          <a:ln/>
        </p:spPr>
        <p:txBody>
          <a:bodyPr wrap="square" lIns="0" tIns="0" rIns="0" bIns="0" rtlCol="0" anchor="ctr">
            <a:normAutofit/>
          </a:bodyPr>
          <a:lstStyle/>
          <a:p>
            <a:pPr marL="0" indent="0">
              <a:buNone/>
            </a:pPr>
            <a:r>
              <a:rPr lang="en-US" sz="2300" b="1" dirty="0">
                <a:solidFill>
                  <a:srgbClr val="1B2B2A"/>
                </a:solidFill>
              </a:rPr>
              <a:t>Zone.js et détection de changement</a:t>
            </a:r>
            <a:endParaRPr lang="en-US" sz="2300" dirty="0"/>
          </a:p>
        </p:txBody>
      </p:sp>
      <p:sp>
        <p:nvSpPr>
          <p:cNvPr id="4" name="Text 2"/>
          <p:cNvSpPr/>
          <p:nvPr/>
        </p:nvSpPr>
        <p:spPr>
          <a:xfrm>
            <a:off x="10317175" y="246888"/>
            <a:ext cx="1463040" cy="219456"/>
          </a:xfrm>
          <a:prstGeom prst="rect">
            <a:avLst/>
          </a:prstGeom>
          <a:solidFill>
            <a:srgbClr val="CFEDE2"/>
          </a:solidFill>
          <a:ln>
            <a:solidFill>
              <a:srgbClr val="CFEDE2"/>
            </a:solidFill>
          </a:ln>
        </p:spPr>
        <p:txBody>
          <a:bodyPr wrap="square" lIns="254" tIns="254" rIns="254" bIns="254" rtlCol="0" anchor="ctr"/>
          <a:lstStyle/>
          <a:p>
            <a:pPr marL="0" indent="0" algn="ctr">
              <a:buNone/>
            </a:pPr>
            <a:r>
              <a:rPr lang="en-US" sz="800" b="1" dirty="0">
                <a:solidFill>
                  <a:srgbClr val="008A5B"/>
                </a:solidFill>
              </a:rPr>
              <a:t>BNP Paribas</a:t>
            </a:r>
            <a:endParaRPr lang="en-US" sz="800" dirty="0"/>
          </a:p>
        </p:txBody>
      </p:sp>
      <p:sp>
        <p:nvSpPr>
          <p:cNvPr id="6" name="Text 3"/>
          <p:cNvSpPr/>
          <p:nvPr/>
        </p:nvSpPr>
        <p:spPr>
          <a:xfrm>
            <a:off x="411480" y="932688"/>
            <a:ext cx="11368735" cy="640080"/>
          </a:xfrm>
          <a:prstGeom prst="rect">
            <a:avLst/>
          </a:prstGeom>
          <a:solidFill>
            <a:srgbClr val="15332F"/>
          </a:solidFill>
          <a:ln/>
        </p:spPr>
        <p:txBody>
          <a:bodyPr wrap="square" lIns="1016" tIns="1016" rIns="1016" bIns="1016" rtlCol="0" anchor="t">
            <a:normAutofit/>
          </a:bodyPr>
          <a:lstStyle/>
          <a:p>
            <a:pPr marL="0" indent="0">
              <a:buNone/>
            </a:pPr>
            <a:r>
              <a:rPr lang="en-US" sz="1030" dirty="0">
                <a:solidFill>
                  <a:srgbClr val="F8FAFC"/>
                </a:solidFill>
                <a:latin typeface="Courier New" pitchFamily="34" charset="0"/>
                <a:ea typeface="Courier New" pitchFamily="34" charset="-122"/>
                <a:cs typeface="Courier New" pitchFamily="34" charset="-120"/>
              </a:rPr>
              <a:t>Zone.js : un événement async se produit → Angular lance la détection</a:t>
            </a:r>
            <a:endParaRPr lang="en-US" sz="1030" dirty="0"/>
          </a:p>
          <a:p>
            <a:pPr marL="0" indent="0">
              <a:buNone/>
            </a:pPr>
            <a:r>
              <a:rPr lang="en-US" sz="1030" dirty="0">
                <a:solidFill>
                  <a:srgbClr val="F8FAFC"/>
                </a:solidFill>
                <a:latin typeface="Courier New" pitchFamily="34" charset="0"/>
                <a:ea typeface="Courier New" pitchFamily="34" charset="-122"/>
                <a:cs typeface="Courier New" pitchFamily="34" charset="-120"/>
              </a:rPr>
              <a:t>Signals : une valeur change             → Angular connaît les lecteurs dépendants</a:t>
            </a:r>
            <a:endParaRPr lang="en-US" sz="1030" dirty="0"/>
          </a:p>
        </p:txBody>
      </p:sp>
      <p:sp>
        <p:nvSpPr>
          <p:cNvPr id="7" name="Text 4"/>
          <p:cNvSpPr/>
          <p:nvPr/>
        </p:nvSpPr>
        <p:spPr>
          <a:xfrm>
            <a:off x="11277295" y="6537960"/>
            <a:ext cx="502920" cy="182880"/>
          </a:xfrm>
          <a:prstGeom prst="rect">
            <a:avLst/>
          </a:prstGeom>
          <a:noFill/>
          <a:ln/>
        </p:spPr>
        <p:txBody>
          <a:bodyPr wrap="square" rtlCol="0" anchor="ctr"/>
          <a:lstStyle/>
          <a:p>
            <a:pPr marL="0" indent="0" algn="r">
              <a:buNone/>
            </a:pPr>
            <a:r>
              <a:rPr lang="en-US" sz="700" dirty="0">
                <a:solidFill>
                  <a:srgbClr val="61716F"/>
                </a:solidFill>
              </a:rPr>
              <a:t>5/29</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8F6"/>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8A5B"/>
          </a:solidFill>
          <a:ln w="12700">
            <a:solidFill>
              <a:srgbClr val="008A5B"/>
            </a:solidFill>
            <a:prstDash val="solid"/>
          </a:ln>
        </p:spPr>
      </p:sp>
      <p:sp>
        <p:nvSpPr>
          <p:cNvPr id="3" name="Text 1"/>
          <p:cNvSpPr/>
          <p:nvPr/>
        </p:nvSpPr>
        <p:spPr>
          <a:xfrm>
            <a:off x="411480" y="219456"/>
            <a:ext cx="9357055" cy="347472"/>
          </a:xfrm>
          <a:prstGeom prst="rect">
            <a:avLst/>
          </a:prstGeom>
          <a:noFill/>
          <a:ln/>
        </p:spPr>
        <p:txBody>
          <a:bodyPr wrap="square" lIns="0" tIns="0" rIns="0" bIns="0" rtlCol="0" anchor="ctr">
            <a:normAutofit/>
          </a:bodyPr>
          <a:lstStyle/>
          <a:p>
            <a:pPr marL="0" indent="0">
              <a:buNone/>
            </a:pPr>
            <a:r>
              <a:rPr lang="en-US" sz="2300" b="1" dirty="0">
                <a:solidFill>
                  <a:srgbClr val="1B2B2A"/>
                </a:solidFill>
              </a:rPr>
              <a:t>OnPush</a:t>
            </a:r>
            <a:endParaRPr lang="en-US" sz="2300" dirty="0"/>
          </a:p>
        </p:txBody>
      </p:sp>
      <p:sp>
        <p:nvSpPr>
          <p:cNvPr id="4" name="Text 2"/>
          <p:cNvSpPr/>
          <p:nvPr/>
        </p:nvSpPr>
        <p:spPr>
          <a:xfrm>
            <a:off x="10317175" y="246888"/>
            <a:ext cx="1463040" cy="219456"/>
          </a:xfrm>
          <a:prstGeom prst="rect">
            <a:avLst/>
          </a:prstGeom>
          <a:solidFill>
            <a:srgbClr val="CFEDE2"/>
          </a:solidFill>
          <a:ln>
            <a:solidFill>
              <a:srgbClr val="CFEDE2"/>
            </a:solidFill>
          </a:ln>
        </p:spPr>
        <p:txBody>
          <a:bodyPr wrap="square" lIns="254" tIns="254" rIns="254" bIns="254" rtlCol="0" anchor="ctr"/>
          <a:lstStyle/>
          <a:p>
            <a:pPr marL="0" indent="0" algn="ctr">
              <a:buNone/>
            </a:pPr>
            <a:r>
              <a:rPr lang="en-US" sz="800" b="1" dirty="0">
                <a:solidFill>
                  <a:srgbClr val="008A5B"/>
                </a:solidFill>
              </a:rPr>
              <a:t>BNP Paribas</a:t>
            </a:r>
            <a:endParaRPr lang="en-US" sz="800" dirty="0"/>
          </a:p>
        </p:txBody>
      </p:sp>
      <p:sp>
        <p:nvSpPr>
          <p:cNvPr id="6" name="Text 3"/>
          <p:cNvSpPr/>
          <p:nvPr/>
        </p:nvSpPr>
        <p:spPr>
          <a:xfrm>
            <a:off x="576072" y="932688"/>
            <a:ext cx="11204143" cy="329184"/>
          </a:xfrm>
          <a:prstGeom prst="rect">
            <a:avLst/>
          </a:prstGeom>
          <a:noFill/>
          <a:ln/>
        </p:spPr>
        <p:txBody>
          <a:bodyPr wrap="square" lIns="127" tIns="127" rIns="127" bIns="127" rtlCol="0" anchor="ctr">
            <a:normAutofit/>
          </a:bodyPr>
          <a:lstStyle/>
          <a:p>
            <a:r>
              <a:rPr lang="en-US" sz="1350" dirty="0">
                <a:solidFill>
                  <a:srgbClr val="263B38"/>
                </a:solidFill>
              </a:rPr>
              <a:t>un input change ;</a:t>
            </a:r>
            <a:endParaRPr lang="en-US" sz="1350" dirty="0"/>
          </a:p>
        </p:txBody>
      </p:sp>
      <p:sp>
        <p:nvSpPr>
          <p:cNvPr id="7" name="Text 4"/>
          <p:cNvSpPr/>
          <p:nvPr/>
        </p:nvSpPr>
        <p:spPr>
          <a:xfrm>
            <a:off x="576072" y="1316736"/>
            <a:ext cx="11204143" cy="329184"/>
          </a:xfrm>
          <a:prstGeom prst="rect">
            <a:avLst/>
          </a:prstGeom>
          <a:noFill/>
          <a:ln/>
        </p:spPr>
        <p:txBody>
          <a:bodyPr wrap="square" lIns="127" tIns="127" rIns="127" bIns="127" rtlCol="0" anchor="ctr">
            <a:normAutofit/>
          </a:bodyPr>
          <a:lstStyle/>
          <a:p>
            <a:r>
              <a:rPr lang="en-US" sz="1350" dirty="0">
                <a:solidFill>
                  <a:srgbClr val="263B38"/>
                </a:solidFill>
              </a:rPr>
              <a:t>un événement du template se produit ;</a:t>
            </a:r>
            <a:endParaRPr lang="en-US" sz="1350" dirty="0"/>
          </a:p>
        </p:txBody>
      </p:sp>
      <p:sp>
        <p:nvSpPr>
          <p:cNvPr id="8" name="Text 5"/>
          <p:cNvSpPr/>
          <p:nvPr/>
        </p:nvSpPr>
        <p:spPr>
          <a:xfrm>
            <a:off x="576072" y="1700784"/>
            <a:ext cx="11204143" cy="329184"/>
          </a:xfrm>
          <a:prstGeom prst="rect">
            <a:avLst/>
          </a:prstGeom>
          <a:noFill/>
          <a:ln/>
        </p:spPr>
        <p:txBody>
          <a:bodyPr wrap="square" lIns="127" tIns="127" rIns="127" bIns="127" rtlCol="0" anchor="ctr">
            <a:normAutofit/>
          </a:bodyPr>
          <a:lstStyle/>
          <a:p>
            <a:r>
              <a:rPr lang="en-US" sz="1350" dirty="0">
                <a:solidFill>
                  <a:srgbClr val="263B38"/>
                </a:solidFill>
              </a:rPr>
              <a:t>un signal lu dans le template change ;</a:t>
            </a:r>
            <a:endParaRPr lang="en-US" sz="1350" dirty="0"/>
          </a:p>
        </p:txBody>
      </p:sp>
      <p:sp>
        <p:nvSpPr>
          <p:cNvPr id="9" name="Text 6"/>
          <p:cNvSpPr/>
          <p:nvPr/>
        </p:nvSpPr>
        <p:spPr>
          <a:xfrm>
            <a:off x="576072" y="2084832"/>
            <a:ext cx="11204143" cy="329184"/>
          </a:xfrm>
          <a:prstGeom prst="rect">
            <a:avLst/>
          </a:prstGeom>
          <a:noFill/>
          <a:ln/>
        </p:spPr>
        <p:txBody>
          <a:bodyPr wrap="square" lIns="127" tIns="127" rIns="127" bIns="127" rtlCol="0" anchor="ctr">
            <a:normAutofit/>
          </a:bodyPr>
          <a:lstStyle/>
          <a:p>
            <a:r>
              <a:rPr lang="en-US" sz="1350" dirty="0">
                <a:solidFill>
                  <a:srgbClr val="263B38"/>
                </a:solidFill>
              </a:rPr>
              <a:t>une vérification est demandée explicitement.</a:t>
            </a:r>
            <a:endParaRPr lang="en-US" sz="1350" dirty="0"/>
          </a:p>
        </p:txBody>
      </p:sp>
      <p:sp>
        <p:nvSpPr>
          <p:cNvPr id="10" name="Text 7"/>
          <p:cNvSpPr/>
          <p:nvPr/>
        </p:nvSpPr>
        <p:spPr>
          <a:xfrm>
            <a:off x="411480" y="2468880"/>
            <a:ext cx="11368735" cy="2029968"/>
          </a:xfrm>
          <a:prstGeom prst="rect">
            <a:avLst/>
          </a:prstGeom>
          <a:solidFill>
            <a:srgbClr val="15332F"/>
          </a:solidFill>
          <a:ln/>
        </p:spPr>
        <p:txBody>
          <a:bodyPr wrap="square" lIns="1016" tIns="1016" rIns="1016" bIns="1016" rtlCol="0" anchor="t">
            <a:normAutofit/>
          </a:bodyPr>
          <a:lstStyle/>
          <a:p>
            <a:pPr marL="0" indent="0">
              <a:buNone/>
            </a:pPr>
            <a:r>
              <a:rPr lang="en-US" sz="1030" dirty="0">
                <a:solidFill>
                  <a:srgbClr val="F8FAFC"/>
                </a:solidFill>
                <a:latin typeface="Courier New" pitchFamily="34" charset="0"/>
                <a:ea typeface="Courier New" pitchFamily="34" charset="-122"/>
                <a:cs typeface="Courier New" pitchFamily="34" charset="-120"/>
              </a:rPr>
              <a:t>import { ChangeDetectorRef, inject } from '@angular/core';</a:t>
            </a:r>
            <a:endParaRPr lang="en-US" sz="1030" dirty="0"/>
          </a:p>
          <a:p>
            <a:pPr marL="0" indent="0">
              <a:buNone/>
            </a:pPr>
            <a:endParaRPr lang="en-US" sz="1030" dirty="0"/>
          </a:p>
          <a:p>
            <a:pPr marL="0" indent="0">
              <a:buNone/>
            </a:pPr>
            <a:r>
              <a:rPr lang="en-US" sz="1030" dirty="0">
                <a:solidFill>
                  <a:srgbClr val="F8FAFC"/>
                </a:solidFill>
                <a:latin typeface="Courier New" pitchFamily="34" charset="0"/>
                <a:ea typeface="Courier New" pitchFamily="34" charset="-122"/>
                <a:cs typeface="Courier New" pitchFamily="34" charset="-120"/>
              </a:rPr>
              <a:t>private readonly cdr = inject(ChangeDetectorRef);</a:t>
            </a:r>
            <a:endParaRPr lang="en-US" sz="1030" dirty="0"/>
          </a:p>
          <a:p>
            <a:pPr marL="0" indent="0">
              <a:buNone/>
            </a:pPr>
            <a:endParaRPr lang="en-US" sz="1030" dirty="0"/>
          </a:p>
          <a:p>
            <a:pPr marL="0" indent="0">
              <a:buNone/>
            </a:pPr>
            <a:r>
              <a:rPr lang="en-US" sz="1030" dirty="0">
                <a:solidFill>
                  <a:srgbClr val="F8FAFC"/>
                </a:solidFill>
                <a:latin typeface="Courier New" pitchFamily="34" charset="0"/>
                <a:ea typeface="Courier New" pitchFamily="34" charset="-122"/>
                <a:cs typeface="Courier New" pitchFamily="34" charset="-120"/>
              </a:rPr>
              <a:t>// Demande une vérification au prochain cycle</a:t>
            </a:r>
            <a:endParaRPr lang="en-US" sz="1030" dirty="0"/>
          </a:p>
          <a:p>
            <a:pPr marL="0" indent="0">
              <a:buNone/>
            </a:pPr>
            <a:r>
              <a:rPr lang="en-US" sz="1030" dirty="0">
                <a:solidFill>
                  <a:srgbClr val="F8FAFC"/>
                </a:solidFill>
                <a:latin typeface="Courier New" pitchFamily="34" charset="0"/>
                <a:ea typeface="Courier New" pitchFamily="34" charset="-122"/>
                <a:cs typeface="Courier New" pitchFamily="34" charset="-120"/>
              </a:rPr>
              <a:t>this.cdr.markForCheck();</a:t>
            </a:r>
            <a:endParaRPr lang="en-US" sz="1030" dirty="0"/>
          </a:p>
          <a:p>
            <a:pPr marL="0" indent="0">
              <a:buNone/>
            </a:pPr>
            <a:endParaRPr lang="en-US" sz="1030" dirty="0"/>
          </a:p>
          <a:p>
            <a:pPr marL="0" indent="0">
              <a:buNone/>
            </a:pPr>
            <a:r>
              <a:rPr lang="en-US" sz="1030" dirty="0">
                <a:solidFill>
                  <a:srgbClr val="F8FAFC"/>
                </a:solidFill>
                <a:latin typeface="Courier New" pitchFamily="34" charset="0"/>
                <a:ea typeface="Courier New" pitchFamily="34" charset="-122"/>
                <a:cs typeface="Courier New" pitchFamily="34" charset="-120"/>
              </a:rPr>
              <a:t>// Vérifie immédiatement cette vue et ses enfants</a:t>
            </a:r>
            <a:endParaRPr lang="en-US" sz="1030" dirty="0"/>
          </a:p>
          <a:p>
            <a:pPr marL="0" indent="0">
              <a:buNone/>
            </a:pPr>
            <a:r>
              <a:rPr lang="en-US" sz="1030" dirty="0">
                <a:solidFill>
                  <a:srgbClr val="F8FAFC"/>
                </a:solidFill>
                <a:latin typeface="Courier New" pitchFamily="34" charset="0"/>
                <a:ea typeface="Courier New" pitchFamily="34" charset="-122"/>
                <a:cs typeface="Courier New" pitchFamily="34" charset="-120"/>
              </a:rPr>
              <a:t>this.cdr.detectChanges();</a:t>
            </a:r>
            <a:endParaRPr lang="en-US" sz="1030" dirty="0"/>
          </a:p>
        </p:txBody>
      </p:sp>
      <p:sp>
        <p:nvSpPr>
          <p:cNvPr id="11" name="Text 8"/>
          <p:cNvSpPr/>
          <p:nvPr/>
        </p:nvSpPr>
        <p:spPr>
          <a:xfrm>
            <a:off x="11277295" y="6537960"/>
            <a:ext cx="502920" cy="182880"/>
          </a:xfrm>
          <a:prstGeom prst="rect">
            <a:avLst/>
          </a:prstGeom>
          <a:noFill/>
          <a:ln/>
        </p:spPr>
        <p:txBody>
          <a:bodyPr wrap="square" rtlCol="0" anchor="ctr"/>
          <a:lstStyle/>
          <a:p>
            <a:pPr marL="0" indent="0" algn="r">
              <a:buNone/>
            </a:pPr>
            <a:r>
              <a:rPr lang="en-US" sz="700" dirty="0">
                <a:solidFill>
                  <a:srgbClr val="61716F"/>
                </a:solidFill>
              </a:rPr>
              <a:t>6/29</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8F6"/>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8A5B"/>
          </a:solidFill>
          <a:ln w="12700">
            <a:solidFill>
              <a:srgbClr val="008A5B"/>
            </a:solidFill>
            <a:prstDash val="solid"/>
          </a:ln>
        </p:spPr>
      </p:sp>
      <p:sp>
        <p:nvSpPr>
          <p:cNvPr id="3" name="Text 1"/>
          <p:cNvSpPr/>
          <p:nvPr/>
        </p:nvSpPr>
        <p:spPr>
          <a:xfrm>
            <a:off x="411480" y="219456"/>
            <a:ext cx="9357055" cy="347472"/>
          </a:xfrm>
          <a:prstGeom prst="rect">
            <a:avLst/>
          </a:prstGeom>
          <a:noFill/>
          <a:ln/>
        </p:spPr>
        <p:txBody>
          <a:bodyPr wrap="square" lIns="0" tIns="0" rIns="0" bIns="0" rtlCol="0" anchor="ctr">
            <a:normAutofit/>
          </a:bodyPr>
          <a:lstStyle/>
          <a:p>
            <a:pPr marL="0" indent="0">
              <a:buNone/>
            </a:pPr>
            <a:r>
              <a:rPr lang="en-US" sz="2300" b="1" dirty="0">
                <a:solidFill>
                  <a:srgbClr val="1B2B2A"/>
                </a:solidFill>
              </a:rPr>
              <a:t>Zoneless</a:t>
            </a:r>
            <a:endParaRPr lang="en-US" sz="2300" dirty="0"/>
          </a:p>
        </p:txBody>
      </p:sp>
      <p:sp>
        <p:nvSpPr>
          <p:cNvPr id="4" name="Text 2"/>
          <p:cNvSpPr/>
          <p:nvPr/>
        </p:nvSpPr>
        <p:spPr>
          <a:xfrm>
            <a:off x="10317175" y="246888"/>
            <a:ext cx="1463040" cy="219456"/>
          </a:xfrm>
          <a:prstGeom prst="rect">
            <a:avLst/>
          </a:prstGeom>
          <a:solidFill>
            <a:srgbClr val="CFEDE2"/>
          </a:solidFill>
          <a:ln>
            <a:solidFill>
              <a:srgbClr val="CFEDE2"/>
            </a:solidFill>
          </a:ln>
        </p:spPr>
        <p:txBody>
          <a:bodyPr wrap="square" lIns="254" tIns="254" rIns="254" bIns="254" rtlCol="0" anchor="ctr"/>
          <a:lstStyle/>
          <a:p>
            <a:pPr marL="0" indent="0" algn="ctr">
              <a:buNone/>
            </a:pPr>
            <a:r>
              <a:rPr lang="en-US" sz="800" b="1" dirty="0">
                <a:solidFill>
                  <a:srgbClr val="008A5B"/>
                </a:solidFill>
              </a:rPr>
              <a:t>BNP Paribas</a:t>
            </a:r>
            <a:endParaRPr lang="en-US" sz="800" dirty="0"/>
          </a:p>
        </p:txBody>
      </p:sp>
      <p:sp>
        <p:nvSpPr>
          <p:cNvPr id="6" name="Text 3"/>
          <p:cNvSpPr/>
          <p:nvPr/>
        </p:nvSpPr>
        <p:spPr>
          <a:xfrm>
            <a:off x="576072" y="932688"/>
            <a:ext cx="11204143" cy="329184"/>
          </a:xfrm>
          <a:prstGeom prst="rect">
            <a:avLst/>
          </a:prstGeom>
          <a:noFill/>
          <a:ln/>
        </p:spPr>
        <p:txBody>
          <a:bodyPr wrap="square" lIns="127" tIns="127" rIns="127" bIns="127" rtlCol="0" anchor="ctr">
            <a:normAutofit/>
          </a:bodyPr>
          <a:lstStyle/>
          <a:p>
            <a:r>
              <a:rPr lang="en-US" sz="1350" dirty="0">
                <a:solidFill>
                  <a:srgbClr val="263B38"/>
                </a:solidFill>
              </a:rPr>
              <a:t>signals lus par les templates ;</a:t>
            </a:r>
            <a:endParaRPr lang="en-US" sz="1350" dirty="0"/>
          </a:p>
        </p:txBody>
      </p:sp>
      <p:sp>
        <p:nvSpPr>
          <p:cNvPr id="7" name="Text 4"/>
          <p:cNvSpPr/>
          <p:nvPr/>
        </p:nvSpPr>
        <p:spPr>
          <a:xfrm>
            <a:off x="576072" y="1316736"/>
            <a:ext cx="11204143" cy="329184"/>
          </a:xfrm>
          <a:prstGeom prst="rect">
            <a:avLst/>
          </a:prstGeom>
          <a:noFill/>
          <a:ln/>
        </p:spPr>
        <p:txBody>
          <a:bodyPr wrap="square" lIns="127" tIns="127" rIns="127" bIns="127" rtlCol="0" anchor="ctr">
            <a:normAutofit/>
          </a:bodyPr>
          <a:lstStyle/>
          <a:p>
            <a:r>
              <a:rPr lang="en-US" sz="1350" dirty="0">
                <a:solidFill>
                  <a:srgbClr val="263B38"/>
                </a:solidFill>
              </a:rPr>
              <a:t>input() / output() ;</a:t>
            </a:r>
            <a:endParaRPr lang="en-US" sz="1350" dirty="0"/>
          </a:p>
        </p:txBody>
      </p:sp>
      <p:sp>
        <p:nvSpPr>
          <p:cNvPr id="8" name="Text 5"/>
          <p:cNvSpPr/>
          <p:nvPr/>
        </p:nvSpPr>
        <p:spPr>
          <a:xfrm>
            <a:off x="576072" y="1700784"/>
            <a:ext cx="11204143" cy="329184"/>
          </a:xfrm>
          <a:prstGeom prst="rect">
            <a:avLst/>
          </a:prstGeom>
          <a:noFill/>
          <a:ln/>
        </p:spPr>
        <p:txBody>
          <a:bodyPr wrap="square" lIns="127" tIns="127" rIns="127" bIns="127" rtlCol="0" anchor="ctr">
            <a:normAutofit/>
          </a:bodyPr>
          <a:lstStyle/>
          <a:p>
            <a:r>
              <a:rPr lang="en-US" sz="1350" dirty="0">
                <a:solidFill>
                  <a:srgbClr val="263B38"/>
                </a:solidFill>
              </a:rPr>
              <a:t>async pipe ;</a:t>
            </a:r>
            <a:endParaRPr lang="en-US" sz="1350" dirty="0"/>
          </a:p>
        </p:txBody>
      </p:sp>
      <p:sp>
        <p:nvSpPr>
          <p:cNvPr id="9" name="Text 6"/>
          <p:cNvSpPr/>
          <p:nvPr/>
        </p:nvSpPr>
        <p:spPr>
          <a:xfrm>
            <a:off x="576072" y="2084832"/>
            <a:ext cx="11204143" cy="329184"/>
          </a:xfrm>
          <a:prstGeom prst="rect">
            <a:avLst/>
          </a:prstGeom>
          <a:noFill/>
          <a:ln/>
        </p:spPr>
        <p:txBody>
          <a:bodyPr wrap="square" lIns="127" tIns="127" rIns="127" bIns="127" rtlCol="0" anchor="ctr">
            <a:normAutofit/>
          </a:bodyPr>
          <a:lstStyle/>
          <a:p>
            <a:r>
              <a:rPr lang="en-US" sz="1350" dirty="0">
                <a:solidFill>
                  <a:srgbClr val="263B38"/>
                </a:solidFill>
              </a:rPr>
              <a:t>appels explicites de détection si nécessaire.</a:t>
            </a:r>
            <a:endParaRPr lang="en-US" sz="1350" dirty="0"/>
          </a:p>
        </p:txBody>
      </p:sp>
      <p:sp>
        <p:nvSpPr>
          <p:cNvPr id="10" name="Text 7"/>
          <p:cNvSpPr/>
          <p:nvPr/>
        </p:nvSpPr>
        <p:spPr>
          <a:xfrm>
            <a:off x="411480" y="2468880"/>
            <a:ext cx="11368735" cy="1024128"/>
          </a:xfrm>
          <a:prstGeom prst="rect">
            <a:avLst/>
          </a:prstGeom>
          <a:solidFill>
            <a:srgbClr val="15332F"/>
          </a:solidFill>
          <a:ln/>
        </p:spPr>
        <p:txBody>
          <a:bodyPr wrap="square" lIns="1016" tIns="1016" rIns="1016" bIns="1016" rtlCol="0" anchor="t">
            <a:normAutofit/>
          </a:bodyPr>
          <a:lstStyle/>
          <a:p>
            <a:pPr marL="0" indent="0">
              <a:buNone/>
            </a:pPr>
            <a:r>
              <a:rPr lang="en-US" sz="1030" dirty="0">
                <a:solidFill>
                  <a:srgbClr val="F8FAFC"/>
                </a:solidFill>
                <a:latin typeface="Courier New" pitchFamily="34" charset="0"/>
                <a:ea typeface="Courier New" pitchFamily="34" charset="-122"/>
                <a:cs typeface="Courier New" pitchFamily="34" charset="-120"/>
              </a:rPr>
              <a:t>Zone.js (défaut)</a:t>
            </a:r>
            <a:endParaRPr lang="en-US" sz="1030" dirty="0"/>
          </a:p>
          <a:p>
            <a:pPr marL="0" indent="0">
              <a:buNone/>
            </a:pPr>
            <a:r>
              <a:rPr lang="en-US" sz="1030" dirty="0">
                <a:solidFill>
                  <a:srgbClr val="F8FAFC"/>
                </a:solidFill>
                <a:latin typeface="Courier New" pitchFamily="34" charset="0"/>
                <a:ea typeface="Courier New" pitchFamily="34" charset="-122"/>
                <a:cs typeface="Courier New" pitchFamily="34" charset="-120"/>
              </a:rPr>
              <a:t>  → ajouter OnPush sur chaque composant</a:t>
            </a:r>
            <a:endParaRPr lang="en-US" sz="1030" dirty="0"/>
          </a:p>
          <a:p>
            <a:pPr marL="0" indent="0">
              <a:buNone/>
            </a:pPr>
            <a:r>
              <a:rPr lang="en-US" sz="1030" dirty="0">
                <a:solidFill>
                  <a:srgbClr val="F8FAFC"/>
                </a:solidFill>
                <a:latin typeface="Courier New" pitchFamily="34" charset="0"/>
                <a:ea typeface="Courier New" pitchFamily="34" charset="-122"/>
                <a:cs typeface="Courier New" pitchFamily="34" charset="-120"/>
              </a:rPr>
              <a:t>    → migrer les états vers signal() / input() / output()</a:t>
            </a:r>
            <a:endParaRPr lang="en-US" sz="1030" dirty="0"/>
          </a:p>
          <a:p>
            <a:pPr marL="0" indent="0">
              <a:buNone/>
            </a:pPr>
            <a:r>
              <a:rPr lang="en-US" sz="1030" dirty="0">
                <a:solidFill>
                  <a:srgbClr val="F8FAFC"/>
                </a:solidFill>
                <a:latin typeface="Courier New" pitchFamily="34" charset="0"/>
                <a:ea typeface="Courier New" pitchFamily="34" charset="-122"/>
                <a:cs typeface="Courier New" pitchFamily="34" charset="-120"/>
              </a:rPr>
              <a:t>      → provideZonelessChangeDetection() + supprimer zone.js</a:t>
            </a:r>
            <a:endParaRPr lang="en-US" sz="1030" dirty="0"/>
          </a:p>
        </p:txBody>
      </p:sp>
      <p:sp>
        <p:nvSpPr>
          <p:cNvPr id="11" name="Text 8"/>
          <p:cNvSpPr/>
          <p:nvPr/>
        </p:nvSpPr>
        <p:spPr>
          <a:xfrm>
            <a:off x="411480" y="3639312"/>
            <a:ext cx="11368735" cy="1225296"/>
          </a:xfrm>
          <a:prstGeom prst="rect">
            <a:avLst/>
          </a:prstGeom>
          <a:solidFill>
            <a:srgbClr val="15332F"/>
          </a:solidFill>
          <a:ln/>
        </p:spPr>
        <p:txBody>
          <a:bodyPr wrap="square" lIns="1016" tIns="1016" rIns="1016" bIns="1016" rtlCol="0" anchor="t">
            <a:normAutofit/>
          </a:bodyPr>
          <a:lstStyle/>
          <a:p>
            <a:pPr marL="0" indent="0">
              <a:buNone/>
            </a:pPr>
            <a:r>
              <a:rPr lang="en-US" sz="1030" dirty="0">
                <a:solidFill>
                  <a:srgbClr val="F8FAFC"/>
                </a:solidFill>
                <a:latin typeface="Courier New" pitchFamily="34" charset="0"/>
                <a:ea typeface="Courier New" pitchFamily="34" charset="-122"/>
                <a:cs typeface="Courier New" pitchFamily="34" charset="-120"/>
              </a:rPr>
              <a:t>// app.config.ts — activer zoneless (Angular 21, stable)</a:t>
            </a:r>
            <a:endParaRPr lang="en-US" sz="1030" dirty="0"/>
          </a:p>
          <a:p>
            <a:pPr marL="0" indent="0">
              <a:buNone/>
            </a:pPr>
            <a:r>
              <a:rPr lang="en-US" sz="1030" dirty="0">
                <a:solidFill>
                  <a:srgbClr val="F8FAFC"/>
                </a:solidFill>
                <a:latin typeface="Courier New" pitchFamily="34" charset="0"/>
                <a:ea typeface="Courier New" pitchFamily="34" charset="-122"/>
                <a:cs typeface="Courier New" pitchFamily="34" charset="-120"/>
              </a:rPr>
              <a:t>provideZonelessChangeDetection()</a:t>
            </a:r>
            <a:endParaRPr lang="en-US" sz="1030" dirty="0"/>
          </a:p>
          <a:p>
            <a:pPr marL="0" indent="0">
              <a:buNone/>
            </a:pPr>
            <a:endParaRPr lang="en-US" sz="1030" dirty="0"/>
          </a:p>
          <a:p>
            <a:pPr marL="0" indent="0">
              <a:buNone/>
            </a:pPr>
            <a:r>
              <a:rPr lang="en-US" sz="1030" dirty="0">
                <a:solidFill>
                  <a:srgbClr val="F8FAFC"/>
                </a:solidFill>
                <a:latin typeface="Courier New" pitchFamily="34" charset="0"/>
                <a:ea typeface="Courier New" pitchFamily="34" charset="-122"/>
                <a:cs typeface="Courier New" pitchFamily="34" charset="-120"/>
              </a:rPr>
              <a:t>// angular.json — retirer zone.js des polyfills</a:t>
            </a:r>
            <a:endParaRPr lang="en-US" sz="1030" dirty="0"/>
          </a:p>
          <a:p>
            <a:pPr marL="0" indent="0">
              <a:buNone/>
            </a:pPr>
            <a:r>
              <a:rPr lang="en-US" sz="1030" dirty="0">
                <a:solidFill>
                  <a:srgbClr val="F8FAFC"/>
                </a:solidFill>
                <a:latin typeface="Courier New" pitchFamily="34" charset="0"/>
                <a:ea typeface="Courier New" pitchFamily="34" charset="-122"/>
                <a:cs typeface="Courier New" pitchFamily="34" charset="-120"/>
              </a:rPr>
              <a:t>"polyfills": []</a:t>
            </a:r>
            <a:endParaRPr lang="en-US" sz="1030" dirty="0"/>
          </a:p>
        </p:txBody>
      </p:sp>
      <p:sp>
        <p:nvSpPr>
          <p:cNvPr id="12" name="Text 9"/>
          <p:cNvSpPr/>
          <p:nvPr/>
        </p:nvSpPr>
        <p:spPr>
          <a:xfrm>
            <a:off x="11277295" y="6537960"/>
            <a:ext cx="502920" cy="182880"/>
          </a:xfrm>
          <a:prstGeom prst="rect">
            <a:avLst/>
          </a:prstGeom>
          <a:noFill/>
          <a:ln/>
        </p:spPr>
        <p:txBody>
          <a:bodyPr wrap="square" rtlCol="0" anchor="ctr"/>
          <a:lstStyle/>
          <a:p>
            <a:pPr marL="0" indent="0" algn="r">
              <a:buNone/>
            </a:pPr>
            <a:r>
              <a:rPr lang="en-US" sz="700" dirty="0">
                <a:solidFill>
                  <a:srgbClr val="61716F"/>
                </a:solidFill>
              </a:rPr>
              <a:t>7/29</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8F6"/>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8A5B"/>
          </a:solidFill>
          <a:ln w="12700">
            <a:solidFill>
              <a:srgbClr val="008A5B"/>
            </a:solidFill>
            <a:prstDash val="solid"/>
          </a:ln>
        </p:spPr>
      </p:sp>
      <p:sp>
        <p:nvSpPr>
          <p:cNvPr id="3" name="Text 1"/>
          <p:cNvSpPr/>
          <p:nvPr/>
        </p:nvSpPr>
        <p:spPr>
          <a:xfrm>
            <a:off x="411480" y="219456"/>
            <a:ext cx="9357055" cy="347472"/>
          </a:xfrm>
          <a:prstGeom prst="rect">
            <a:avLst/>
          </a:prstGeom>
          <a:noFill/>
          <a:ln/>
        </p:spPr>
        <p:txBody>
          <a:bodyPr wrap="square" lIns="0" tIns="0" rIns="0" bIns="0" rtlCol="0" anchor="ctr">
            <a:normAutofit/>
          </a:bodyPr>
          <a:lstStyle/>
          <a:p>
            <a:pPr marL="0" indent="0">
              <a:buNone/>
            </a:pPr>
            <a:r>
              <a:rPr lang="en-US" sz="2300" b="1" dirty="0">
                <a:solidFill>
                  <a:srgbClr val="1B2B2A"/>
                </a:solidFill>
              </a:rPr>
              <a:t>Mapping exercices / branches / fichiers</a:t>
            </a:r>
            <a:endParaRPr lang="en-US" sz="2300" dirty="0"/>
          </a:p>
        </p:txBody>
      </p:sp>
      <p:sp>
        <p:nvSpPr>
          <p:cNvPr id="4" name="Text 2"/>
          <p:cNvSpPr/>
          <p:nvPr/>
        </p:nvSpPr>
        <p:spPr>
          <a:xfrm>
            <a:off x="10317175" y="246888"/>
            <a:ext cx="1463040" cy="219456"/>
          </a:xfrm>
          <a:prstGeom prst="rect">
            <a:avLst/>
          </a:prstGeom>
          <a:solidFill>
            <a:srgbClr val="CFEDE2"/>
          </a:solidFill>
          <a:ln>
            <a:solidFill>
              <a:srgbClr val="CFEDE2"/>
            </a:solidFill>
          </a:ln>
        </p:spPr>
        <p:txBody>
          <a:bodyPr wrap="square" lIns="254" tIns="254" rIns="254" bIns="254" rtlCol="0" anchor="ctr"/>
          <a:lstStyle/>
          <a:p>
            <a:pPr marL="0" indent="0" algn="ctr">
              <a:buNone/>
            </a:pPr>
            <a:r>
              <a:rPr lang="en-US" sz="800" b="1" dirty="0">
                <a:solidFill>
                  <a:srgbClr val="008A5B"/>
                </a:solidFill>
              </a:rPr>
              <a:t>BNP Paribas</a:t>
            </a:r>
            <a:endParaRPr lang="en-US" sz="800" dirty="0"/>
          </a:p>
        </p:txBody>
      </p:sp>
      <p:sp>
        <p:nvSpPr>
          <p:cNvPr id="5" name="Shape 3"/>
          <p:cNvSpPr/>
          <p:nvPr/>
        </p:nvSpPr>
        <p:spPr>
          <a:xfrm>
            <a:off x="411480" y="932688"/>
            <a:ext cx="685800" cy="384048"/>
          </a:xfrm>
          <a:prstGeom prst="rect">
            <a:avLst/>
          </a:prstGeom>
          <a:solidFill>
            <a:srgbClr val="008A5B"/>
          </a:solidFill>
          <a:ln w="12700">
            <a:solidFill>
              <a:srgbClr val="D6E5E0"/>
            </a:solidFill>
            <a:prstDash val="solid"/>
          </a:ln>
        </p:spPr>
      </p:sp>
      <p:sp>
        <p:nvSpPr>
          <p:cNvPr id="6" name="Text 4"/>
          <p:cNvSpPr/>
          <p:nvPr/>
        </p:nvSpPr>
        <p:spPr>
          <a:xfrm>
            <a:off x="448056" y="960120"/>
            <a:ext cx="612648" cy="329184"/>
          </a:xfrm>
          <a:prstGeom prst="rect">
            <a:avLst/>
          </a:prstGeom>
          <a:noFill/>
          <a:ln/>
        </p:spPr>
        <p:txBody>
          <a:bodyPr wrap="square" lIns="127" tIns="127" rIns="127" bIns="127" rtlCol="0" anchor="ctr">
            <a:normAutofit/>
          </a:bodyPr>
          <a:lstStyle/>
          <a:p>
            <a:pPr marL="0" indent="0">
              <a:buNone/>
            </a:pPr>
            <a:r>
              <a:rPr lang="en-US" sz="880" b="1" dirty="0">
                <a:solidFill>
                  <a:srgbClr val="FFFFFF"/>
                </a:solidFill>
              </a:rPr>
              <a:t>Exercice</a:t>
            </a:r>
            <a:endParaRPr lang="en-US" sz="880" dirty="0"/>
          </a:p>
        </p:txBody>
      </p:sp>
      <p:sp>
        <p:nvSpPr>
          <p:cNvPr id="7" name="Shape 5"/>
          <p:cNvSpPr/>
          <p:nvPr/>
        </p:nvSpPr>
        <p:spPr>
          <a:xfrm>
            <a:off x="1097280" y="932688"/>
            <a:ext cx="2240280" cy="384048"/>
          </a:xfrm>
          <a:prstGeom prst="rect">
            <a:avLst/>
          </a:prstGeom>
          <a:solidFill>
            <a:srgbClr val="008A5B"/>
          </a:solidFill>
          <a:ln w="12700">
            <a:solidFill>
              <a:srgbClr val="D6E5E0"/>
            </a:solidFill>
            <a:prstDash val="solid"/>
          </a:ln>
        </p:spPr>
      </p:sp>
      <p:sp>
        <p:nvSpPr>
          <p:cNvPr id="8" name="Text 6"/>
          <p:cNvSpPr/>
          <p:nvPr/>
        </p:nvSpPr>
        <p:spPr>
          <a:xfrm>
            <a:off x="1133856" y="960120"/>
            <a:ext cx="2167128" cy="329184"/>
          </a:xfrm>
          <a:prstGeom prst="rect">
            <a:avLst/>
          </a:prstGeom>
          <a:noFill/>
          <a:ln/>
        </p:spPr>
        <p:txBody>
          <a:bodyPr wrap="square" lIns="127" tIns="127" rIns="127" bIns="127" rtlCol="0" anchor="ctr">
            <a:normAutofit/>
          </a:bodyPr>
          <a:lstStyle/>
          <a:p>
            <a:pPr marL="0" indent="0">
              <a:buNone/>
            </a:pPr>
            <a:r>
              <a:rPr lang="en-US" sz="880" b="1" dirty="0">
                <a:solidFill>
                  <a:srgbClr val="FFFFFF"/>
                </a:solidFill>
              </a:rPr>
              <a:t>Branche</a:t>
            </a:r>
            <a:endParaRPr lang="en-US" sz="880" dirty="0"/>
          </a:p>
        </p:txBody>
      </p:sp>
      <p:sp>
        <p:nvSpPr>
          <p:cNvPr id="9" name="Shape 7"/>
          <p:cNvSpPr/>
          <p:nvPr/>
        </p:nvSpPr>
        <p:spPr>
          <a:xfrm>
            <a:off x="3337560" y="932688"/>
            <a:ext cx="2606040" cy="384048"/>
          </a:xfrm>
          <a:prstGeom prst="rect">
            <a:avLst/>
          </a:prstGeom>
          <a:solidFill>
            <a:srgbClr val="008A5B"/>
          </a:solidFill>
          <a:ln w="12700">
            <a:solidFill>
              <a:srgbClr val="D6E5E0"/>
            </a:solidFill>
            <a:prstDash val="solid"/>
          </a:ln>
        </p:spPr>
      </p:sp>
      <p:sp>
        <p:nvSpPr>
          <p:cNvPr id="10" name="Text 8"/>
          <p:cNvSpPr/>
          <p:nvPr/>
        </p:nvSpPr>
        <p:spPr>
          <a:xfrm>
            <a:off x="3374136" y="960120"/>
            <a:ext cx="2532888" cy="329184"/>
          </a:xfrm>
          <a:prstGeom prst="rect">
            <a:avLst/>
          </a:prstGeom>
          <a:noFill/>
          <a:ln/>
        </p:spPr>
        <p:txBody>
          <a:bodyPr wrap="square" lIns="127" tIns="127" rIns="127" bIns="127" rtlCol="0" anchor="ctr">
            <a:normAutofit/>
          </a:bodyPr>
          <a:lstStyle/>
          <a:p>
            <a:pPr marL="0" indent="0">
              <a:buNone/>
            </a:pPr>
            <a:r>
              <a:rPr lang="en-US" sz="880" b="1" dirty="0">
                <a:solidFill>
                  <a:srgbClr val="FFFFFF"/>
                </a:solidFill>
              </a:rPr>
              <a:t>Concept</a:t>
            </a:r>
            <a:endParaRPr lang="en-US" sz="880" dirty="0"/>
          </a:p>
        </p:txBody>
      </p:sp>
      <p:sp>
        <p:nvSpPr>
          <p:cNvPr id="11" name="Shape 9"/>
          <p:cNvSpPr/>
          <p:nvPr/>
        </p:nvSpPr>
        <p:spPr>
          <a:xfrm>
            <a:off x="5943600" y="932688"/>
            <a:ext cx="5836615" cy="384048"/>
          </a:xfrm>
          <a:prstGeom prst="rect">
            <a:avLst/>
          </a:prstGeom>
          <a:solidFill>
            <a:srgbClr val="008A5B"/>
          </a:solidFill>
          <a:ln w="12700">
            <a:solidFill>
              <a:srgbClr val="D6E5E0"/>
            </a:solidFill>
            <a:prstDash val="solid"/>
          </a:ln>
        </p:spPr>
      </p:sp>
      <p:sp>
        <p:nvSpPr>
          <p:cNvPr id="12" name="Text 10"/>
          <p:cNvSpPr/>
          <p:nvPr/>
        </p:nvSpPr>
        <p:spPr>
          <a:xfrm>
            <a:off x="5980176" y="960120"/>
            <a:ext cx="5763463" cy="329184"/>
          </a:xfrm>
          <a:prstGeom prst="rect">
            <a:avLst/>
          </a:prstGeom>
          <a:noFill/>
          <a:ln/>
        </p:spPr>
        <p:txBody>
          <a:bodyPr wrap="square" lIns="127" tIns="127" rIns="127" bIns="127" rtlCol="0" anchor="ctr">
            <a:normAutofit/>
          </a:bodyPr>
          <a:lstStyle/>
          <a:p>
            <a:pPr marL="0" indent="0">
              <a:buNone/>
            </a:pPr>
            <a:r>
              <a:rPr lang="en-US" sz="880" b="1" dirty="0">
                <a:solidFill>
                  <a:srgbClr val="FFFFFF"/>
                </a:solidFill>
              </a:rPr>
              <a:t>Fichiers principaux</a:t>
            </a:r>
            <a:endParaRPr lang="en-US" sz="880" dirty="0"/>
          </a:p>
        </p:txBody>
      </p:sp>
      <p:sp>
        <p:nvSpPr>
          <p:cNvPr id="13" name="Shape 11"/>
          <p:cNvSpPr/>
          <p:nvPr/>
        </p:nvSpPr>
        <p:spPr>
          <a:xfrm>
            <a:off x="411480" y="1316736"/>
            <a:ext cx="685800" cy="384048"/>
          </a:xfrm>
          <a:prstGeom prst="rect">
            <a:avLst/>
          </a:prstGeom>
          <a:solidFill>
            <a:srgbClr val="FFFFFF"/>
          </a:solidFill>
          <a:ln w="12700">
            <a:solidFill>
              <a:srgbClr val="D6E5E0"/>
            </a:solidFill>
            <a:prstDash val="solid"/>
          </a:ln>
        </p:spPr>
      </p:sp>
      <p:sp>
        <p:nvSpPr>
          <p:cNvPr id="14" name="Text 12"/>
          <p:cNvSpPr/>
          <p:nvPr/>
        </p:nvSpPr>
        <p:spPr>
          <a:xfrm>
            <a:off x="448056" y="1344168"/>
            <a:ext cx="612648" cy="329184"/>
          </a:xfrm>
          <a:prstGeom prst="rect">
            <a:avLst/>
          </a:prstGeom>
          <a:noFill/>
          <a:ln/>
        </p:spPr>
        <p:txBody>
          <a:bodyPr wrap="square" lIns="127" tIns="127" rIns="127" bIns="127" rtlCol="0" anchor="ctr">
            <a:normAutofit/>
          </a:bodyPr>
          <a:lstStyle/>
          <a:p>
            <a:pPr marL="0" indent="0">
              <a:buNone/>
            </a:pPr>
            <a:r>
              <a:rPr lang="en-US" sz="880" dirty="0">
                <a:solidFill>
                  <a:srgbClr val="263B38"/>
                </a:solidFill>
              </a:rPr>
              <a:t>1</a:t>
            </a:r>
            <a:endParaRPr lang="en-US" sz="880" dirty="0"/>
          </a:p>
        </p:txBody>
      </p:sp>
      <p:sp>
        <p:nvSpPr>
          <p:cNvPr id="15" name="Shape 13"/>
          <p:cNvSpPr/>
          <p:nvPr/>
        </p:nvSpPr>
        <p:spPr>
          <a:xfrm>
            <a:off x="1097280" y="1316736"/>
            <a:ext cx="2240280" cy="384048"/>
          </a:xfrm>
          <a:prstGeom prst="rect">
            <a:avLst/>
          </a:prstGeom>
          <a:solidFill>
            <a:srgbClr val="FFFFFF"/>
          </a:solidFill>
          <a:ln w="12700">
            <a:solidFill>
              <a:srgbClr val="D6E5E0"/>
            </a:solidFill>
            <a:prstDash val="solid"/>
          </a:ln>
        </p:spPr>
      </p:sp>
      <p:sp>
        <p:nvSpPr>
          <p:cNvPr id="16" name="Text 14"/>
          <p:cNvSpPr/>
          <p:nvPr/>
        </p:nvSpPr>
        <p:spPr>
          <a:xfrm>
            <a:off x="1133856" y="1344168"/>
            <a:ext cx="2167128" cy="329184"/>
          </a:xfrm>
          <a:prstGeom prst="rect">
            <a:avLst/>
          </a:prstGeom>
          <a:noFill/>
          <a:ln/>
        </p:spPr>
        <p:txBody>
          <a:bodyPr wrap="square" lIns="127" tIns="127" rIns="127" bIns="127" rtlCol="0" anchor="ctr">
            <a:normAutofit/>
          </a:bodyPr>
          <a:lstStyle/>
          <a:p>
            <a:pPr marL="0" indent="0">
              <a:buNone/>
            </a:pPr>
            <a:r>
              <a:rPr lang="en-US" sz="880" dirty="0">
                <a:solidFill>
                  <a:srgbClr val="263B38"/>
                </a:solidFill>
              </a:rPr>
              <a:t>exercice-1</a:t>
            </a:r>
            <a:endParaRPr lang="en-US" sz="880" dirty="0"/>
          </a:p>
        </p:txBody>
      </p:sp>
      <p:sp>
        <p:nvSpPr>
          <p:cNvPr id="17" name="Shape 15"/>
          <p:cNvSpPr/>
          <p:nvPr/>
        </p:nvSpPr>
        <p:spPr>
          <a:xfrm>
            <a:off x="3337560" y="1316736"/>
            <a:ext cx="2606040" cy="384048"/>
          </a:xfrm>
          <a:prstGeom prst="rect">
            <a:avLst/>
          </a:prstGeom>
          <a:solidFill>
            <a:srgbClr val="FFFFFF"/>
          </a:solidFill>
          <a:ln w="12700">
            <a:solidFill>
              <a:srgbClr val="D6E5E0"/>
            </a:solidFill>
            <a:prstDash val="solid"/>
          </a:ln>
        </p:spPr>
      </p:sp>
      <p:sp>
        <p:nvSpPr>
          <p:cNvPr id="18" name="Text 16"/>
          <p:cNvSpPr/>
          <p:nvPr/>
        </p:nvSpPr>
        <p:spPr>
          <a:xfrm>
            <a:off x="3374136" y="1344168"/>
            <a:ext cx="2532888" cy="329184"/>
          </a:xfrm>
          <a:prstGeom prst="rect">
            <a:avLst/>
          </a:prstGeom>
          <a:noFill/>
          <a:ln/>
        </p:spPr>
        <p:txBody>
          <a:bodyPr wrap="square" lIns="127" tIns="127" rIns="127" bIns="127" rtlCol="0" anchor="ctr">
            <a:normAutofit/>
          </a:bodyPr>
          <a:lstStyle/>
          <a:p>
            <a:pPr marL="0" indent="0">
              <a:buNone/>
            </a:pPr>
            <a:r>
              <a:rPr lang="en-US" sz="880" dirty="0">
                <a:solidFill>
                  <a:srgbClr val="263B38"/>
                </a:solidFill>
              </a:rPr>
              <a:t>signal()</a:t>
            </a:r>
            <a:endParaRPr lang="en-US" sz="880" dirty="0"/>
          </a:p>
        </p:txBody>
      </p:sp>
      <p:sp>
        <p:nvSpPr>
          <p:cNvPr id="19" name="Shape 17"/>
          <p:cNvSpPr/>
          <p:nvPr/>
        </p:nvSpPr>
        <p:spPr>
          <a:xfrm>
            <a:off x="5943600" y="1316736"/>
            <a:ext cx="5836615" cy="384048"/>
          </a:xfrm>
          <a:prstGeom prst="rect">
            <a:avLst/>
          </a:prstGeom>
          <a:solidFill>
            <a:srgbClr val="FFFFFF"/>
          </a:solidFill>
          <a:ln w="12700">
            <a:solidFill>
              <a:srgbClr val="D6E5E0"/>
            </a:solidFill>
            <a:prstDash val="solid"/>
          </a:ln>
        </p:spPr>
      </p:sp>
      <p:sp>
        <p:nvSpPr>
          <p:cNvPr id="20" name="Text 18"/>
          <p:cNvSpPr/>
          <p:nvPr/>
        </p:nvSpPr>
        <p:spPr>
          <a:xfrm>
            <a:off x="5980176" y="1344168"/>
            <a:ext cx="5763463" cy="329184"/>
          </a:xfrm>
          <a:prstGeom prst="rect">
            <a:avLst/>
          </a:prstGeom>
          <a:noFill/>
          <a:ln/>
        </p:spPr>
        <p:txBody>
          <a:bodyPr wrap="square" lIns="127" tIns="127" rIns="127" bIns="127" rtlCol="0" anchor="ctr">
            <a:normAutofit/>
          </a:bodyPr>
          <a:lstStyle/>
          <a:p>
            <a:pPr marL="0" indent="0">
              <a:buNone/>
            </a:pPr>
            <a:r>
              <a:rPr lang="en-US" sz="880" dirty="0">
                <a:solidFill>
                  <a:srgbClr val="263B38"/>
                </a:solidFill>
              </a:rPr>
              <a:t>clients.component.ts, clients.component.html, clients.component.spec.ts</a:t>
            </a:r>
            <a:endParaRPr lang="en-US" sz="880" dirty="0"/>
          </a:p>
        </p:txBody>
      </p:sp>
      <p:sp>
        <p:nvSpPr>
          <p:cNvPr id="21" name="Shape 19"/>
          <p:cNvSpPr/>
          <p:nvPr/>
        </p:nvSpPr>
        <p:spPr>
          <a:xfrm>
            <a:off x="411480" y="1700784"/>
            <a:ext cx="685800" cy="384048"/>
          </a:xfrm>
          <a:prstGeom prst="rect">
            <a:avLst/>
          </a:prstGeom>
          <a:solidFill>
            <a:srgbClr val="F3F8F6"/>
          </a:solidFill>
          <a:ln w="12700">
            <a:solidFill>
              <a:srgbClr val="D6E5E0"/>
            </a:solidFill>
            <a:prstDash val="solid"/>
          </a:ln>
        </p:spPr>
      </p:sp>
      <p:sp>
        <p:nvSpPr>
          <p:cNvPr id="22" name="Text 20"/>
          <p:cNvSpPr/>
          <p:nvPr/>
        </p:nvSpPr>
        <p:spPr>
          <a:xfrm>
            <a:off x="448056" y="1728216"/>
            <a:ext cx="612648" cy="329184"/>
          </a:xfrm>
          <a:prstGeom prst="rect">
            <a:avLst/>
          </a:prstGeom>
          <a:noFill/>
          <a:ln/>
        </p:spPr>
        <p:txBody>
          <a:bodyPr wrap="square" lIns="127" tIns="127" rIns="127" bIns="127" rtlCol="0" anchor="ctr">
            <a:normAutofit/>
          </a:bodyPr>
          <a:lstStyle/>
          <a:p>
            <a:pPr marL="0" indent="0">
              <a:buNone/>
            </a:pPr>
            <a:r>
              <a:rPr lang="en-US" sz="880" dirty="0">
                <a:solidFill>
                  <a:srgbClr val="263B38"/>
                </a:solidFill>
              </a:rPr>
              <a:t>2</a:t>
            </a:r>
            <a:endParaRPr lang="en-US" sz="880" dirty="0"/>
          </a:p>
        </p:txBody>
      </p:sp>
      <p:sp>
        <p:nvSpPr>
          <p:cNvPr id="23" name="Shape 21"/>
          <p:cNvSpPr/>
          <p:nvPr/>
        </p:nvSpPr>
        <p:spPr>
          <a:xfrm>
            <a:off x="1097280" y="1700784"/>
            <a:ext cx="2240280" cy="384048"/>
          </a:xfrm>
          <a:prstGeom prst="rect">
            <a:avLst/>
          </a:prstGeom>
          <a:solidFill>
            <a:srgbClr val="F3F8F6"/>
          </a:solidFill>
          <a:ln w="12700">
            <a:solidFill>
              <a:srgbClr val="D6E5E0"/>
            </a:solidFill>
            <a:prstDash val="solid"/>
          </a:ln>
        </p:spPr>
      </p:sp>
      <p:sp>
        <p:nvSpPr>
          <p:cNvPr id="24" name="Text 22"/>
          <p:cNvSpPr/>
          <p:nvPr/>
        </p:nvSpPr>
        <p:spPr>
          <a:xfrm>
            <a:off x="1133856" y="1728216"/>
            <a:ext cx="2167128" cy="329184"/>
          </a:xfrm>
          <a:prstGeom prst="rect">
            <a:avLst/>
          </a:prstGeom>
          <a:noFill/>
          <a:ln/>
        </p:spPr>
        <p:txBody>
          <a:bodyPr wrap="square" lIns="127" tIns="127" rIns="127" bIns="127" rtlCol="0" anchor="ctr">
            <a:normAutofit/>
          </a:bodyPr>
          <a:lstStyle/>
          <a:p>
            <a:pPr marL="0" indent="0">
              <a:buNone/>
            </a:pPr>
            <a:r>
              <a:rPr lang="en-US" sz="880" dirty="0">
                <a:solidFill>
                  <a:srgbClr val="263B38"/>
                </a:solidFill>
              </a:rPr>
              <a:t>exercice-2</a:t>
            </a:r>
            <a:endParaRPr lang="en-US" sz="880" dirty="0"/>
          </a:p>
        </p:txBody>
      </p:sp>
      <p:sp>
        <p:nvSpPr>
          <p:cNvPr id="25" name="Shape 23"/>
          <p:cNvSpPr/>
          <p:nvPr/>
        </p:nvSpPr>
        <p:spPr>
          <a:xfrm>
            <a:off x="3337560" y="1700784"/>
            <a:ext cx="2606040" cy="384048"/>
          </a:xfrm>
          <a:prstGeom prst="rect">
            <a:avLst/>
          </a:prstGeom>
          <a:solidFill>
            <a:srgbClr val="F3F8F6"/>
          </a:solidFill>
          <a:ln w="12700">
            <a:solidFill>
              <a:srgbClr val="D6E5E0"/>
            </a:solidFill>
            <a:prstDash val="solid"/>
          </a:ln>
        </p:spPr>
      </p:sp>
      <p:sp>
        <p:nvSpPr>
          <p:cNvPr id="26" name="Text 24"/>
          <p:cNvSpPr/>
          <p:nvPr/>
        </p:nvSpPr>
        <p:spPr>
          <a:xfrm>
            <a:off x="3374136" y="1728216"/>
            <a:ext cx="2532888" cy="329184"/>
          </a:xfrm>
          <a:prstGeom prst="rect">
            <a:avLst/>
          </a:prstGeom>
          <a:noFill/>
          <a:ln/>
        </p:spPr>
        <p:txBody>
          <a:bodyPr wrap="square" lIns="127" tIns="127" rIns="127" bIns="127" rtlCol="0" anchor="ctr">
            <a:normAutofit/>
          </a:bodyPr>
          <a:lstStyle/>
          <a:p>
            <a:pPr marL="0" indent="0">
              <a:buNone/>
            </a:pPr>
            <a:r>
              <a:rPr lang="en-US" sz="880" dirty="0">
                <a:solidFill>
                  <a:srgbClr val="263B38"/>
                </a:solidFill>
              </a:rPr>
              <a:t>computed() en façade</a:t>
            </a:r>
            <a:endParaRPr lang="en-US" sz="880" dirty="0"/>
          </a:p>
        </p:txBody>
      </p:sp>
      <p:sp>
        <p:nvSpPr>
          <p:cNvPr id="27" name="Shape 25"/>
          <p:cNvSpPr/>
          <p:nvPr/>
        </p:nvSpPr>
        <p:spPr>
          <a:xfrm>
            <a:off x="5943600" y="1700784"/>
            <a:ext cx="5836615" cy="384048"/>
          </a:xfrm>
          <a:prstGeom prst="rect">
            <a:avLst/>
          </a:prstGeom>
          <a:solidFill>
            <a:srgbClr val="F3F8F6"/>
          </a:solidFill>
          <a:ln w="12700">
            <a:solidFill>
              <a:srgbClr val="D6E5E0"/>
            </a:solidFill>
            <a:prstDash val="solid"/>
          </a:ln>
        </p:spPr>
      </p:sp>
      <p:sp>
        <p:nvSpPr>
          <p:cNvPr id="28" name="Text 26"/>
          <p:cNvSpPr/>
          <p:nvPr/>
        </p:nvSpPr>
        <p:spPr>
          <a:xfrm>
            <a:off x="5980176" y="1728216"/>
            <a:ext cx="5763463" cy="329184"/>
          </a:xfrm>
          <a:prstGeom prst="rect">
            <a:avLst/>
          </a:prstGeom>
          <a:noFill/>
          <a:ln/>
        </p:spPr>
        <p:txBody>
          <a:bodyPr wrap="square" lIns="127" tIns="127" rIns="127" bIns="127" rtlCol="0" anchor="ctr">
            <a:normAutofit/>
          </a:bodyPr>
          <a:lstStyle/>
          <a:p>
            <a:pPr marL="0" indent="0">
              <a:buNone/>
            </a:pPr>
            <a:r>
              <a:rPr lang="en-US" sz="880" dirty="0">
                <a:solidFill>
                  <a:srgbClr val="263B38"/>
                </a:solidFill>
              </a:rPr>
              <a:t>accounts.facade.ts, accounts.component.ts, accounts.component.html, accounts.component.spec.ts</a:t>
            </a:r>
            <a:endParaRPr lang="en-US" sz="880" dirty="0"/>
          </a:p>
        </p:txBody>
      </p:sp>
      <p:sp>
        <p:nvSpPr>
          <p:cNvPr id="29" name="Shape 27"/>
          <p:cNvSpPr/>
          <p:nvPr/>
        </p:nvSpPr>
        <p:spPr>
          <a:xfrm>
            <a:off x="411480" y="2084832"/>
            <a:ext cx="685800" cy="384048"/>
          </a:xfrm>
          <a:prstGeom prst="rect">
            <a:avLst/>
          </a:prstGeom>
          <a:solidFill>
            <a:srgbClr val="FFFFFF"/>
          </a:solidFill>
          <a:ln w="12700">
            <a:solidFill>
              <a:srgbClr val="D6E5E0"/>
            </a:solidFill>
            <a:prstDash val="solid"/>
          </a:ln>
        </p:spPr>
      </p:sp>
      <p:sp>
        <p:nvSpPr>
          <p:cNvPr id="30" name="Text 28"/>
          <p:cNvSpPr/>
          <p:nvPr/>
        </p:nvSpPr>
        <p:spPr>
          <a:xfrm>
            <a:off x="448056" y="2112264"/>
            <a:ext cx="612648" cy="329184"/>
          </a:xfrm>
          <a:prstGeom prst="rect">
            <a:avLst/>
          </a:prstGeom>
          <a:noFill/>
          <a:ln/>
        </p:spPr>
        <p:txBody>
          <a:bodyPr wrap="square" lIns="127" tIns="127" rIns="127" bIns="127" rtlCol="0" anchor="ctr">
            <a:normAutofit/>
          </a:bodyPr>
          <a:lstStyle/>
          <a:p>
            <a:pPr marL="0" indent="0">
              <a:buNone/>
            </a:pPr>
            <a:r>
              <a:rPr lang="en-US" sz="880" dirty="0">
                <a:solidFill>
                  <a:srgbClr val="263B38"/>
                </a:solidFill>
              </a:rPr>
              <a:t>3</a:t>
            </a:r>
            <a:endParaRPr lang="en-US" sz="880" dirty="0"/>
          </a:p>
        </p:txBody>
      </p:sp>
      <p:sp>
        <p:nvSpPr>
          <p:cNvPr id="31" name="Shape 29"/>
          <p:cNvSpPr/>
          <p:nvPr/>
        </p:nvSpPr>
        <p:spPr>
          <a:xfrm>
            <a:off x="1097280" y="2084832"/>
            <a:ext cx="2240280" cy="384048"/>
          </a:xfrm>
          <a:prstGeom prst="rect">
            <a:avLst/>
          </a:prstGeom>
          <a:solidFill>
            <a:srgbClr val="FFFFFF"/>
          </a:solidFill>
          <a:ln w="12700">
            <a:solidFill>
              <a:srgbClr val="D6E5E0"/>
            </a:solidFill>
            <a:prstDash val="solid"/>
          </a:ln>
        </p:spPr>
      </p:sp>
      <p:sp>
        <p:nvSpPr>
          <p:cNvPr id="32" name="Text 30"/>
          <p:cNvSpPr/>
          <p:nvPr/>
        </p:nvSpPr>
        <p:spPr>
          <a:xfrm>
            <a:off x="1133856" y="2112264"/>
            <a:ext cx="2167128" cy="329184"/>
          </a:xfrm>
          <a:prstGeom prst="rect">
            <a:avLst/>
          </a:prstGeom>
          <a:noFill/>
          <a:ln/>
        </p:spPr>
        <p:txBody>
          <a:bodyPr wrap="square" lIns="127" tIns="127" rIns="127" bIns="127" rtlCol="0" anchor="ctr">
            <a:normAutofit/>
          </a:bodyPr>
          <a:lstStyle/>
          <a:p>
            <a:pPr marL="0" indent="0">
              <a:buNone/>
            </a:pPr>
            <a:r>
              <a:rPr lang="en-US" sz="880" dirty="0">
                <a:solidFill>
                  <a:srgbClr val="263B38"/>
                </a:solidFill>
              </a:rPr>
              <a:t>exercice-3</a:t>
            </a:r>
            <a:endParaRPr lang="en-US" sz="880" dirty="0"/>
          </a:p>
        </p:txBody>
      </p:sp>
      <p:sp>
        <p:nvSpPr>
          <p:cNvPr id="33" name="Shape 31"/>
          <p:cNvSpPr/>
          <p:nvPr/>
        </p:nvSpPr>
        <p:spPr>
          <a:xfrm>
            <a:off x="3337560" y="2084832"/>
            <a:ext cx="2606040" cy="384048"/>
          </a:xfrm>
          <a:prstGeom prst="rect">
            <a:avLst/>
          </a:prstGeom>
          <a:solidFill>
            <a:srgbClr val="FFFFFF"/>
          </a:solidFill>
          <a:ln w="12700">
            <a:solidFill>
              <a:srgbClr val="D6E5E0"/>
            </a:solidFill>
            <a:prstDash val="solid"/>
          </a:ln>
        </p:spPr>
      </p:sp>
      <p:sp>
        <p:nvSpPr>
          <p:cNvPr id="34" name="Text 32"/>
          <p:cNvSpPr/>
          <p:nvPr/>
        </p:nvSpPr>
        <p:spPr>
          <a:xfrm>
            <a:off x="3374136" y="2112264"/>
            <a:ext cx="2532888" cy="329184"/>
          </a:xfrm>
          <a:prstGeom prst="rect">
            <a:avLst/>
          </a:prstGeom>
          <a:noFill/>
          <a:ln/>
        </p:spPr>
        <p:txBody>
          <a:bodyPr wrap="square" lIns="127" tIns="127" rIns="127" bIns="127" rtlCol="0" anchor="ctr">
            <a:normAutofit/>
          </a:bodyPr>
          <a:lstStyle/>
          <a:p>
            <a:pPr marL="0" indent="0">
              <a:buNone/>
            </a:pPr>
            <a:r>
              <a:rPr lang="en-US" sz="880" dirty="0">
                <a:solidFill>
                  <a:srgbClr val="263B38"/>
                </a:solidFill>
              </a:rPr>
              <a:t>effect() pour cohérence d'état</a:t>
            </a:r>
            <a:endParaRPr lang="en-US" sz="880" dirty="0"/>
          </a:p>
        </p:txBody>
      </p:sp>
      <p:sp>
        <p:nvSpPr>
          <p:cNvPr id="35" name="Shape 33"/>
          <p:cNvSpPr/>
          <p:nvPr/>
        </p:nvSpPr>
        <p:spPr>
          <a:xfrm>
            <a:off x="5943600" y="2084832"/>
            <a:ext cx="5836615" cy="384048"/>
          </a:xfrm>
          <a:prstGeom prst="rect">
            <a:avLst/>
          </a:prstGeom>
          <a:solidFill>
            <a:srgbClr val="FFFFFF"/>
          </a:solidFill>
          <a:ln w="12700">
            <a:solidFill>
              <a:srgbClr val="D6E5E0"/>
            </a:solidFill>
            <a:prstDash val="solid"/>
          </a:ln>
        </p:spPr>
      </p:sp>
      <p:sp>
        <p:nvSpPr>
          <p:cNvPr id="36" name="Text 34"/>
          <p:cNvSpPr/>
          <p:nvPr/>
        </p:nvSpPr>
        <p:spPr>
          <a:xfrm>
            <a:off x="5980176" y="2112264"/>
            <a:ext cx="5763463" cy="329184"/>
          </a:xfrm>
          <a:prstGeom prst="rect">
            <a:avLst/>
          </a:prstGeom>
          <a:noFill/>
          <a:ln/>
        </p:spPr>
        <p:txBody>
          <a:bodyPr wrap="square" lIns="127" tIns="127" rIns="127" bIns="127" rtlCol="0" anchor="ctr">
            <a:normAutofit/>
          </a:bodyPr>
          <a:lstStyle/>
          <a:p>
            <a:pPr marL="0" indent="0">
              <a:buNone/>
            </a:pPr>
            <a:r>
              <a:rPr lang="en-US" sz="880" dirty="0">
                <a:solidFill>
                  <a:srgbClr val="263B38"/>
                </a:solidFill>
              </a:rPr>
              <a:t>clients.component.ts</a:t>
            </a:r>
            <a:endParaRPr lang="en-US" sz="880" dirty="0"/>
          </a:p>
        </p:txBody>
      </p:sp>
      <p:sp>
        <p:nvSpPr>
          <p:cNvPr id="37" name="Shape 35"/>
          <p:cNvSpPr/>
          <p:nvPr/>
        </p:nvSpPr>
        <p:spPr>
          <a:xfrm>
            <a:off x="411480" y="2468880"/>
            <a:ext cx="685800" cy="384048"/>
          </a:xfrm>
          <a:prstGeom prst="rect">
            <a:avLst/>
          </a:prstGeom>
          <a:solidFill>
            <a:srgbClr val="F3F8F6"/>
          </a:solidFill>
          <a:ln w="12700">
            <a:solidFill>
              <a:srgbClr val="D6E5E0"/>
            </a:solidFill>
            <a:prstDash val="solid"/>
          </a:ln>
        </p:spPr>
      </p:sp>
      <p:sp>
        <p:nvSpPr>
          <p:cNvPr id="38" name="Text 36"/>
          <p:cNvSpPr/>
          <p:nvPr/>
        </p:nvSpPr>
        <p:spPr>
          <a:xfrm>
            <a:off x="448056" y="2496312"/>
            <a:ext cx="612648" cy="329184"/>
          </a:xfrm>
          <a:prstGeom prst="rect">
            <a:avLst/>
          </a:prstGeom>
          <a:noFill/>
          <a:ln/>
        </p:spPr>
        <p:txBody>
          <a:bodyPr wrap="square" lIns="127" tIns="127" rIns="127" bIns="127" rtlCol="0" anchor="ctr">
            <a:normAutofit/>
          </a:bodyPr>
          <a:lstStyle/>
          <a:p>
            <a:pPr marL="0" indent="0">
              <a:buNone/>
            </a:pPr>
            <a:r>
              <a:rPr lang="en-US" sz="880" dirty="0">
                <a:solidFill>
                  <a:srgbClr val="263B38"/>
                </a:solidFill>
              </a:rPr>
              <a:t>4</a:t>
            </a:r>
            <a:endParaRPr lang="en-US" sz="880" dirty="0"/>
          </a:p>
        </p:txBody>
      </p:sp>
      <p:sp>
        <p:nvSpPr>
          <p:cNvPr id="39" name="Shape 37"/>
          <p:cNvSpPr/>
          <p:nvPr/>
        </p:nvSpPr>
        <p:spPr>
          <a:xfrm>
            <a:off x="1097280" y="2468880"/>
            <a:ext cx="2240280" cy="384048"/>
          </a:xfrm>
          <a:prstGeom prst="rect">
            <a:avLst/>
          </a:prstGeom>
          <a:solidFill>
            <a:srgbClr val="F3F8F6"/>
          </a:solidFill>
          <a:ln w="12700">
            <a:solidFill>
              <a:srgbClr val="D6E5E0"/>
            </a:solidFill>
            <a:prstDash val="solid"/>
          </a:ln>
        </p:spPr>
      </p:sp>
      <p:sp>
        <p:nvSpPr>
          <p:cNvPr id="40" name="Text 38"/>
          <p:cNvSpPr/>
          <p:nvPr/>
        </p:nvSpPr>
        <p:spPr>
          <a:xfrm>
            <a:off x="1133856" y="2496312"/>
            <a:ext cx="2167128" cy="329184"/>
          </a:xfrm>
          <a:prstGeom prst="rect">
            <a:avLst/>
          </a:prstGeom>
          <a:noFill/>
          <a:ln/>
        </p:spPr>
        <p:txBody>
          <a:bodyPr wrap="square" lIns="127" tIns="127" rIns="127" bIns="127" rtlCol="0" anchor="ctr">
            <a:normAutofit/>
          </a:bodyPr>
          <a:lstStyle/>
          <a:p>
            <a:pPr marL="0" indent="0">
              <a:buNone/>
            </a:pPr>
            <a:r>
              <a:rPr lang="en-US" sz="880" dirty="0">
                <a:solidFill>
                  <a:srgbClr val="263B38"/>
                </a:solidFill>
              </a:rPr>
              <a:t>exercice-4</a:t>
            </a:r>
            <a:endParaRPr lang="en-US" sz="880" dirty="0"/>
          </a:p>
        </p:txBody>
      </p:sp>
      <p:sp>
        <p:nvSpPr>
          <p:cNvPr id="41" name="Shape 39"/>
          <p:cNvSpPr/>
          <p:nvPr/>
        </p:nvSpPr>
        <p:spPr>
          <a:xfrm>
            <a:off x="3337560" y="2468880"/>
            <a:ext cx="2606040" cy="384048"/>
          </a:xfrm>
          <a:prstGeom prst="rect">
            <a:avLst/>
          </a:prstGeom>
          <a:solidFill>
            <a:srgbClr val="F3F8F6"/>
          </a:solidFill>
          <a:ln w="12700">
            <a:solidFill>
              <a:srgbClr val="D6E5E0"/>
            </a:solidFill>
            <a:prstDash val="solid"/>
          </a:ln>
        </p:spPr>
      </p:sp>
      <p:sp>
        <p:nvSpPr>
          <p:cNvPr id="42" name="Text 40"/>
          <p:cNvSpPr/>
          <p:nvPr/>
        </p:nvSpPr>
        <p:spPr>
          <a:xfrm>
            <a:off x="3374136" y="2496312"/>
            <a:ext cx="2532888" cy="329184"/>
          </a:xfrm>
          <a:prstGeom prst="rect">
            <a:avLst/>
          </a:prstGeom>
          <a:noFill/>
          <a:ln/>
        </p:spPr>
        <p:txBody>
          <a:bodyPr wrap="square" lIns="127" tIns="127" rIns="127" bIns="127" rtlCol="0" anchor="ctr">
            <a:normAutofit/>
          </a:bodyPr>
          <a:lstStyle/>
          <a:p>
            <a:pPr marL="0" indent="0">
              <a:buNone/>
            </a:pPr>
            <a:r>
              <a:rPr lang="en-US" sz="880" dirty="0">
                <a:solidFill>
                  <a:srgbClr val="263B38"/>
                </a:solidFill>
              </a:rPr>
              <a:t>input()</a:t>
            </a:r>
            <a:endParaRPr lang="en-US" sz="880" dirty="0"/>
          </a:p>
        </p:txBody>
      </p:sp>
      <p:sp>
        <p:nvSpPr>
          <p:cNvPr id="43" name="Shape 41"/>
          <p:cNvSpPr/>
          <p:nvPr/>
        </p:nvSpPr>
        <p:spPr>
          <a:xfrm>
            <a:off x="5943600" y="2468880"/>
            <a:ext cx="5836615" cy="384048"/>
          </a:xfrm>
          <a:prstGeom prst="rect">
            <a:avLst/>
          </a:prstGeom>
          <a:solidFill>
            <a:srgbClr val="F3F8F6"/>
          </a:solidFill>
          <a:ln w="12700">
            <a:solidFill>
              <a:srgbClr val="D6E5E0"/>
            </a:solidFill>
            <a:prstDash val="solid"/>
          </a:ln>
        </p:spPr>
      </p:sp>
      <p:sp>
        <p:nvSpPr>
          <p:cNvPr id="44" name="Text 42"/>
          <p:cNvSpPr/>
          <p:nvPr/>
        </p:nvSpPr>
        <p:spPr>
          <a:xfrm>
            <a:off x="5980176" y="2496312"/>
            <a:ext cx="5763463" cy="329184"/>
          </a:xfrm>
          <a:prstGeom prst="rect">
            <a:avLst/>
          </a:prstGeom>
          <a:noFill/>
          <a:ln/>
        </p:spPr>
        <p:txBody>
          <a:bodyPr wrap="square" lIns="127" tIns="127" rIns="127" bIns="127" rtlCol="0" anchor="ctr">
            <a:normAutofit/>
          </a:bodyPr>
          <a:lstStyle/>
          <a:p>
            <a:pPr marL="0" indent="0">
              <a:buNone/>
            </a:pPr>
            <a:r>
              <a:rPr lang="en-US" sz="880" dirty="0">
                <a:solidFill>
                  <a:srgbClr val="263B38"/>
                </a:solidFill>
              </a:rPr>
              <a:t>account-card.component.ts</a:t>
            </a:r>
            <a:endParaRPr lang="en-US" sz="880" dirty="0"/>
          </a:p>
        </p:txBody>
      </p:sp>
      <p:sp>
        <p:nvSpPr>
          <p:cNvPr id="45" name="Shape 43"/>
          <p:cNvSpPr/>
          <p:nvPr/>
        </p:nvSpPr>
        <p:spPr>
          <a:xfrm>
            <a:off x="411480" y="2852928"/>
            <a:ext cx="685800" cy="384048"/>
          </a:xfrm>
          <a:prstGeom prst="rect">
            <a:avLst/>
          </a:prstGeom>
          <a:solidFill>
            <a:srgbClr val="FFFFFF"/>
          </a:solidFill>
          <a:ln w="12700">
            <a:solidFill>
              <a:srgbClr val="D6E5E0"/>
            </a:solidFill>
            <a:prstDash val="solid"/>
          </a:ln>
        </p:spPr>
      </p:sp>
      <p:sp>
        <p:nvSpPr>
          <p:cNvPr id="46" name="Text 44"/>
          <p:cNvSpPr/>
          <p:nvPr/>
        </p:nvSpPr>
        <p:spPr>
          <a:xfrm>
            <a:off x="448056" y="2880360"/>
            <a:ext cx="612648" cy="329184"/>
          </a:xfrm>
          <a:prstGeom prst="rect">
            <a:avLst/>
          </a:prstGeom>
          <a:noFill/>
          <a:ln/>
        </p:spPr>
        <p:txBody>
          <a:bodyPr wrap="square" lIns="127" tIns="127" rIns="127" bIns="127" rtlCol="0" anchor="ctr">
            <a:normAutofit/>
          </a:bodyPr>
          <a:lstStyle/>
          <a:p>
            <a:pPr marL="0" indent="0">
              <a:buNone/>
            </a:pPr>
            <a:r>
              <a:rPr lang="en-US" sz="880" dirty="0">
                <a:solidFill>
                  <a:srgbClr val="263B38"/>
                </a:solidFill>
              </a:rPr>
              <a:t>5</a:t>
            </a:r>
            <a:endParaRPr lang="en-US" sz="880" dirty="0"/>
          </a:p>
        </p:txBody>
      </p:sp>
      <p:sp>
        <p:nvSpPr>
          <p:cNvPr id="47" name="Shape 45"/>
          <p:cNvSpPr/>
          <p:nvPr/>
        </p:nvSpPr>
        <p:spPr>
          <a:xfrm>
            <a:off x="1097280" y="2852928"/>
            <a:ext cx="2240280" cy="384048"/>
          </a:xfrm>
          <a:prstGeom prst="rect">
            <a:avLst/>
          </a:prstGeom>
          <a:solidFill>
            <a:srgbClr val="FFFFFF"/>
          </a:solidFill>
          <a:ln w="12700">
            <a:solidFill>
              <a:srgbClr val="D6E5E0"/>
            </a:solidFill>
            <a:prstDash val="solid"/>
          </a:ln>
        </p:spPr>
      </p:sp>
      <p:sp>
        <p:nvSpPr>
          <p:cNvPr id="48" name="Text 46"/>
          <p:cNvSpPr/>
          <p:nvPr/>
        </p:nvSpPr>
        <p:spPr>
          <a:xfrm>
            <a:off x="1133856" y="2880360"/>
            <a:ext cx="2167128" cy="329184"/>
          </a:xfrm>
          <a:prstGeom prst="rect">
            <a:avLst/>
          </a:prstGeom>
          <a:noFill/>
          <a:ln/>
        </p:spPr>
        <p:txBody>
          <a:bodyPr wrap="square" lIns="127" tIns="127" rIns="127" bIns="127" rtlCol="0" anchor="ctr">
            <a:normAutofit/>
          </a:bodyPr>
          <a:lstStyle/>
          <a:p>
            <a:pPr marL="0" indent="0">
              <a:buNone/>
            </a:pPr>
            <a:r>
              <a:rPr lang="en-US" sz="880" dirty="0">
                <a:solidFill>
                  <a:srgbClr val="263B38"/>
                </a:solidFill>
              </a:rPr>
              <a:t>exercice-5</a:t>
            </a:r>
            <a:endParaRPr lang="en-US" sz="880" dirty="0"/>
          </a:p>
        </p:txBody>
      </p:sp>
      <p:sp>
        <p:nvSpPr>
          <p:cNvPr id="49" name="Shape 47"/>
          <p:cNvSpPr/>
          <p:nvPr/>
        </p:nvSpPr>
        <p:spPr>
          <a:xfrm>
            <a:off x="3337560" y="2852928"/>
            <a:ext cx="2606040" cy="384048"/>
          </a:xfrm>
          <a:prstGeom prst="rect">
            <a:avLst/>
          </a:prstGeom>
          <a:solidFill>
            <a:srgbClr val="FFFFFF"/>
          </a:solidFill>
          <a:ln w="12700">
            <a:solidFill>
              <a:srgbClr val="D6E5E0"/>
            </a:solidFill>
            <a:prstDash val="solid"/>
          </a:ln>
        </p:spPr>
      </p:sp>
      <p:sp>
        <p:nvSpPr>
          <p:cNvPr id="50" name="Text 48"/>
          <p:cNvSpPr/>
          <p:nvPr/>
        </p:nvSpPr>
        <p:spPr>
          <a:xfrm>
            <a:off x="3374136" y="2880360"/>
            <a:ext cx="2532888" cy="329184"/>
          </a:xfrm>
          <a:prstGeom prst="rect">
            <a:avLst/>
          </a:prstGeom>
          <a:noFill/>
          <a:ln/>
        </p:spPr>
        <p:txBody>
          <a:bodyPr wrap="square" lIns="127" tIns="127" rIns="127" bIns="127" rtlCol="0" anchor="ctr">
            <a:normAutofit/>
          </a:bodyPr>
          <a:lstStyle/>
          <a:p>
            <a:pPr marL="0" indent="0">
              <a:buNone/>
            </a:pPr>
            <a:r>
              <a:rPr lang="en-US" sz="880" dirty="0">
                <a:solidFill>
                  <a:srgbClr val="263B38"/>
                </a:solidFill>
              </a:rPr>
              <a:t>linkedSignal()</a:t>
            </a:r>
            <a:endParaRPr lang="en-US" sz="880" dirty="0"/>
          </a:p>
        </p:txBody>
      </p:sp>
      <p:sp>
        <p:nvSpPr>
          <p:cNvPr id="51" name="Shape 49"/>
          <p:cNvSpPr/>
          <p:nvPr/>
        </p:nvSpPr>
        <p:spPr>
          <a:xfrm>
            <a:off x="5943600" y="2852928"/>
            <a:ext cx="5836615" cy="384048"/>
          </a:xfrm>
          <a:prstGeom prst="rect">
            <a:avLst/>
          </a:prstGeom>
          <a:solidFill>
            <a:srgbClr val="FFFFFF"/>
          </a:solidFill>
          <a:ln w="12700">
            <a:solidFill>
              <a:srgbClr val="D6E5E0"/>
            </a:solidFill>
            <a:prstDash val="solid"/>
          </a:ln>
        </p:spPr>
      </p:sp>
      <p:sp>
        <p:nvSpPr>
          <p:cNvPr id="52" name="Text 50"/>
          <p:cNvSpPr/>
          <p:nvPr/>
        </p:nvSpPr>
        <p:spPr>
          <a:xfrm>
            <a:off x="5980176" y="2880360"/>
            <a:ext cx="5763463" cy="329184"/>
          </a:xfrm>
          <a:prstGeom prst="rect">
            <a:avLst/>
          </a:prstGeom>
          <a:noFill/>
          <a:ln/>
        </p:spPr>
        <p:txBody>
          <a:bodyPr wrap="square" lIns="127" tIns="127" rIns="127" bIns="127" rtlCol="0" anchor="ctr">
            <a:normAutofit/>
          </a:bodyPr>
          <a:lstStyle/>
          <a:p>
            <a:pPr marL="0" indent="0">
              <a:buNone/>
            </a:pPr>
            <a:r>
              <a:rPr lang="en-US" sz="880" dirty="0">
                <a:solidFill>
                  <a:srgbClr val="263B38"/>
                </a:solidFill>
              </a:rPr>
              <a:t>accounts.component.ts</a:t>
            </a:r>
            <a:endParaRPr lang="en-US" sz="880" dirty="0"/>
          </a:p>
        </p:txBody>
      </p:sp>
      <p:sp>
        <p:nvSpPr>
          <p:cNvPr id="53" name="Text 51"/>
          <p:cNvSpPr/>
          <p:nvPr/>
        </p:nvSpPr>
        <p:spPr>
          <a:xfrm>
            <a:off x="11277295" y="6537960"/>
            <a:ext cx="502920" cy="182880"/>
          </a:xfrm>
          <a:prstGeom prst="rect">
            <a:avLst/>
          </a:prstGeom>
          <a:noFill/>
          <a:ln/>
        </p:spPr>
        <p:txBody>
          <a:bodyPr wrap="square" rtlCol="0" anchor="ctr"/>
          <a:lstStyle/>
          <a:p>
            <a:pPr marL="0" indent="0" algn="r">
              <a:buNone/>
            </a:pPr>
            <a:r>
              <a:rPr lang="en-US" sz="700" dirty="0">
                <a:solidFill>
                  <a:srgbClr val="61716F"/>
                </a:solidFill>
              </a:rPr>
              <a:t>8/29</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6B4F"/>
        </a:solidFill>
        <a:effectLst/>
      </p:bgPr>
    </p:bg>
    <p:spTree>
      <p:nvGrpSpPr>
        <p:cNvPr id="1" name=""/>
        <p:cNvGrpSpPr/>
        <p:nvPr/>
      </p:nvGrpSpPr>
      <p:grpSpPr>
        <a:xfrm>
          <a:off x="0" y="0"/>
          <a:ext cx="0" cy="0"/>
          <a:chOff x="0" y="0"/>
          <a:chExt cx="0" cy="0"/>
        </a:xfrm>
      </p:grpSpPr>
      <p:sp>
        <p:nvSpPr>
          <p:cNvPr id="2" name="Text 0"/>
          <p:cNvSpPr/>
          <p:nvPr/>
        </p:nvSpPr>
        <p:spPr>
          <a:xfrm>
            <a:off x="594360" y="1600200"/>
            <a:ext cx="11002975" cy="411480"/>
          </a:xfrm>
          <a:prstGeom prst="rect">
            <a:avLst/>
          </a:prstGeom>
          <a:noFill/>
          <a:ln/>
        </p:spPr>
        <p:txBody>
          <a:bodyPr wrap="square" lIns="0" tIns="0" rIns="0" bIns="0" rtlCol="0" anchor="ctr"/>
          <a:lstStyle/>
          <a:p>
            <a:pPr marL="0" indent="0" algn="ctr">
              <a:buNone/>
            </a:pPr>
            <a:r>
              <a:rPr lang="en-US" sz="1800" dirty="0">
                <a:solidFill>
                  <a:srgbClr val="CFEDE2"/>
                </a:solidFill>
              </a:rPr>
              <a:t>Exercice 1</a:t>
            </a:r>
            <a:endParaRPr lang="en-US" sz="1800" dirty="0"/>
          </a:p>
        </p:txBody>
      </p:sp>
      <p:sp>
        <p:nvSpPr>
          <p:cNvPr id="3" name="Text 1"/>
          <p:cNvSpPr/>
          <p:nvPr/>
        </p:nvSpPr>
        <p:spPr>
          <a:xfrm>
            <a:off x="594360" y="2148840"/>
            <a:ext cx="11002975" cy="1097280"/>
          </a:xfrm>
          <a:prstGeom prst="rect">
            <a:avLst/>
          </a:prstGeom>
          <a:noFill/>
          <a:ln/>
        </p:spPr>
        <p:txBody>
          <a:bodyPr wrap="square" lIns="0" tIns="0" rIns="0" bIns="0" rtlCol="0" anchor="ctr">
            <a:normAutofit/>
          </a:bodyPr>
          <a:lstStyle/>
          <a:p>
            <a:pPr marL="0" indent="0" algn="ctr">
              <a:buNone/>
            </a:pPr>
            <a:r>
              <a:rPr lang="en-US" sz="3800" b="1" dirty="0">
                <a:solidFill>
                  <a:srgbClr val="FFFFFF"/>
                </a:solidFill>
              </a:rPr>
              <a:t>signal()</a:t>
            </a:r>
            <a:endParaRPr lang="en-US" sz="3800" dirty="0"/>
          </a:p>
        </p:txBody>
      </p:sp>
      <p:sp>
        <p:nvSpPr>
          <p:cNvPr id="4" name="Text 2"/>
          <p:cNvSpPr/>
          <p:nvPr/>
        </p:nvSpPr>
        <p:spPr>
          <a:xfrm>
            <a:off x="11277295" y="6537960"/>
            <a:ext cx="502920" cy="182880"/>
          </a:xfrm>
          <a:prstGeom prst="rect">
            <a:avLst/>
          </a:prstGeom>
          <a:noFill/>
          <a:ln/>
        </p:spPr>
        <p:txBody>
          <a:bodyPr wrap="square" rtlCol="0" anchor="ctr"/>
          <a:lstStyle/>
          <a:p>
            <a:pPr marL="0" indent="0" algn="r">
              <a:buNone/>
            </a:pPr>
            <a:r>
              <a:rPr lang="en-US" sz="700" dirty="0">
                <a:solidFill>
                  <a:srgbClr val="61716F"/>
                </a:solidFill>
              </a:rPr>
              <a:t>9/29</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8F6"/>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8A5B"/>
          </a:solidFill>
          <a:ln w="12700">
            <a:solidFill>
              <a:srgbClr val="008A5B"/>
            </a:solidFill>
            <a:prstDash val="solid"/>
          </a:ln>
        </p:spPr>
      </p:sp>
      <p:sp>
        <p:nvSpPr>
          <p:cNvPr id="3" name="Text 1"/>
          <p:cNvSpPr/>
          <p:nvPr/>
        </p:nvSpPr>
        <p:spPr>
          <a:xfrm>
            <a:off x="411480" y="185589"/>
            <a:ext cx="9357055" cy="347472"/>
          </a:xfrm>
          <a:prstGeom prst="rect">
            <a:avLst/>
          </a:prstGeom>
          <a:noFill/>
          <a:ln/>
        </p:spPr>
        <p:txBody>
          <a:bodyPr wrap="square" lIns="0" tIns="0" rIns="0" bIns="0" rtlCol="0" anchor="ctr">
            <a:normAutofit lnSpcReduction="10000"/>
          </a:bodyPr>
          <a:lstStyle/>
          <a:p>
            <a:pPr marL="0" indent="0">
              <a:buNone/>
            </a:pPr>
            <a:r>
              <a:rPr lang="en-US" sz="2300" b="1" dirty="0">
                <a:solidFill>
                  <a:srgbClr val="1B2B2A"/>
                </a:solidFill>
              </a:rPr>
              <a:t>Exercice 1 — signal()</a:t>
            </a:r>
            <a:endParaRPr lang="en-US" sz="2300" dirty="0"/>
          </a:p>
        </p:txBody>
      </p:sp>
      <p:sp>
        <p:nvSpPr>
          <p:cNvPr id="4" name="Text 2"/>
          <p:cNvSpPr/>
          <p:nvPr/>
        </p:nvSpPr>
        <p:spPr>
          <a:xfrm>
            <a:off x="10317175" y="246888"/>
            <a:ext cx="1463040" cy="219456"/>
          </a:xfrm>
          <a:prstGeom prst="rect">
            <a:avLst/>
          </a:prstGeom>
          <a:solidFill>
            <a:srgbClr val="CFEDE2"/>
          </a:solidFill>
          <a:ln>
            <a:solidFill>
              <a:srgbClr val="CFEDE2"/>
            </a:solidFill>
          </a:ln>
        </p:spPr>
        <p:txBody>
          <a:bodyPr wrap="square" lIns="254" tIns="254" rIns="254" bIns="254" rtlCol="0" anchor="ctr"/>
          <a:lstStyle/>
          <a:p>
            <a:pPr marL="0" indent="0" algn="ctr">
              <a:buNone/>
            </a:pPr>
            <a:r>
              <a:rPr lang="en-US" sz="800" b="1" dirty="0">
                <a:solidFill>
                  <a:srgbClr val="008A5B"/>
                </a:solidFill>
              </a:rPr>
              <a:t>BNP Paribas</a:t>
            </a:r>
            <a:endParaRPr lang="en-US" sz="800" dirty="0"/>
          </a:p>
        </p:txBody>
      </p:sp>
      <p:sp>
        <p:nvSpPr>
          <p:cNvPr id="6" name="Text 3"/>
          <p:cNvSpPr/>
          <p:nvPr/>
        </p:nvSpPr>
        <p:spPr>
          <a:xfrm>
            <a:off x="411480" y="932688"/>
            <a:ext cx="11368735" cy="1024128"/>
          </a:xfrm>
          <a:prstGeom prst="rect">
            <a:avLst/>
          </a:prstGeom>
          <a:solidFill>
            <a:srgbClr val="15332F"/>
          </a:solidFill>
          <a:ln/>
        </p:spPr>
        <p:txBody>
          <a:bodyPr wrap="square" lIns="1016" tIns="1016" rIns="1016" bIns="1016" rtlCol="0" anchor="t">
            <a:normAutofit/>
          </a:bodyPr>
          <a:lstStyle/>
          <a:p>
            <a:pPr marL="0" indent="0">
              <a:buNone/>
            </a:pPr>
            <a:r>
              <a:rPr lang="en-US" sz="1030" dirty="0">
                <a:solidFill>
                  <a:srgbClr val="F8FAFC"/>
                </a:solidFill>
                <a:latin typeface="Courier New" pitchFamily="34" charset="0"/>
                <a:ea typeface="Courier New" pitchFamily="34" charset="-122"/>
                <a:cs typeface="Courier New" pitchFamily="34" charset="-120"/>
              </a:rPr>
              <a:t>readonly placeholder = signal('Rechercher un client'); // déclarer un signal string</a:t>
            </a:r>
            <a:endParaRPr lang="en-US" sz="1030" dirty="0"/>
          </a:p>
          <a:p>
            <a:pPr marL="0" indent="0">
              <a:buNone/>
            </a:pPr>
            <a:r>
              <a:rPr lang="en-US" sz="1030" dirty="0">
                <a:solidFill>
                  <a:srgbClr val="F8FAFC"/>
                </a:solidFill>
                <a:latin typeface="Courier New" pitchFamily="34" charset="0"/>
                <a:ea typeface="Courier New" pitchFamily="34" charset="-122"/>
                <a:cs typeface="Courier New" pitchFamily="34" charset="-120"/>
              </a:rPr>
              <a:t>placeholder()                                          // lire</a:t>
            </a:r>
            <a:endParaRPr lang="en-US" sz="1030" dirty="0"/>
          </a:p>
          <a:p>
            <a:pPr marL="0" indent="0">
              <a:buNone/>
            </a:pPr>
            <a:r>
              <a:rPr lang="en-US" sz="1030" dirty="0">
                <a:solidFill>
                  <a:srgbClr val="F8FAFC"/>
                </a:solidFill>
                <a:latin typeface="Courier New" pitchFamily="34" charset="0"/>
                <a:ea typeface="Courier New" pitchFamily="34" charset="-122"/>
                <a:cs typeface="Courier New" pitchFamily="34" charset="-120"/>
              </a:rPr>
              <a:t>this.placeholder.set('Rechercher par email');          // écrire</a:t>
            </a:r>
            <a:endParaRPr lang="en-US" sz="1030" dirty="0"/>
          </a:p>
          <a:p>
            <a:pPr marL="0" indent="0">
              <a:buNone/>
            </a:pPr>
            <a:r>
              <a:rPr lang="en-US" sz="1030" dirty="0">
                <a:solidFill>
                  <a:srgbClr val="F8FAFC"/>
                </a:solidFill>
                <a:latin typeface="Courier New" pitchFamily="34" charset="0"/>
                <a:ea typeface="Courier New" pitchFamily="34" charset="-122"/>
                <a:cs typeface="Courier New" pitchFamily="34" charset="-120"/>
              </a:rPr>
              <a:t>this.placeholder.update(v =&gt; v + '...');               // mettre à jour depuis la valeur courante</a:t>
            </a:r>
            <a:endParaRPr lang="en-US" sz="1030" dirty="0"/>
          </a:p>
        </p:txBody>
      </p:sp>
      <p:sp>
        <p:nvSpPr>
          <p:cNvPr id="7" name="Text 4"/>
          <p:cNvSpPr/>
          <p:nvPr/>
        </p:nvSpPr>
        <p:spPr>
          <a:xfrm>
            <a:off x="411480" y="2103120"/>
            <a:ext cx="11368735" cy="502920"/>
          </a:xfrm>
          <a:prstGeom prst="rect">
            <a:avLst/>
          </a:prstGeom>
          <a:noFill/>
          <a:ln/>
        </p:spPr>
        <p:txBody>
          <a:bodyPr wrap="square" lIns="254" tIns="254" rIns="254" bIns="254" rtlCol="0" anchor="t">
            <a:normAutofit/>
          </a:bodyPr>
          <a:lstStyle/>
          <a:p>
            <a:pPr marL="0" indent="0">
              <a:buNone/>
            </a:pPr>
            <a:r>
              <a:rPr lang="en-US" sz="1420" dirty="0">
                <a:solidFill>
                  <a:srgbClr val="263B38"/>
                </a:solidFill>
              </a:rPr>
              <a:t>NB : ne jamais écraser la référence d'un signal. readonly protège la référence, pas la valeur : .set() et .update() restent autorisés.</a:t>
            </a:r>
            <a:endParaRPr lang="en-US" sz="1420" dirty="0"/>
          </a:p>
        </p:txBody>
      </p:sp>
      <p:sp>
        <p:nvSpPr>
          <p:cNvPr id="8" name="Text 5"/>
          <p:cNvSpPr/>
          <p:nvPr/>
        </p:nvSpPr>
        <p:spPr>
          <a:xfrm>
            <a:off x="411480" y="2732702"/>
            <a:ext cx="11368735" cy="502920"/>
          </a:xfrm>
          <a:prstGeom prst="rect">
            <a:avLst/>
          </a:prstGeom>
          <a:noFill/>
          <a:ln/>
        </p:spPr>
        <p:txBody>
          <a:bodyPr wrap="square" lIns="254" tIns="254" rIns="254" bIns="254" rtlCol="0" anchor="t">
            <a:normAutofit/>
          </a:bodyPr>
          <a:lstStyle/>
          <a:p>
            <a:pPr marL="0" indent="0">
              <a:buNone/>
            </a:pPr>
            <a:r>
              <a:rPr lang="en-US" sz="1420" dirty="0">
                <a:solidFill>
                  <a:srgbClr val="263B38"/>
                </a:solidFill>
              </a:rPr>
              <a:t>Dans src/app/features/clients/pages/clients/clients.component.ts, convertir la propriété adding = false en signal pour faire de adding une source réactive lisible par le template.</a:t>
            </a:r>
            <a:endParaRPr lang="en-US" sz="1420" dirty="0"/>
          </a:p>
        </p:txBody>
      </p:sp>
      <p:sp>
        <p:nvSpPr>
          <p:cNvPr id="9" name="Text 6"/>
          <p:cNvSpPr/>
          <p:nvPr/>
        </p:nvSpPr>
        <p:spPr>
          <a:xfrm>
            <a:off x="11277295" y="6537960"/>
            <a:ext cx="502920" cy="182880"/>
          </a:xfrm>
          <a:prstGeom prst="rect">
            <a:avLst/>
          </a:prstGeom>
          <a:noFill/>
          <a:ln/>
        </p:spPr>
        <p:txBody>
          <a:bodyPr wrap="square" rtlCol="0" anchor="ctr"/>
          <a:lstStyle/>
          <a:p>
            <a:pPr marL="0" indent="0" algn="r">
              <a:buNone/>
            </a:pPr>
            <a:r>
              <a:rPr lang="en-US" sz="700" dirty="0">
                <a:solidFill>
                  <a:srgbClr val="61716F"/>
                </a:solidFill>
              </a:rPr>
              <a:t>10/29</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8F6"/>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8A5B"/>
          </a:solidFill>
          <a:ln w="12700">
            <a:solidFill>
              <a:srgbClr val="008A5B"/>
            </a:solidFill>
            <a:prstDash val="solid"/>
          </a:ln>
        </p:spPr>
      </p:sp>
      <p:sp>
        <p:nvSpPr>
          <p:cNvPr id="3" name="Text 1"/>
          <p:cNvSpPr/>
          <p:nvPr/>
        </p:nvSpPr>
        <p:spPr>
          <a:xfrm>
            <a:off x="411480" y="219456"/>
            <a:ext cx="9357055" cy="347472"/>
          </a:xfrm>
          <a:prstGeom prst="rect">
            <a:avLst/>
          </a:prstGeom>
          <a:noFill/>
          <a:ln/>
        </p:spPr>
        <p:txBody>
          <a:bodyPr wrap="square" lIns="0" tIns="0" rIns="0" bIns="0" rtlCol="0" anchor="ctr">
            <a:normAutofit/>
          </a:bodyPr>
          <a:lstStyle/>
          <a:p>
            <a:pPr marL="0" indent="0">
              <a:buNone/>
            </a:pPr>
            <a:r>
              <a:rPr lang="en-US" sz="2300" b="1" dirty="0">
                <a:solidFill>
                  <a:srgbClr val="1B2B2A"/>
                </a:solidFill>
              </a:rPr>
              <a:t>Exercice 1 — signal() — Test</a:t>
            </a:r>
            <a:endParaRPr lang="en-US" sz="2300" dirty="0"/>
          </a:p>
        </p:txBody>
      </p:sp>
      <p:sp>
        <p:nvSpPr>
          <p:cNvPr id="4" name="Text 2"/>
          <p:cNvSpPr/>
          <p:nvPr/>
        </p:nvSpPr>
        <p:spPr>
          <a:xfrm>
            <a:off x="10317175" y="246888"/>
            <a:ext cx="1463040" cy="219456"/>
          </a:xfrm>
          <a:prstGeom prst="rect">
            <a:avLst/>
          </a:prstGeom>
          <a:solidFill>
            <a:srgbClr val="CFEDE2"/>
          </a:solidFill>
          <a:ln>
            <a:solidFill>
              <a:srgbClr val="CFEDE2"/>
            </a:solidFill>
          </a:ln>
        </p:spPr>
        <p:txBody>
          <a:bodyPr wrap="square" lIns="254" tIns="254" rIns="254" bIns="254" rtlCol="0" anchor="ctr"/>
          <a:lstStyle/>
          <a:p>
            <a:pPr marL="0" indent="0" algn="ctr">
              <a:buNone/>
            </a:pPr>
            <a:r>
              <a:rPr lang="en-US" sz="800" b="1" dirty="0">
                <a:solidFill>
                  <a:srgbClr val="008A5B"/>
                </a:solidFill>
              </a:rPr>
              <a:t>BNP Paribas</a:t>
            </a:r>
            <a:endParaRPr lang="en-US" sz="800" dirty="0"/>
          </a:p>
        </p:txBody>
      </p:sp>
      <p:sp>
        <p:nvSpPr>
          <p:cNvPr id="5" name="Text 3"/>
          <p:cNvSpPr/>
          <p:nvPr/>
        </p:nvSpPr>
        <p:spPr>
          <a:xfrm>
            <a:off x="411480" y="932688"/>
            <a:ext cx="11368735" cy="640080"/>
          </a:xfrm>
          <a:prstGeom prst="rect">
            <a:avLst/>
          </a:prstGeom>
          <a:solidFill>
            <a:srgbClr val="15332F"/>
          </a:solidFill>
          <a:ln/>
        </p:spPr>
        <p:txBody>
          <a:bodyPr wrap="square" lIns="1016" tIns="1016" rIns="1016" bIns="1016" rtlCol="0" anchor="t">
            <a:normAutofit/>
          </a:bodyPr>
          <a:lstStyle/>
          <a:p>
            <a:pPr marL="0" indent="0">
              <a:buNone/>
            </a:pPr>
            <a:r>
              <a:rPr lang="en-US" sz="1030" dirty="0">
                <a:solidFill>
                  <a:srgbClr val="F8FAFC"/>
                </a:solidFill>
                <a:latin typeface="Courier New" pitchFamily="34" charset="0"/>
                <a:ea typeface="Courier New" pitchFamily="34" charset="-122"/>
                <a:cs typeface="Courier New" pitchFamily="34" charset="-120"/>
              </a:rPr>
              <a:t>npm test -- --runTestsByPath src/app/features/clients/pages/clients/clients.component.spec.ts</a:t>
            </a:r>
            <a:endParaRPr lang="en-US" sz="1030" dirty="0"/>
          </a:p>
        </p:txBody>
      </p:sp>
      <p:sp>
        <p:nvSpPr>
          <p:cNvPr id="6" name="Text 4"/>
          <p:cNvSpPr/>
          <p:nvPr/>
        </p:nvSpPr>
        <p:spPr>
          <a:xfrm>
            <a:off x="11277295" y="6537960"/>
            <a:ext cx="502920" cy="182880"/>
          </a:xfrm>
          <a:prstGeom prst="rect">
            <a:avLst/>
          </a:prstGeom>
          <a:noFill/>
          <a:ln/>
        </p:spPr>
        <p:txBody>
          <a:bodyPr wrap="square" rtlCol="0" anchor="ctr"/>
          <a:lstStyle/>
          <a:p>
            <a:pPr marL="0" indent="0" algn="r">
              <a:buNone/>
            </a:pPr>
            <a:r>
              <a:rPr lang="en-US" sz="700" dirty="0">
                <a:solidFill>
                  <a:srgbClr val="61716F"/>
                </a:solidFill>
              </a:rPr>
              <a:t>11/29</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6B4F"/>
        </a:solidFill>
        <a:effectLst/>
      </p:bgPr>
    </p:bg>
    <p:spTree>
      <p:nvGrpSpPr>
        <p:cNvPr id="1" name=""/>
        <p:cNvGrpSpPr/>
        <p:nvPr/>
      </p:nvGrpSpPr>
      <p:grpSpPr>
        <a:xfrm>
          <a:off x="0" y="0"/>
          <a:ext cx="0" cy="0"/>
          <a:chOff x="0" y="0"/>
          <a:chExt cx="0" cy="0"/>
        </a:xfrm>
      </p:grpSpPr>
      <p:sp>
        <p:nvSpPr>
          <p:cNvPr id="2" name="Text 0"/>
          <p:cNvSpPr/>
          <p:nvPr/>
        </p:nvSpPr>
        <p:spPr>
          <a:xfrm>
            <a:off x="594360" y="1600200"/>
            <a:ext cx="11002975" cy="411480"/>
          </a:xfrm>
          <a:prstGeom prst="rect">
            <a:avLst/>
          </a:prstGeom>
          <a:noFill/>
          <a:ln/>
        </p:spPr>
        <p:txBody>
          <a:bodyPr wrap="square" lIns="0" tIns="0" rIns="0" bIns="0" rtlCol="0" anchor="ctr"/>
          <a:lstStyle/>
          <a:p>
            <a:pPr marL="0" indent="0" algn="ctr">
              <a:buNone/>
            </a:pPr>
            <a:r>
              <a:rPr lang="en-US" sz="1800" dirty="0">
                <a:solidFill>
                  <a:srgbClr val="CFEDE2"/>
                </a:solidFill>
              </a:rPr>
              <a:t>Exercice 2</a:t>
            </a:r>
            <a:endParaRPr lang="en-US" sz="1800" dirty="0"/>
          </a:p>
        </p:txBody>
      </p:sp>
      <p:sp>
        <p:nvSpPr>
          <p:cNvPr id="3" name="Text 1"/>
          <p:cNvSpPr/>
          <p:nvPr/>
        </p:nvSpPr>
        <p:spPr>
          <a:xfrm>
            <a:off x="594360" y="2148840"/>
            <a:ext cx="11002975" cy="1097280"/>
          </a:xfrm>
          <a:prstGeom prst="rect">
            <a:avLst/>
          </a:prstGeom>
          <a:noFill/>
          <a:ln/>
        </p:spPr>
        <p:txBody>
          <a:bodyPr wrap="square" lIns="0" tIns="0" rIns="0" bIns="0" rtlCol="0" anchor="ctr">
            <a:normAutofit/>
          </a:bodyPr>
          <a:lstStyle/>
          <a:p>
            <a:pPr marL="0" indent="0" algn="ctr">
              <a:buNone/>
            </a:pPr>
            <a:r>
              <a:rPr lang="en-US" sz="3800" b="1" dirty="0">
                <a:solidFill>
                  <a:srgbClr val="FFFFFF"/>
                </a:solidFill>
              </a:rPr>
              <a:t>computed()</a:t>
            </a:r>
            <a:endParaRPr lang="en-US" sz="3800" dirty="0"/>
          </a:p>
        </p:txBody>
      </p:sp>
      <p:sp>
        <p:nvSpPr>
          <p:cNvPr id="4" name="Text 2"/>
          <p:cNvSpPr/>
          <p:nvPr/>
        </p:nvSpPr>
        <p:spPr>
          <a:xfrm>
            <a:off x="11277295" y="6537960"/>
            <a:ext cx="502920" cy="182880"/>
          </a:xfrm>
          <a:prstGeom prst="rect">
            <a:avLst/>
          </a:prstGeom>
          <a:noFill/>
          <a:ln/>
        </p:spPr>
        <p:txBody>
          <a:bodyPr wrap="square" rtlCol="0" anchor="ctr"/>
          <a:lstStyle/>
          <a:p>
            <a:pPr marL="0" indent="0" algn="r">
              <a:buNone/>
            </a:pPr>
            <a:r>
              <a:rPr lang="en-US" sz="700" dirty="0">
                <a:solidFill>
                  <a:srgbClr val="61716F"/>
                </a:solidFill>
              </a:rPr>
              <a:t>12/29</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8F6"/>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8A5B"/>
          </a:solidFill>
          <a:ln w="12700">
            <a:solidFill>
              <a:srgbClr val="008A5B"/>
            </a:solidFill>
            <a:prstDash val="solid"/>
          </a:ln>
        </p:spPr>
      </p:sp>
      <p:sp>
        <p:nvSpPr>
          <p:cNvPr id="3" name="Text 1"/>
          <p:cNvSpPr/>
          <p:nvPr/>
        </p:nvSpPr>
        <p:spPr>
          <a:xfrm>
            <a:off x="411480" y="219456"/>
            <a:ext cx="9357055" cy="347472"/>
          </a:xfrm>
          <a:prstGeom prst="rect">
            <a:avLst/>
          </a:prstGeom>
          <a:noFill/>
          <a:ln/>
        </p:spPr>
        <p:txBody>
          <a:bodyPr wrap="square" lIns="0" tIns="0" rIns="0" bIns="0" rtlCol="0" anchor="ctr">
            <a:normAutofit/>
          </a:bodyPr>
          <a:lstStyle/>
          <a:p>
            <a:pPr marL="0" indent="0">
              <a:buNone/>
            </a:pPr>
            <a:r>
              <a:rPr lang="en-US" sz="2300" b="1" dirty="0">
                <a:solidFill>
                  <a:srgbClr val="1B2B2A"/>
                </a:solidFill>
              </a:rPr>
              <a:t>Exercice 2 — computed() — Consigne et API Signal à utiliser</a:t>
            </a:r>
            <a:endParaRPr lang="en-US" sz="2300" dirty="0"/>
          </a:p>
        </p:txBody>
      </p:sp>
      <p:sp>
        <p:nvSpPr>
          <p:cNvPr id="4" name="Text 2"/>
          <p:cNvSpPr/>
          <p:nvPr/>
        </p:nvSpPr>
        <p:spPr>
          <a:xfrm>
            <a:off x="10317175" y="246888"/>
            <a:ext cx="1463040" cy="219456"/>
          </a:xfrm>
          <a:prstGeom prst="rect">
            <a:avLst/>
          </a:prstGeom>
          <a:solidFill>
            <a:srgbClr val="CFEDE2"/>
          </a:solidFill>
          <a:ln>
            <a:solidFill>
              <a:srgbClr val="CFEDE2"/>
            </a:solidFill>
          </a:ln>
        </p:spPr>
        <p:txBody>
          <a:bodyPr wrap="square" lIns="254" tIns="254" rIns="254" bIns="254" rtlCol="0" anchor="ctr"/>
          <a:lstStyle/>
          <a:p>
            <a:pPr marL="0" indent="0" algn="ctr">
              <a:buNone/>
            </a:pPr>
            <a:r>
              <a:rPr lang="en-US" sz="800" b="1" dirty="0">
                <a:solidFill>
                  <a:srgbClr val="008A5B"/>
                </a:solidFill>
              </a:rPr>
              <a:t>BNP Paribas</a:t>
            </a:r>
            <a:endParaRPr lang="en-US" sz="800" dirty="0"/>
          </a:p>
        </p:txBody>
      </p:sp>
      <p:sp>
        <p:nvSpPr>
          <p:cNvPr id="6" name="Text 3"/>
          <p:cNvSpPr/>
          <p:nvPr/>
        </p:nvSpPr>
        <p:spPr>
          <a:xfrm>
            <a:off x="411480" y="932688"/>
            <a:ext cx="11368735" cy="1225296"/>
          </a:xfrm>
          <a:prstGeom prst="rect">
            <a:avLst/>
          </a:prstGeom>
          <a:solidFill>
            <a:srgbClr val="15332F"/>
          </a:solidFill>
          <a:ln/>
        </p:spPr>
        <p:txBody>
          <a:bodyPr wrap="square" lIns="1016" tIns="1016" rIns="1016" bIns="1016" rtlCol="0" anchor="t">
            <a:normAutofit/>
          </a:bodyPr>
          <a:lstStyle/>
          <a:p>
            <a:pPr marL="0" indent="0">
              <a:buNone/>
            </a:pPr>
            <a:r>
              <a:rPr lang="en-US" sz="1030" dirty="0">
                <a:solidFill>
                  <a:srgbClr val="F8FAFC"/>
                </a:solidFill>
                <a:latin typeface="Courier New" pitchFamily="34" charset="0"/>
                <a:ea typeface="Courier New" pitchFamily="34" charset="-122"/>
                <a:cs typeface="Courier New" pitchFamily="34" charset="-120"/>
              </a:rPr>
              <a:t>readonly blockedAccountsCount = computed(() =&gt;</a:t>
            </a:r>
            <a:endParaRPr lang="en-US" sz="1030" dirty="0"/>
          </a:p>
          <a:p>
            <a:pPr marL="0" indent="0">
              <a:buNone/>
            </a:pPr>
            <a:r>
              <a:rPr lang="en-US" sz="1030" dirty="0">
                <a:solidFill>
                  <a:srgbClr val="F8FAFC"/>
                </a:solidFill>
                <a:latin typeface="Courier New" pitchFamily="34" charset="0"/>
                <a:ea typeface="Courier New" pitchFamily="34" charset="-122"/>
                <a:cs typeface="Courier New" pitchFamily="34" charset="-120"/>
              </a:rPr>
              <a:t>  this.filteredAccounts().filter(a =&gt; a.status === 'blocked').length</a:t>
            </a:r>
            <a:endParaRPr lang="en-US" sz="1030" dirty="0"/>
          </a:p>
          <a:p>
            <a:pPr marL="0" indent="0">
              <a:buNone/>
            </a:pPr>
            <a:r>
              <a:rPr lang="en-US" sz="1030" dirty="0">
                <a:solidFill>
                  <a:srgbClr val="F8FAFC"/>
                </a:solidFill>
                <a:latin typeface="Courier New" pitchFamily="34" charset="0"/>
                <a:ea typeface="Courier New" pitchFamily="34" charset="-122"/>
                <a:cs typeface="Courier New" pitchFamily="34" charset="-120"/>
              </a:rPr>
              <a:t>);</a:t>
            </a:r>
            <a:endParaRPr lang="en-US" sz="1030" dirty="0"/>
          </a:p>
          <a:p>
            <a:pPr marL="0" indent="0">
              <a:buNone/>
            </a:pPr>
            <a:endParaRPr lang="en-US" sz="1030" dirty="0"/>
          </a:p>
          <a:p>
            <a:pPr marL="0" indent="0">
              <a:buNone/>
            </a:pPr>
            <a:r>
              <a:rPr lang="en-US" sz="1030" dirty="0">
                <a:solidFill>
                  <a:srgbClr val="F8FAFC"/>
                </a:solidFill>
                <a:latin typeface="Courier New" pitchFamily="34" charset="0"/>
                <a:ea typeface="Courier New" pitchFamily="34" charset="-122"/>
                <a:cs typeface="Courier New" pitchFamily="34" charset="-120"/>
              </a:rPr>
              <a:t>blockedAccountsCount()  // lecture</a:t>
            </a:r>
            <a:endParaRPr lang="en-US" sz="1030" dirty="0"/>
          </a:p>
        </p:txBody>
      </p:sp>
      <p:sp>
        <p:nvSpPr>
          <p:cNvPr id="7" name="Text 4"/>
          <p:cNvSpPr/>
          <p:nvPr/>
        </p:nvSpPr>
        <p:spPr>
          <a:xfrm>
            <a:off x="411480" y="2304288"/>
            <a:ext cx="11368735" cy="731520"/>
          </a:xfrm>
          <a:prstGeom prst="rect">
            <a:avLst/>
          </a:prstGeom>
          <a:noFill/>
          <a:ln/>
        </p:spPr>
        <p:txBody>
          <a:bodyPr wrap="square" lIns="254" tIns="254" rIns="254" bIns="254" rtlCol="0" anchor="t">
            <a:normAutofit/>
          </a:bodyPr>
          <a:lstStyle/>
          <a:p>
            <a:pPr marL="0" indent="0">
              <a:buNone/>
            </a:pPr>
            <a:r>
              <a:rPr lang="en-US" sz="1420" dirty="0">
                <a:solidFill>
                  <a:srgbClr val="263B38"/>
                </a:solidFill>
              </a:rPr>
              <a:t>Dans accounts.facade.ts, accounts.component.ts et accounts.component.html, transformer blockedAccountsCount en valeur dérivée mémorisée avec computed(), puis exposer le signal dans le composant.</a:t>
            </a:r>
            <a:endParaRPr lang="en-US" sz="1420" dirty="0"/>
          </a:p>
        </p:txBody>
      </p:sp>
      <p:sp>
        <p:nvSpPr>
          <p:cNvPr id="8" name="Text 5"/>
          <p:cNvSpPr/>
          <p:nvPr/>
        </p:nvSpPr>
        <p:spPr>
          <a:xfrm>
            <a:off x="11277295" y="6537960"/>
            <a:ext cx="502920" cy="182880"/>
          </a:xfrm>
          <a:prstGeom prst="rect">
            <a:avLst/>
          </a:prstGeom>
          <a:noFill/>
          <a:ln/>
        </p:spPr>
        <p:txBody>
          <a:bodyPr wrap="square" rtlCol="0" anchor="ctr"/>
          <a:lstStyle/>
          <a:p>
            <a:pPr marL="0" indent="0" algn="r">
              <a:buNone/>
            </a:pPr>
            <a:r>
              <a:rPr lang="en-US" sz="700" dirty="0">
                <a:solidFill>
                  <a:srgbClr val="61716F"/>
                </a:solidFill>
              </a:rPr>
              <a:t>13/29</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F8F6"/>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8A5B"/>
          </a:solidFill>
          <a:ln w="12700">
            <a:solidFill>
              <a:srgbClr val="008A5B"/>
            </a:solidFill>
            <a:prstDash val="solid"/>
          </a:ln>
        </p:spPr>
      </p:sp>
      <p:sp>
        <p:nvSpPr>
          <p:cNvPr id="3" name="Text 1"/>
          <p:cNvSpPr/>
          <p:nvPr/>
        </p:nvSpPr>
        <p:spPr>
          <a:xfrm>
            <a:off x="411480" y="219456"/>
            <a:ext cx="9357055" cy="347472"/>
          </a:xfrm>
          <a:prstGeom prst="rect">
            <a:avLst/>
          </a:prstGeom>
          <a:noFill/>
          <a:ln/>
        </p:spPr>
        <p:txBody>
          <a:bodyPr wrap="square" lIns="0" tIns="0" rIns="0" bIns="0" rtlCol="0" anchor="ctr">
            <a:normAutofit/>
          </a:bodyPr>
          <a:lstStyle/>
          <a:p>
            <a:pPr marL="0" indent="0">
              <a:buNone/>
            </a:pPr>
            <a:r>
              <a:rPr lang="en-US" sz="2300" b="1" dirty="0">
                <a:solidFill>
                  <a:srgbClr val="1B2B2A"/>
                </a:solidFill>
              </a:rPr>
              <a:t>Exercice 2 — computed() — Test</a:t>
            </a:r>
            <a:endParaRPr lang="en-US" sz="2300" dirty="0"/>
          </a:p>
        </p:txBody>
      </p:sp>
      <p:sp>
        <p:nvSpPr>
          <p:cNvPr id="4" name="Text 2"/>
          <p:cNvSpPr/>
          <p:nvPr/>
        </p:nvSpPr>
        <p:spPr>
          <a:xfrm>
            <a:off x="10317175" y="246888"/>
            <a:ext cx="1463040" cy="219456"/>
          </a:xfrm>
          <a:prstGeom prst="rect">
            <a:avLst/>
          </a:prstGeom>
          <a:solidFill>
            <a:srgbClr val="CFEDE2"/>
          </a:solidFill>
          <a:ln>
            <a:solidFill>
              <a:srgbClr val="CFEDE2"/>
            </a:solidFill>
          </a:ln>
        </p:spPr>
        <p:txBody>
          <a:bodyPr wrap="square" lIns="254" tIns="254" rIns="254" bIns="254" rtlCol="0" anchor="ctr"/>
          <a:lstStyle/>
          <a:p>
            <a:pPr marL="0" indent="0" algn="ctr">
              <a:buNone/>
            </a:pPr>
            <a:r>
              <a:rPr lang="en-US" sz="800" b="1" dirty="0">
                <a:solidFill>
                  <a:srgbClr val="008A5B"/>
                </a:solidFill>
              </a:rPr>
              <a:t>BNP Paribas</a:t>
            </a:r>
            <a:endParaRPr lang="en-US" sz="800" dirty="0"/>
          </a:p>
        </p:txBody>
      </p:sp>
      <p:sp>
        <p:nvSpPr>
          <p:cNvPr id="5" name="Text 3"/>
          <p:cNvSpPr/>
          <p:nvPr/>
        </p:nvSpPr>
        <p:spPr>
          <a:xfrm>
            <a:off x="411480" y="932688"/>
            <a:ext cx="11368735" cy="640080"/>
          </a:xfrm>
          <a:prstGeom prst="rect">
            <a:avLst/>
          </a:prstGeom>
          <a:solidFill>
            <a:srgbClr val="15332F"/>
          </a:solidFill>
          <a:ln/>
        </p:spPr>
        <p:txBody>
          <a:bodyPr wrap="square" lIns="1016" tIns="1016" rIns="1016" bIns="1016" rtlCol="0" anchor="t">
            <a:normAutofit/>
          </a:bodyPr>
          <a:lstStyle/>
          <a:p>
            <a:pPr marL="0" indent="0">
              <a:buNone/>
            </a:pPr>
            <a:r>
              <a:rPr lang="en-US" sz="1030" dirty="0">
                <a:solidFill>
                  <a:srgbClr val="F8FAFC"/>
                </a:solidFill>
                <a:latin typeface="Courier New" pitchFamily="34" charset="0"/>
                <a:ea typeface="Courier New" pitchFamily="34" charset="-122"/>
                <a:cs typeface="Courier New" pitchFamily="34" charset="-120"/>
              </a:rPr>
              <a:t>npm test -- --runTestsByPath src/app/features/accounts/pages/accounts/accounts.component.spec.ts</a:t>
            </a:r>
            <a:endParaRPr lang="en-US" sz="1030" dirty="0"/>
          </a:p>
        </p:txBody>
      </p:sp>
      <p:sp>
        <p:nvSpPr>
          <p:cNvPr id="6" name="Text 4"/>
          <p:cNvSpPr/>
          <p:nvPr/>
        </p:nvSpPr>
        <p:spPr>
          <a:xfrm>
            <a:off x="11277295" y="6537960"/>
            <a:ext cx="502920" cy="182880"/>
          </a:xfrm>
          <a:prstGeom prst="rect">
            <a:avLst/>
          </a:prstGeom>
          <a:noFill/>
          <a:ln/>
        </p:spPr>
        <p:txBody>
          <a:bodyPr wrap="square" rtlCol="0" anchor="ctr"/>
          <a:lstStyle/>
          <a:p>
            <a:pPr marL="0" indent="0" algn="r">
              <a:buNone/>
            </a:pPr>
            <a:r>
              <a:rPr lang="en-US" sz="700" dirty="0">
                <a:solidFill>
                  <a:srgbClr val="61716F"/>
                </a:solidFill>
              </a:rPr>
              <a:t>14/29</a:t>
            </a:r>
            <a:endParaRPr lang="en-US" sz="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06B4F"/>
        </a:solidFill>
        <a:effectLst/>
      </p:bgPr>
    </p:bg>
    <p:spTree>
      <p:nvGrpSpPr>
        <p:cNvPr id="1" name=""/>
        <p:cNvGrpSpPr/>
        <p:nvPr/>
      </p:nvGrpSpPr>
      <p:grpSpPr>
        <a:xfrm>
          <a:off x="0" y="0"/>
          <a:ext cx="0" cy="0"/>
          <a:chOff x="0" y="0"/>
          <a:chExt cx="0" cy="0"/>
        </a:xfrm>
      </p:grpSpPr>
      <p:sp>
        <p:nvSpPr>
          <p:cNvPr id="2" name="Text 0"/>
          <p:cNvSpPr/>
          <p:nvPr/>
        </p:nvSpPr>
        <p:spPr>
          <a:xfrm>
            <a:off x="594360" y="1600200"/>
            <a:ext cx="11002975" cy="411480"/>
          </a:xfrm>
          <a:prstGeom prst="rect">
            <a:avLst/>
          </a:prstGeom>
          <a:noFill/>
          <a:ln/>
        </p:spPr>
        <p:txBody>
          <a:bodyPr wrap="square" lIns="0" tIns="0" rIns="0" bIns="0" rtlCol="0" anchor="ctr"/>
          <a:lstStyle/>
          <a:p>
            <a:pPr marL="0" indent="0" algn="ctr">
              <a:buNone/>
            </a:pPr>
            <a:r>
              <a:rPr lang="en-US" sz="1800" dirty="0">
                <a:solidFill>
                  <a:srgbClr val="CFEDE2"/>
                </a:solidFill>
              </a:rPr>
              <a:t>Exercice 3</a:t>
            </a:r>
            <a:endParaRPr lang="en-US" sz="1800" dirty="0"/>
          </a:p>
        </p:txBody>
      </p:sp>
      <p:sp>
        <p:nvSpPr>
          <p:cNvPr id="3" name="Text 1"/>
          <p:cNvSpPr/>
          <p:nvPr/>
        </p:nvSpPr>
        <p:spPr>
          <a:xfrm>
            <a:off x="594360" y="2148840"/>
            <a:ext cx="11002975" cy="1097280"/>
          </a:xfrm>
          <a:prstGeom prst="rect">
            <a:avLst/>
          </a:prstGeom>
          <a:noFill/>
          <a:ln/>
        </p:spPr>
        <p:txBody>
          <a:bodyPr wrap="square" lIns="0" tIns="0" rIns="0" bIns="0" rtlCol="0" anchor="ctr">
            <a:normAutofit/>
          </a:bodyPr>
          <a:lstStyle/>
          <a:p>
            <a:pPr marL="0" indent="0" algn="ctr">
              <a:buNone/>
            </a:pPr>
            <a:r>
              <a:rPr lang="en-US" sz="3800" b="1" dirty="0">
                <a:solidFill>
                  <a:srgbClr val="FFFFFF"/>
                </a:solidFill>
              </a:rPr>
              <a:t>effect() + untracked() pour synchroniser un état</a:t>
            </a:r>
            <a:endParaRPr lang="en-US" sz="3800" dirty="0"/>
          </a:p>
        </p:txBody>
      </p:sp>
      <p:sp>
        <p:nvSpPr>
          <p:cNvPr id="4" name="Text 2"/>
          <p:cNvSpPr/>
          <p:nvPr/>
        </p:nvSpPr>
        <p:spPr>
          <a:xfrm>
            <a:off x="11277295" y="6537960"/>
            <a:ext cx="502920" cy="182880"/>
          </a:xfrm>
          <a:prstGeom prst="rect">
            <a:avLst/>
          </a:prstGeom>
          <a:noFill/>
          <a:ln/>
        </p:spPr>
        <p:txBody>
          <a:bodyPr wrap="square" rtlCol="0" anchor="ctr"/>
          <a:lstStyle/>
          <a:p>
            <a:pPr marL="0" indent="0" algn="r">
              <a:buNone/>
            </a:pPr>
            <a:r>
              <a:rPr lang="en-US" sz="700" dirty="0">
                <a:solidFill>
                  <a:srgbClr val="61716F"/>
                </a:solidFill>
              </a:rPr>
              <a:t>15/29</a:t>
            </a:r>
            <a:endParaRPr lang="en-US" sz="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3F8F6"/>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8A5B"/>
          </a:solidFill>
          <a:ln w="12700">
            <a:solidFill>
              <a:srgbClr val="008A5B"/>
            </a:solidFill>
            <a:prstDash val="solid"/>
          </a:ln>
        </p:spPr>
      </p:sp>
      <p:sp>
        <p:nvSpPr>
          <p:cNvPr id="3" name="Text 1"/>
          <p:cNvSpPr/>
          <p:nvPr/>
        </p:nvSpPr>
        <p:spPr>
          <a:xfrm>
            <a:off x="411480" y="219456"/>
            <a:ext cx="9357055" cy="347472"/>
          </a:xfrm>
          <a:prstGeom prst="rect">
            <a:avLst/>
          </a:prstGeom>
          <a:noFill/>
          <a:ln/>
        </p:spPr>
        <p:txBody>
          <a:bodyPr wrap="square" lIns="0" tIns="0" rIns="0" bIns="0" rtlCol="0" anchor="ctr">
            <a:normAutofit/>
          </a:bodyPr>
          <a:lstStyle/>
          <a:p>
            <a:pPr marL="0" indent="0">
              <a:buNone/>
            </a:pPr>
            <a:r>
              <a:rPr lang="en-US" sz="1800" b="1" dirty="0">
                <a:solidFill>
                  <a:srgbClr val="1B2B2A"/>
                </a:solidFill>
              </a:rPr>
              <a:t>Exercice 3 — effect() + untracked() pour synchroniser un état — Consigne et APIs Signal à utiliser</a:t>
            </a:r>
            <a:endParaRPr lang="en-US" sz="1800" dirty="0"/>
          </a:p>
        </p:txBody>
      </p:sp>
      <p:sp>
        <p:nvSpPr>
          <p:cNvPr id="4" name="Text 2"/>
          <p:cNvSpPr/>
          <p:nvPr/>
        </p:nvSpPr>
        <p:spPr>
          <a:xfrm>
            <a:off x="10317175" y="246888"/>
            <a:ext cx="1463040" cy="219456"/>
          </a:xfrm>
          <a:prstGeom prst="rect">
            <a:avLst/>
          </a:prstGeom>
          <a:solidFill>
            <a:srgbClr val="CFEDE2"/>
          </a:solidFill>
          <a:ln>
            <a:solidFill>
              <a:srgbClr val="CFEDE2"/>
            </a:solidFill>
          </a:ln>
        </p:spPr>
        <p:txBody>
          <a:bodyPr wrap="square" lIns="254" tIns="254" rIns="254" bIns="254" rtlCol="0" anchor="ctr"/>
          <a:lstStyle/>
          <a:p>
            <a:pPr marL="0" indent="0" algn="ctr">
              <a:buNone/>
            </a:pPr>
            <a:r>
              <a:rPr lang="en-US" sz="800" b="1" dirty="0">
                <a:solidFill>
                  <a:srgbClr val="008A5B"/>
                </a:solidFill>
              </a:rPr>
              <a:t>BNP Paribas</a:t>
            </a:r>
            <a:endParaRPr lang="en-US" sz="800" dirty="0"/>
          </a:p>
        </p:txBody>
      </p:sp>
      <p:sp>
        <p:nvSpPr>
          <p:cNvPr id="6" name="Text 3"/>
          <p:cNvSpPr/>
          <p:nvPr/>
        </p:nvSpPr>
        <p:spPr>
          <a:xfrm>
            <a:off x="411480" y="932688"/>
            <a:ext cx="11368735" cy="731520"/>
          </a:xfrm>
          <a:prstGeom prst="rect">
            <a:avLst/>
          </a:prstGeom>
          <a:noFill/>
          <a:ln/>
        </p:spPr>
        <p:txBody>
          <a:bodyPr wrap="square" lIns="254" tIns="254" rIns="254" bIns="254" rtlCol="0" anchor="t">
            <a:normAutofit/>
          </a:bodyPr>
          <a:lstStyle/>
          <a:p>
            <a:pPr marL="0" indent="0">
              <a:buNone/>
            </a:pPr>
            <a:r>
              <a:rPr lang="en-US" sz="1420" dirty="0">
                <a:solidFill>
                  <a:srgbClr val="263B38"/>
                </a:solidFill>
              </a:rPr>
              <a:t>Dans src/app/features/clients/pages/clients/clients.component.ts, remplacer l'appel impératif this.clampCurrentPage() par un effect() afin de rendre la synchronisation automatique. Utiliser untracked() pour lire la page courante sans en faire une dépendance directe de l'effet.</a:t>
            </a:r>
            <a:endParaRPr lang="en-US" sz="1420" dirty="0"/>
          </a:p>
        </p:txBody>
      </p:sp>
      <p:sp>
        <p:nvSpPr>
          <p:cNvPr id="7" name="Text 4"/>
          <p:cNvSpPr/>
          <p:nvPr/>
        </p:nvSpPr>
        <p:spPr>
          <a:xfrm>
            <a:off x="11277295" y="6537960"/>
            <a:ext cx="502920" cy="182880"/>
          </a:xfrm>
          <a:prstGeom prst="rect">
            <a:avLst/>
          </a:prstGeom>
          <a:noFill/>
          <a:ln/>
        </p:spPr>
        <p:txBody>
          <a:bodyPr wrap="square" rtlCol="0" anchor="ctr"/>
          <a:lstStyle/>
          <a:p>
            <a:pPr marL="0" indent="0" algn="r">
              <a:buNone/>
            </a:pPr>
            <a:r>
              <a:rPr lang="en-US" sz="700" dirty="0">
                <a:solidFill>
                  <a:srgbClr val="61716F"/>
                </a:solidFill>
              </a:rPr>
              <a:t>16/29</a:t>
            </a:r>
            <a:endParaRPr lang="en-US" sz="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3F8F6"/>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8A5B"/>
          </a:solidFill>
          <a:ln w="12700">
            <a:solidFill>
              <a:srgbClr val="008A5B"/>
            </a:solidFill>
            <a:prstDash val="solid"/>
          </a:ln>
        </p:spPr>
      </p:sp>
      <p:sp>
        <p:nvSpPr>
          <p:cNvPr id="3" name="Text 1"/>
          <p:cNvSpPr/>
          <p:nvPr/>
        </p:nvSpPr>
        <p:spPr>
          <a:xfrm>
            <a:off x="411480" y="219456"/>
            <a:ext cx="9357055" cy="347472"/>
          </a:xfrm>
          <a:prstGeom prst="rect">
            <a:avLst/>
          </a:prstGeom>
          <a:noFill/>
          <a:ln/>
        </p:spPr>
        <p:txBody>
          <a:bodyPr wrap="square" lIns="0" tIns="0" rIns="0" bIns="0" rtlCol="0" anchor="ctr">
            <a:normAutofit/>
          </a:bodyPr>
          <a:lstStyle/>
          <a:p>
            <a:pPr marL="0" indent="0">
              <a:buNone/>
            </a:pPr>
            <a:r>
              <a:rPr lang="en-US" sz="2300" b="1" dirty="0">
                <a:solidFill>
                  <a:srgbClr val="1B2B2A"/>
                </a:solidFill>
              </a:rPr>
              <a:t>Exercice 3 — effect() + untracked() pour synchroniser un état — Test</a:t>
            </a:r>
            <a:endParaRPr lang="en-US" sz="2300" dirty="0"/>
          </a:p>
        </p:txBody>
      </p:sp>
      <p:sp>
        <p:nvSpPr>
          <p:cNvPr id="4" name="Text 2"/>
          <p:cNvSpPr/>
          <p:nvPr/>
        </p:nvSpPr>
        <p:spPr>
          <a:xfrm>
            <a:off x="10317175" y="246888"/>
            <a:ext cx="1463040" cy="219456"/>
          </a:xfrm>
          <a:prstGeom prst="rect">
            <a:avLst/>
          </a:prstGeom>
          <a:solidFill>
            <a:srgbClr val="CFEDE2"/>
          </a:solidFill>
          <a:ln>
            <a:solidFill>
              <a:srgbClr val="CFEDE2"/>
            </a:solidFill>
          </a:ln>
        </p:spPr>
        <p:txBody>
          <a:bodyPr wrap="square" lIns="254" tIns="254" rIns="254" bIns="254" rtlCol="0" anchor="ctr"/>
          <a:lstStyle/>
          <a:p>
            <a:pPr marL="0" indent="0" algn="ctr">
              <a:buNone/>
            </a:pPr>
            <a:r>
              <a:rPr lang="en-US" sz="800" b="1" dirty="0">
                <a:solidFill>
                  <a:srgbClr val="008A5B"/>
                </a:solidFill>
              </a:rPr>
              <a:t>BNP Paribas</a:t>
            </a:r>
            <a:endParaRPr lang="en-US" sz="800" dirty="0"/>
          </a:p>
        </p:txBody>
      </p:sp>
      <p:sp>
        <p:nvSpPr>
          <p:cNvPr id="5" name="Text 3"/>
          <p:cNvSpPr/>
          <p:nvPr/>
        </p:nvSpPr>
        <p:spPr>
          <a:xfrm>
            <a:off x="411480" y="932688"/>
            <a:ext cx="11368735" cy="640080"/>
          </a:xfrm>
          <a:prstGeom prst="rect">
            <a:avLst/>
          </a:prstGeom>
          <a:solidFill>
            <a:srgbClr val="15332F"/>
          </a:solidFill>
          <a:ln/>
        </p:spPr>
        <p:txBody>
          <a:bodyPr wrap="square" lIns="1016" tIns="1016" rIns="1016" bIns="1016" rtlCol="0" anchor="t">
            <a:normAutofit/>
          </a:bodyPr>
          <a:lstStyle/>
          <a:p>
            <a:pPr marL="0" indent="0">
              <a:buNone/>
            </a:pPr>
            <a:r>
              <a:rPr lang="en-US" sz="1030" dirty="0">
                <a:solidFill>
                  <a:srgbClr val="F8FAFC"/>
                </a:solidFill>
                <a:latin typeface="Courier New" pitchFamily="34" charset="0"/>
                <a:ea typeface="Courier New" pitchFamily="34" charset="-122"/>
                <a:cs typeface="Courier New" pitchFamily="34" charset="-120"/>
              </a:rPr>
              <a:t>npm test -- --runTestsByPath src/app/features/clients/pages/clients/clients.component.spec.ts</a:t>
            </a:r>
            <a:endParaRPr lang="en-US" sz="1030" dirty="0"/>
          </a:p>
        </p:txBody>
      </p:sp>
      <p:sp>
        <p:nvSpPr>
          <p:cNvPr id="6" name="Text 4"/>
          <p:cNvSpPr/>
          <p:nvPr/>
        </p:nvSpPr>
        <p:spPr>
          <a:xfrm>
            <a:off x="11277295" y="6537960"/>
            <a:ext cx="502920" cy="182880"/>
          </a:xfrm>
          <a:prstGeom prst="rect">
            <a:avLst/>
          </a:prstGeom>
          <a:noFill/>
          <a:ln/>
        </p:spPr>
        <p:txBody>
          <a:bodyPr wrap="square" rtlCol="0" anchor="ctr"/>
          <a:lstStyle/>
          <a:p>
            <a:pPr marL="0" indent="0" algn="r">
              <a:buNone/>
            </a:pPr>
            <a:r>
              <a:rPr lang="en-US" sz="700" dirty="0">
                <a:solidFill>
                  <a:srgbClr val="61716F"/>
                </a:solidFill>
              </a:rPr>
              <a:t>17/29</a:t>
            </a:r>
            <a:endParaRPr lang="en-US" sz="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3F8F6"/>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8A5B"/>
          </a:solidFill>
          <a:ln w="12700">
            <a:solidFill>
              <a:srgbClr val="008A5B"/>
            </a:solidFill>
            <a:prstDash val="solid"/>
          </a:ln>
        </p:spPr>
      </p:sp>
      <p:sp>
        <p:nvSpPr>
          <p:cNvPr id="3" name="Text 1"/>
          <p:cNvSpPr/>
          <p:nvPr/>
        </p:nvSpPr>
        <p:spPr>
          <a:xfrm>
            <a:off x="411480" y="219456"/>
            <a:ext cx="9357055" cy="347472"/>
          </a:xfrm>
          <a:prstGeom prst="rect">
            <a:avLst/>
          </a:prstGeom>
          <a:noFill/>
          <a:ln/>
        </p:spPr>
        <p:txBody>
          <a:bodyPr wrap="square" lIns="0" tIns="0" rIns="0" bIns="0" rtlCol="0" anchor="ctr">
            <a:normAutofit/>
          </a:bodyPr>
          <a:lstStyle/>
          <a:p>
            <a:pPr marL="0" indent="0">
              <a:buNone/>
            </a:pPr>
            <a:r>
              <a:rPr lang="en-US" sz="1800" b="1" dirty="0">
                <a:solidFill>
                  <a:srgbClr val="1B2B2A"/>
                </a:solidFill>
              </a:rPr>
              <a:t>Exercice 3 — effect() + untracked() pour synchroniser un état — Nettoyage de l'effet — onCleanup</a:t>
            </a:r>
            <a:endParaRPr lang="en-US" sz="1800" dirty="0"/>
          </a:p>
        </p:txBody>
      </p:sp>
      <p:sp>
        <p:nvSpPr>
          <p:cNvPr id="4" name="Text 2"/>
          <p:cNvSpPr/>
          <p:nvPr/>
        </p:nvSpPr>
        <p:spPr>
          <a:xfrm>
            <a:off x="10317175" y="246888"/>
            <a:ext cx="1463040" cy="219456"/>
          </a:xfrm>
          <a:prstGeom prst="rect">
            <a:avLst/>
          </a:prstGeom>
          <a:solidFill>
            <a:srgbClr val="CFEDE2"/>
          </a:solidFill>
          <a:ln>
            <a:solidFill>
              <a:srgbClr val="CFEDE2"/>
            </a:solidFill>
          </a:ln>
        </p:spPr>
        <p:txBody>
          <a:bodyPr wrap="square" lIns="254" tIns="254" rIns="254" bIns="254" rtlCol="0" anchor="ctr"/>
          <a:lstStyle/>
          <a:p>
            <a:pPr marL="0" indent="0" algn="ctr">
              <a:buNone/>
            </a:pPr>
            <a:r>
              <a:rPr lang="en-US" sz="800" b="1" dirty="0">
                <a:solidFill>
                  <a:srgbClr val="008A5B"/>
                </a:solidFill>
              </a:rPr>
              <a:t>BNP Paribas</a:t>
            </a:r>
            <a:endParaRPr lang="en-US" sz="800" dirty="0"/>
          </a:p>
        </p:txBody>
      </p:sp>
      <p:sp>
        <p:nvSpPr>
          <p:cNvPr id="6" name="Text 3"/>
          <p:cNvSpPr/>
          <p:nvPr/>
        </p:nvSpPr>
        <p:spPr>
          <a:xfrm>
            <a:off x="411480" y="932688"/>
            <a:ext cx="11368735" cy="1024128"/>
          </a:xfrm>
          <a:prstGeom prst="rect">
            <a:avLst/>
          </a:prstGeom>
          <a:solidFill>
            <a:srgbClr val="15332F"/>
          </a:solidFill>
          <a:ln/>
        </p:spPr>
        <p:txBody>
          <a:bodyPr wrap="square" lIns="1016" tIns="1016" rIns="1016" bIns="1016" rtlCol="0" anchor="t">
            <a:normAutofit/>
          </a:bodyPr>
          <a:lstStyle/>
          <a:p>
            <a:pPr marL="0" indent="0">
              <a:buNone/>
            </a:pPr>
            <a:r>
              <a:rPr lang="en-US" sz="1030" dirty="0">
                <a:solidFill>
                  <a:srgbClr val="F8FAFC"/>
                </a:solidFill>
                <a:latin typeface="Courier New" pitchFamily="34" charset="0"/>
                <a:ea typeface="Courier New" pitchFamily="34" charset="-122"/>
                <a:cs typeface="Courier New" pitchFamily="34" charset="-120"/>
              </a:rPr>
              <a:t>effect((onCleanup) =&gt; {</a:t>
            </a:r>
            <a:endParaRPr lang="en-US" sz="1030" dirty="0"/>
          </a:p>
          <a:p>
            <a:pPr marL="0" indent="0">
              <a:buNone/>
            </a:pPr>
            <a:r>
              <a:rPr lang="en-US" sz="1030" dirty="0">
                <a:solidFill>
                  <a:srgbClr val="F8FAFC"/>
                </a:solidFill>
                <a:latin typeface="Courier New" pitchFamily="34" charset="0"/>
                <a:ea typeface="Courier New" pitchFamily="34" charset="-122"/>
                <a:cs typeface="Courier New" pitchFamily="34" charset="-120"/>
              </a:rPr>
              <a:t>  const id = setInterval(() =&gt; console.log(this.search()), 1000);</a:t>
            </a:r>
            <a:endParaRPr lang="en-US" sz="1030" dirty="0"/>
          </a:p>
          <a:p>
            <a:pPr marL="0" indent="0">
              <a:buNone/>
            </a:pPr>
            <a:r>
              <a:rPr lang="en-US" sz="1030" dirty="0">
                <a:solidFill>
                  <a:srgbClr val="F8FAFC"/>
                </a:solidFill>
                <a:latin typeface="Courier New" pitchFamily="34" charset="0"/>
                <a:ea typeface="Courier New" pitchFamily="34" charset="-122"/>
                <a:cs typeface="Courier New" pitchFamily="34" charset="-120"/>
              </a:rPr>
              <a:t>  onCleanup(() =&gt; clearInterval(id));</a:t>
            </a:r>
            <a:endParaRPr lang="en-US" sz="1030" dirty="0"/>
          </a:p>
          <a:p>
            <a:pPr marL="0" indent="0">
              <a:buNone/>
            </a:pPr>
            <a:r>
              <a:rPr lang="en-US" sz="1030" dirty="0">
                <a:solidFill>
                  <a:srgbClr val="F8FAFC"/>
                </a:solidFill>
                <a:latin typeface="Courier New" pitchFamily="34" charset="0"/>
                <a:ea typeface="Courier New" pitchFamily="34" charset="-122"/>
                <a:cs typeface="Courier New" pitchFamily="34" charset="-120"/>
              </a:rPr>
              <a:t>});</a:t>
            </a:r>
            <a:endParaRPr lang="en-US" sz="1030" dirty="0"/>
          </a:p>
        </p:txBody>
      </p:sp>
      <p:sp>
        <p:nvSpPr>
          <p:cNvPr id="7" name="Text 4"/>
          <p:cNvSpPr/>
          <p:nvPr/>
        </p:nvSpPr>
        <p:spPr>
          <a:xfrm>
            <a:off x="11277295" y="6537960"/>
            <a:ext cx="502920" cy="182880"/>
          </a:xfrm>
          <a:prstGeom prst="rect">
            <a:avLst/>
          </a:prstGeom>
          <a:noFill/>
          <a:ln/>
        </p:spPr>
        <p:txBody>
          <a:bodyPr wrap="square" rtlCol="0" anchor="ctr"/>
          <a:lstStyle/>
          <a:p>
            <a:pPr marL="0" indent="0" algn="r">
              <a:buNone/>
            </a:pPr>
            <a:r>
              <a:rPr lang="en-US" sz="700" dirty="0">
                <a:solidFill>
                  <a:srgbClr val="61716F"/>
                </a:solidFill>
              </a:rPr>
              <a:t>18/29</a:t>
            </a:r>
            <a:endParaRPr lang="en-US" sz="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06B4F"/>
        </a:solidFill>
        <a:effectLst/>
      </p:bgPr>
    </p:bg>
    <p:spTree>
      <p:nvGrpSpPr>
        <p:cNvPr id="1" name=""/>
        <p:cNvGrpSpPr/>
        <p:nvPr/>
      </p:nvGrpSpPr>
      <p:grpSpPr>
        <a:xfrm>
          <a:off x="0" y="0"/>
          <a:ext cx="0" cy="0"/>
          <a:chOff x="0" y="0"/>
          <a:chExt cx="0" cy="0"/>
        </a:xfrm>
      </p:grpSpPr>
      <p:sp>
        <p:nvSpPr>
          <p:cNvPr id="2" name="Text 0"/>
          <p:cNvSpPr/>
          <p:nvPr/>
        </p:nvSpPr>
        <p:spPr>
          <a:xfrm>
            <a:off x="594360" y="1600200"/>
            <a:ext cx="11002975" cy="411480"/>
          </a:xfrm>
          <a:prstGeom prst="rect">
            <a:avLst/>
          </a:prstGeom>
          <a:noFill/>
          <a:ln/>
        </p:spPr>
        <p:txBody>
          <a:bodyPr wrap="square" lIns="0" tIns="0" rIns="0" bIns="0" rtlCol="0" anchor="ctr"/>
          <a:lstStyle/>
          <a:p>
            <a:pPr marL="0" indent="0" algn="ctr">
              <a:buNone/>
            </a:pPr>
            <a:r>
              <a:rPr lang="en-US" sz="1800" dirty="0">
                <a:solidFill>
                  <a:srgbClr val="CFEDE2"/>
                </a:solidFill>
              </a:rPr>
              <a:t>Exercice 4</a:t>
            </a:r>
            <a:endParaRPr lang="en-US" sz="1800" dirty="0"/>
          </a:p>
        </p:txBody>
      </p:sp>
      <p:sp>
        <p:nvSpPr>
          <p:cNvPr id="3" name="Text 1"/>
          <p:cNvSpPr/>
          <p:nvPr/>
        </p:nvSpPr>
        <p:spPr>
          <a:xfrm>
            <a:off x="594360" y="2148840"/>
            <a:ext cx="11002975" cy="1097280"/>
          </a:xfrm>
          <a:prstGeom prst="rect">
            <a:avLst/>
          </a:prstGeom>
          <a:noFill/>
          <a:ln/>
        </p:spPr>
        <p:txBody>
          <a:bodyPr wrap="square" lIns="0" tIns="0" rIns="0" bIns="0" rtlCol="0" anchor="ctr">
            <a:normAutofit/>
          </a:bodyPr>
          <a:lstStyle/>
          <a:p>
            <a:pPr marL="0" indent="0" algn="ctr">
              <a:buNone/>
            </a:pPr>
            <a:r>
              <a:rPr lang="en-US" sz="3800" b="1" dirty="0">
                <a:solidFill>
                  <a:srgbClr val="FFFFFF"/>
                </a:solidFill>
              </a:rPr>
              <a:t>input()</a:t>
            </a:r>
            <a:endParaRPr lang="en-US" sz="3800" dirty="0"/>
          </a:p>
        </p:txBody>
      </p:sp>
      <p:sp>
        <p:nvSpPr>
          <p:cNvPr id="4" name="Text 2"/>
          <p:cNvSpPr/>
          <p:nvPr/>
        </p:nvSpPr>
        <p:spPr>
          <a:xfrm>
            <a:off x="11277295" y="6537960"/>
            <a:ext cx="502920" cy="182880"/>
          </a:xfrm>
          <a:prstGeom prst="rect">
            <a:avLst/>
          </a:prstGeom>
          <a:noFill/>
          <a:ln/>
        </p:spPr>
        <p:txBody>
          <a:bodyPr wrap="square" rtlCol="0" anchor="ctr"/>
          <a:lstStyle/>
          <a:p>
            <a:pPr marL="0" indent="0" algn="r">
              <a:buNone/>
            </a:pPr>
            <a:r>
              <a:rPr lang="en-US" sz="700" dirty="0">
                <a:solidFill>
                  <a:srgbClr val="61716F"/>
                </a:solidFill>
              </a:rPr>
              <a:t>19/29</a:t>
            </a:r>
            <a:endParaRPr lang="en-US" sz="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3F8F6"/>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8A5B"/>
          </a:solidFill>
          <a:ln w="12700">
            <a:solidFill>
              <a:srgbClr val="008A5B"/>
            </a:solidFill>
            <a:prstDash val="solid"/>
          </a:ln>
        </p:spPr>
      </p:sp>
      <p:sp>
        <p:nvSpPr>
          <p:cNvPr id="3" name="Text 1"/>
          <p:cNvSpPr/>
          <p:nvPr/>
        </p:nvSpPr>
        <p:spPr>
          <a:xfrm>
            <a:off x="411480" y="219456"/>
            <a:ext cx="9357055" cy="347472"/>
          </a:xfrm>
          <a:prstGeom prst="rect">
            <a:avLst/>
          </a:prstGeom>
          <a:noFill/>
          <a:ln/>
        </p:spPr>
        <p:txBody>
          <a:bodyPr wrap="square" lIns="0" tIns="0" rIns="0" bIns="0" rtlCol="0" anchor="ctr">
            <a:normAutofit/>
          </a:bodyPr>
          <a:lstStyle/>
          <a:p>
            <a:pPr marL="0" indent="0">
              <a:buNone/>
            </a:pPr>
            <a:r>
              <a:rPr lang="en-US" sz="2300" b="1" dirty="0">
                <a:solidFill>
                  <a:srgbClr val="1B2B2A"/>
                </a:solidFill>
              </a:rPr>
              <a:t>Exercice 4 — input() — Consigne et API Angular à utiliser</a:t>
            </a:r>
            <a:endParaRPr lang="en-US" sz="2300" dirty="0"/>
          </a:p>
        </p:txBody>
      </p:sp>
      <p:sp>
        <p:nvSpPr>
          <p:cNvPr id="4" name="Text 2"/>
          <p:cNvSpPr/>
          <p:nvPr/>
        </p:nvSpPr>
        <p:spPr>
          <a:xfrm>
            <a:off x="10317175" y="246888"/>
            <a:ext cx="1463040" cy="219456"/>
          </a:xfrm>
          <a:prstGeom prst="rect">
            <a:avLst/>
          </a:prstGeom>
          <a:solidFill>
            <a:srgbClr val="CFEDE2"/>
          </a:solidFill>
          <a:ln>
            <a:solidFill>
              <a:srgbClr val="CFEDE2"/>
            </a:solidFill>
          </a:ln>
        </p:spPr>
        <p:txBody>
          <a:bodyPr wrap="square" lIns="254" tIns="254" rIns="254" bIns="254" rtlCol="0" anchor="ctr"/>
          <a:lstStyle/>
          <a:p>
            <a:pPr marL="0" indent="0" algn="ctr">
              <a:buNone/>
            </a:pPr>
            <a:r>
              <a:rPr lang="en-US" sz="800" b="1" dirty="0">
                <a:solidFill>
                  <a:srgbClr val="008A5B"/>
                </a:solidFill>
              </a:rPr>
              <a:t>BNP Paribas</a:t>
            </a:r>
            <a:endParaRPr lang="en-US" sz="800" dirty="0"/>
          </a:p>
        </p:txBody>
      </p:sp>
      <p:sp>
        <p:nvSpPr>
          <p:cNvPr id="6" name="Text 3"/>
          <p:cNvSpPr/>
          <p:nvPr/>
        </p:nvSpPr>
        <p:spPr>
          <a:xfrm>
            <a:off x="411480" y="932688"/>
            <a:ext cx="11368735" cy="822960"/>
          </a:xfrm>
          <a:prstGeom prst="rect">
            <a:avLst/>
          </a:prstGeom>
          <a:solidFill>
            <a:srgbClr val="15332F"/>
          </a:solidFill>
          <a:ln/>
        </p:spPr>
        <p:txBody>
          <a:bodyPr wrap="square" lIns="1016" tIns="1016" rIns="1016" bIns="1016" rtlCol="0" anchor="t">
            <a:normAutofit/>
          </a:bodyPr>
          <a:lstStyle/>
          <a:p>
            <a:pPr marL="0" indent="0">
              <a:buNone/>
            </a:pPr>
            <a:r>
              <a:rPr lang="en-US" sz="1030" dirty="0">
                <a:solidFill>
                  <a:srgbClr val="F8FAFC"/>
                </a:solidFill>
                <a:latin typeface="Courier New" pitchFamily="34" charset="0"/>
                <a:ea typeface="Courier New" pitchFamily="34" charset="-122"/>
                <a:cs typeface="Courier New" pitchFamily="34" charset="-120"/>
              </a:rPr>
              <a:t>showStatus = input(true);              // avec valeur par défaut</a:t>
            </a:r>
            <a:endParaRPr lang="en-US" sz="1030" dirty="0"/>
          </a:p>
          <a:p>
            <a:pPr marL="0" indent="0">
              <a:buNone/>
            </a:pPr>
            <a:r>
              <a:rPr lang="en-US" sz="1030" dirty="0">
                <a:solidFill>
                  <a:srgbClr val="F8FAFC"/>
                </a:solidFill>
                <a:latin typeface="Courier New" pitchFamily="34" charset="0"/>
                <a:ea typeface="Courier New" pitchFamily="34" charset="-122"/>
                <a:cs typeface="Courier New" pitchFamily="34" charset="-120"/>
              </a:rPr>
              <a:t>account = input.required&lt;Account&gt;();   // requis</a:t>
            </a:r>
            <a:endParaRPr lang="en-US" sz="1030" dirty="0"/>
          </a:p>
          <a:p>
            <a:pPr marL="0" indent="0">
              <a:buNone/>
            </a:pPr>
            <a:r>
              <a:rPr lang="en-US" sz="1030" dirty="0">
                <a:solidFill>
                  <a:srgbClr val="F8FAFC"/>
                </a:solidFill>
                <a:latin typeface="Courier New" pitchFamily="34" charset="0"/>
                <a:ea typeface="Courier New" pitchFamily="34" charset="-122"/>
                <a:cs typeface="Courier New" pitchFamily="34" charset="-120"/>
              </a:rPr>
              <a:t>showStatus()                           // lecture</a:t>
            </a:r>
            <a:endParaRPr lang="en-US" sz="1030" dirty="0"/>
          </a:p>
        </p:txBody>
      </p:sp>
      <p:sp>
        <p:nvSpPr>
          <p:cNvPr id="7" name="Text 4"/>
          <p:cNvSpPr/>
          <p:nvPr/>
        </p:nvSpPr>
        <p:spPr>
          <a:xfrm>
            <a:off x="411480" y="1901952"/>
            <a:ext cx="11368735" cy="731520"/>
          </a:xfrm>
          <a:prstGeom prst="rect">
            <a:avLst/>
          </a:prstGeom>
          <a:noFill/>
          <a:ln/>
        </p:spPr>
        <p:txBody>
          <a:bodyPr wrap="square" lIns="254" tIns="254" rIns="254" bIns="254" rtlCol="0" anchor="t">
            <a:normAutofit/>
          </a:bodyPr>
          <a:lstStyle/>
          <a:p>
            <a:pPr marL="0" indent="0">
              <a:buNone/>
            </a:pPr>
            <a:r>
              <a:rPr lang="en-US" sz="1420" dirty="0">
                <a:solidFill>
                  <a:srgbClr val="263B38"/>
                </a:solidFill>
              </a:rPr>
              <a:t>Dans src/app/features/accounts/components/account-card/account-card.component.ts, transformer @Input() showStatus = true en showStatus = input(true) pour faire de cette entrée une vraie dépendance signal dans visibleStatusLabel. Retirer aussi Input des imports.</a:t>
            </a:r>
            <a:endParaRPr lang="en-US" sz="1420" dirty="0"/>
          </a:p>
        </p:txBody>
      </p:sp>
      <p:sp>
        <p:nvSpPr>
          <p:cNvPr id="8" name="Text 5"/>
          <p:cNvSpPr/>
          <p:nvPr/>
        </p:nvSpPr>
        <p:spPr>
          <a:xfrm>
            <a:off x="11277295" y="6537960"/>
            <a:ext cx="502920" cy="182880"/>
          </a:xfrm>
          <a:prstGeom prst="rect">
            <a:avLst/>
          </a:prstGeom>
          <a:noFill/>
          <a:ln/>
        </p:spPr>
        <p:txBody>
          <a:bodyPr wrap="square" rtlCol="0" anchor="ctr"/>
          <a:lstStyle/>
          <a:p>
            <a:pPr marL="0" indent="0" algn="r">
              <a:buNone/>
            </a:pPr>
            <a:r>
              <a:rPr lang="en-US" sz="700" dirty="0">
                <a:solidFill>
                  <a:srgbClr val="61716F"/>
                </a:solidFill>
              </a:rPr>
              <a:t>20/29</a:t>
            </a:r>
            <a:endParaRPr lang="en-US" sz="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3F8F6"/>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8A5B"/>
          </a:solidFill>
          <a:ln w="12700">
            <a:solidFill>
              <a:srgbClr val="008A5B"/>
            </a:solidFill>
            <a:prstDash val="solid"/>
          </a:ln>
        </p:spPr>
      </p:sp>
      <p:sp>
        <p:nvSpPr>
          <p:cNvPr id="3" name="Text 1"/>
          <p:cNvSpPr/>
          <p:nvPr/>
        </p:nvSpPr>
        <p:spPr>
          <a:xfrm>
            <a:off x="411480" y="219456"/>
            <a:ext cx="9357055" cy="347472"/>
          </a:xfrm>
          <a:prstGeom prst="rect">
            <a:avLst/>
          </a:prstGeom>
          <a:noFill/>
          <a:ln/>
        </p:spPr>
        <p:txBody>
          <a:bodyPr wrap="square" lIns="0" tIns="0" rIns="0" bIns="0" rtlCol="0" anchor="ctr">
            <a:normAutofit/>
          </a:bodyPr>
          <a:lstStyle/>
          <a:p>
            <a:pPr marL="0" indent="0">
              <a:buNone/>
            </a:pPr>
            <a:r>
              <a:rPr lang="en-US" sz="2300" b="1" dirty="0">
                <a:solidFill>
                  <a:srgbClr val="1B2B2A"/>
                </a:solidFill>
              </a:rPr>
              <a:t>Exercice 4 — input() — Test</a:t>
            </a:r>
            <a:endParaRPr lang="en-US" sz="2300" dirty="0"/>
          </a:p>
        </p:txBody>
      </p:sp>
      <p:sp>
        <p:nvSpPr>
          <p:cNvPr id="4" name="Text 2"/>
          <p:cNvSpPr/>
          <p:nvPr/>
        </p:nvSpPr>
        <p:spPr>
          <a:xfrm>
            <a:off x="10317175" y="246888"/>
            <a:ext cx="1463040" cy="219456"/>
          </a:xfrm>
          <a:prstGeom prst="rect">
            <a:avLst/>
          </a:prstGeom>
          <a:solidFill>
            <a:srgbClr val="CFEDE2"/>
          </a:solidFill>
          <a:ln>
            <a:solidFill>
              <a:srgbClr val="CFEDE2"/>
            </a:solidFill>
          </a:ln>
        </p:spPr>
        <p:txBody>
          <a:bodyPr wrap="square" lIns="254" tIns="254" rIns="254" bIns="254" rtlCol="0" anchor="ctr"/>
          <a:lstStyle/>
          <a:p>
            <a:pPr marL="0" indent="0" algn="ctr">
              <a:buNone/>
            </a:pPr>
            <a:r>
              <a:rPr lang="en-US" sz="800" b="1" dirty="0">
                <a:solidFill>
                  <a:srgbClr val="008A5B"/>
                </a:solidFill>
              </a:rPr>
              <a:t>BNP Paribas</a:t>
            </a:r>
            <a:endParaRPr lang="en-US" sz="800" dirty="0"/>
          </a:p>
        </p:txBody>
      </p:sp>
      <p:sp>
        <p:nvSpPr>
          <p:cNvPr id="5" name="Text 3"/>
          <p:cNvSpPr/>
          <p:nvPr/>
        </p:nvSpPr>
        <p:spPr>
          <a:xfrm>
            <a:off x="411480" y="932688"/>
            <a:ext cx="11368735" cy="640080"/>
          </a:xfrm>
          <a:prstGeom prst="rect">
            <a:avLst/>
          </a:prstGeom>
          <a:solidFill>
            <a:srgbClr val="15332F"/>
          </a:solidFill>
          <a:ln/>
        </p:spPr>
        <p:txBody>
          <a:bodyPr wrap="square" lIns="1016" tIns="1016" rIns="1016" bIns="1016" rtlCol="0" anchor="t">
            <a:normAutofit/>
          </a:bodyPr>
          <a:lstStyle/>
          <a:p>
            <a:pPr marL="0" indent="0">
              <a:buNone/>
            </a:pPr>
            <a:r>
              <a:rPr lang="en-US" sz="1030" dirty="0">
                <a:solidFill>
                  <a:srgbClr val="F8FAFC"/>
                </a:solidFill>
                <a:latin typeface="Courier New" pitchFamily="34" charset="0"/>
                <a:ea typeface="Courier New" pitchFamily="34" charset="-122"/>
                <a:cs typeface="Courier New" pitchFamily="34" charset="-120"/>
              </a:rPr>
              <a:t>npm test -- --runTestsByPath src/app/features/accounts/components/account-card/account-card.component.spec.ts</a:t>
            </a:r>
            <a:endParaRPr lang="en-US" sz="1030" dirty="0"/>
          </a:p>
        </p:txBody>
      </p:sp>
      <p:sp>
        <p:nvSpPr>
          <p:cNvPr id="6" name="Text 4"/>
          <p:cNvSpPr/>
          <p:nvPr/>
        </p:nvSpPr>
        <p:spPr>
          <a:xfrm>
            <a:off x="11277295" y="6537960"/>
            <a:ext cx="502920" cy="182880"/>
          </a:xfrm>
          <a:prstGeom prst="rect">
            <a:avLst/>
          </a:prstGeom>
          <a:noFill/>
          <a:ln/>
        </p:spPr>
        <p:txBody>
          <a:bodyPr wrap="square" rtlCol="0" anchor="ctr"/>
          <a:lstStyle/>
          <a:p>
            <a:pPr marL="0" indent="0" algn="r">
              <a:buNone/>
            </a:pPr>
            <a:r>
              <a:rPr lang="en-US" sz="700" dirty="0">
                <a:solidFill>
                  <a:srgbClr val="61716F"/>
                </a:solidFill>
              </a:rPr>
              <a:t>21/29</a:t>
            </a:r>
            <a:endParaRPr lang="en-US" sz="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3F8F6"/>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8A5B"/>
          </a:solidFill>
          <a:ln w="12700">
            <a:solidFill>
              <a:srgbClr val="008A5B"/>
            </a:solidFill>
            <a:prstDash val="solid"/>
          </a:ln>
        </p:spPr>
      </p:sp>
      <p:sp>
        <p:nvSpPr>
          <p:cNvPr id="3" name="Text 1"/>
          <p:cNvSpPr/>
          <p:nvPr/>
        </p:nvSpPr>
        <p:spPr>
          <a:xfrm>
            <a:off x="411480" y="219456"/>
            <a:ext cx="9357055" cy="347472"/>
          </a:xfrm>
          <a:prstGeom prst="rect">
            <a:avLst/>
          </a:prstGeom>
          <a:noFill/>
          <a:ln/>
        </p:spPr>
        <p:txBody>
          <a:bodyPr wrap="square" lIns="0" tIns="0" rIns="0" bIns="0" rtlCol="0" anchor="ctr">
            <a:normAutofit/>
          </a:bodyPr>
          <a:lstStyle/>
          <a:p>
            <a:pPr marL="0" indent="0">
              <a:buNone/>
            </a:pPr>
            <a:r>
              <a:rPr lang="en-US" sz="2300" b="1" dirty="0">
                <a:solidFill>
                  <a:srgbClr val="1B2B2A"/>
                </a:solidFill>
              </a:rPr>
              <a:t>Exercice 4 — input() — Parenthèse APIs composant — output() et model()</a:t>
            </a:r>
            <a:endParaRPr lang="en-US" sz="2300" dirty="0"/>
          </a:p>
        </p:txBody>
      </p:sp>
      <p:sp>
        <p:nvSpPr>
          <p:cNvPr id="4" name="Text 2"/>
          <p:cNvSpPr/>
          <p:nvPr/>
        </p:nvSpPr>
        <p:spPr>
          <a:xfrm>
            <a:off x="10317175" y="246888"/>
            <a:ext cx="1463040" cy="219456"/>
          </a:xfrm>
          <a:prstGeom prst="rect">
            <a:avLst/>
          </a:prstGeom>
          <a:solidFill>
            <a:srgbClr val="CFEDE2"/>
          </a:solidFill>
          <a:ln>
            <a:solidFill>
              <a:srgbClr val="CFEDE2"/>
            </a:solidFill>
          </a:ln>
        </p:spPr>
        <p:txBody>
          <a:bodyPr wrap="square" lIns="254" tIns="254" rIns="254" bIns="254" rtlCol="0" anchor="ctr"/>
          <a:lstStyle/>
          <a:p>
            <a:pPr marL="0" indent="0" algn="ctr">
              <a:buNone/>
            </a:pPr>
            <a:r>
              <a:rPr lang="en-US" sz="800" b="1" dirty="0">
                <a:solidFill>
                  <a:srgbClr val="008A5B"/>
                </a:solidFill>
              </a:rPr>
              <a:t>BNP Paribas</a:t>
            </a:r>
            <a:endParaRPr lang="en-US" sz="800" dirty="0"/>
          </a:p>
        </p:txBody>
      </p:sp>
      <p:sp>
        <p:nvSpPr>
          <p:cNvPr id="6" name="Text 3"/>
          <p:cNvSpPr/>
          <p:nvPr/>
        </p:nvSpPr>
        <p:spPr>
          <a:xfrm>
            <a:off x="411480" y="932688"/>
            <a:ext cx="11368735" cy="1627632"/>
          </a:xfrm>
          <a:prstGeom prst="rect">
            <a:avLst/>
          </a:prstGeom>
          <a:solidFill>
            <a:srgbClr val="15332F"/>
          </a:solidFill>
          <a:ln/>
        </p:spPr>
        <p:txBody>
          <a:bodyPr wrap="square" lIns="1016" tIns="1016" rIns="1016" bIns="1016" rtlCol="0" anchor="t">
            <a:normAutofit/>
          </a:bodyPr>
          <a:lstStyle/>
          <a:p>
            <a:pPr marL="0" indent="0">
              <a:buNone/>
            </a:pPr>
            <a:r>
              <a:rPr lang="en-US" sz="1030" dirty="0">
                <a:solidFill>
                  <a:srgbClr val="F8FAFC"/>
                </a:solidFill>
                <a:latin typeface="Courier New" pitchFamily="34" charset="0"/>
                <a:ea typeface="Courier New" pitchFamily="34" charset="-122"/>
                <a:cs typeface="Courier New" pitchFamily="34" charset="-120"/>
              </a:rPr>
              <a:t>@Output() selectedRequested = new EventEmitter&lt;Account&gt;();</a:t>
            </a:r>
            <a:endParaRPr lang="en-US" sz="1030" dirty="0"/>
          </a:p>
          <a:p>
            <a:pPr marL="0" indent="0">
              <a:buNone/>
            </a:pPr>
            <a:endParaRPr lang="en-US" sz="1030" dirty="0"/>
          </a:p>
          <a:p>
            <a:pPr marL="0" indent="0">
              <a:buNone/>
            </a:pPr>
            <a:r>
              <a:rPr lang="en-US" sz="1030" dirty="0">
                <a:solidFill>
                  <a:srgbClr val="F8FAFC"/>
                </a:solidFill>
                <a:latin typeface="Courier New" pitchFamily="34" charset="0"/>
                <a:ea typeface="Courier New" pitchFamily="34" charset="-122"/>
                <a:cs typeface="Courier New" pitchFamily="34" charset="-120"/>
              </a:rPr>
              <a:t>// devient</a:t>
            </a:r>
            <a:endParaRPr lang="en-US" sz="1030" dirty="0"/>
          </a:p>
          <a:p>
            <a:pPr marL="0" indent="0">
              <a:buNone/>
            </a:pPr>
            <a:endParaRPr lang="en-US" sz="1030" dirty="0"/>
          </a:p>
          <a:p>
            <a:pPr marL="0" indent="0">
              <a:buNone/>
            </a:pPr>
            <a:r>
              <a:rPr lang="en-US" sz="1030" dirty="0">
                <a:solidFill>
                  <a:srgbClr val="F8FAFC"/>
                </a:solidFill>
                <a:latin typeface="Courier New" pitchFamily="34" charset="0"/>
                <a:ea typeface="Courier New" pitchFamily="34" charset="-122"/>
                <a:cs typeface="Courier New" pitchFamily="34" charset="-120"/>
              </a:rPr>
              <a:t>selectedRequested = output&lt;Account&gt;();       // déclarer</a:t>
            </a:r>
            <a:endParaRPr lang="en-US" sz="1030" dirty="0"/>
          </a:p>
          <a:p>
            <a:pPr marL="0" indent="0">
              <a:buNone/>
            </a:pPr>
            <a:r>
              <a:rPr lang="en-US" sz="1030" dirty="0">
                <a:solidFill>
                  <a:srgbClr val="F8FAFC"/>
                </a:solidFill>
                <a:latin typeface="Courier New" pitchFamily="34" charset="0"/>
                <a:ea typeface="Courier New" pitchFamily="34" charset="-122"/>
                <a:cs typeface="Courier New" pitchFamily="34" charset="-120"/>
              </a:rPr>
              <a:t>this.selectedRequested.emit(account);        // émettre</a:t>
            </a:r>
            <a:endParaRPr lang="en-US" sz="1030" dirty="0"/>
          </a:p>
          <a:p>
            <a:pPr marL="0" indent="0">
              <a:buNone/>
            </a:pPr>
            <a:r>
              <a:rPr lang="en-US" sz="1030" dirty="0">
                <a:solidFill>
                  <a:srgbClr val="F8FAFC"/>
                </a:solidFill>
                <a:latin typeface="Courier New" pitchFamily="34" charset="0"/>
                <a:ea typeface="Courier New" pitchFamily="34" charset="-122"/>
                <a:cs typeface="Courier New" pitchFamily="34" charset="-120"/>
              </a:rPr>
              <a:t>(selectedRequested)="startEdit($event)"      // écouter dans le parent</a:t>
            </a:r>
            <a:endParaRPr lang="en-US" sz="1030" dirty="0"/>
          </a:p>
        </p:txBody>
      </p:sp>
      <p:sp>
        <p:nvSpPr>
          <p:cNvPr id="7" name="Text 4"/>
          <p:cNvSpPr/>
          <p:nvPr/>
        </p:nvSpPr>
        <p:spPr>
          <a:xfrm>
            <a:off x="411480" y="2706624"/>
            <a:ext cx="11368735" cy="1426464"/>
          </a:xfrm>
          <a:prstGeom prst="rect">
            <a:avLst/>
          </a:prstGeom>
          <a:solidFill>
            <a:srgbClr val="15332F"/>
          </a:solidFill>
          <a:ln/>
        </p:spPr>
        <p:txBody>
          <a:bodyPr wrap="square" lIns="1016" tIns="1016" rIns="1016" bIns="1016" rtlCol="0" anchor="t">
            <a:normAutofit/>
          </a:bodyPr>
          <a:lstStyle/>
          <a:p>
            <a:pPr marL="0" indent="0">
              <a:buNone/>
            </a:pPr>
            <a:r>
              <a:rPr lang="en-US" sz="1030" dirty="0">
                <a:solidFill>
                  <a:srgbClr val="F8FAFC"/>
                </a:solidFill>
                <a:latin typeface="Courier New" pitchFamily="34" charset="0"/>
                <a:ea typeface="Courier New" pitchFamily="34" charset="-122"/>
                <a:cs typeface="Courier New" pitchFamily="34" charset="-120"/>
              </a:rPr>
              <a:t>// Enfant</a:t>
            </a:r>
            <a:endParaRPr lang="en-US" sz="1030" dirty="0"/>
          </a:p>
          <a:p>
            <a:pPr marL="0" indent="0">
              <a:buNone/>
            </a:pPr>
            <a:r>
              <a:rPr lang="en-US" sz="1030" dirty="0">
                <a:solidFill>
                  <a:srgbClr val="F8FAFC"/>
                </a:solidFill>
                <a:latin typeface="Courier New" pitchFamily="34" charset="0"/>
                <a:ea typeface="Courier New" pitchFamily="34" charset="-122"/>
                <a:cs typeface="Courier New" pitchFamily="34" charset="-120"/>
              </a:rPr>
              <a:t>quantity = model(1);</a:t>
            </a:r>
            <a:endParaRPr lang="en-US" sz="1030" dirty="0"/>
          </a:p>
          <a:p>
            <a:pPr marL="0" indent="0">
              <a:buNone/>
            </a:pPr>
            <a:r>
              <a:rPr lang="en-US" sz="1030" dirty="0">
                <a:solidFill>
                  <a:srgbClr val="F8FAFC"/>
                </a:solidFill>
                <a:latin typeface="Courier New" pitchFamily="34" charset="0"/>
                <a:ea typeface="Courier New" pitchFamily="34" charset="-122"/>
                <a:cs typeface="Courier New" pitchFamily="34" charset="-120"/>
              </a:rPr>
              <a:t>this.quantity.update(q =&gt; q + 1);</a:t>
            </a:r>
            <a:endParaRPr lang="en-US" sz="1030" dirty="0"/>
          </a:p>
          <a:p>
            <a:pPr marL="0" indent="0">
              <a:buNone/>
            </a:pPr>
            <a:endParaRPr lang="en-US" sz="1030" dirty="0"/>
          </a:p>
          <a:p>
            <a:pPr marL="0" indent="0">
              <a:buNone/>
            </a:pPr>
            <a:r>
              <a:rPr lang="en-US" sz="1030" dirty="0">
                <a:solidFill>
                  <a:srgbClr val="F8FAFC"/>
                </a:solidFill>
                <a:latin typeface="Courier New" pitchFamily="34" charset="0"/>
                <a:ea typeface="Courier New" pitchFamily="34" charset="-122"/>
                <a:cs typeface="Courier New" pitchFamily="34" charset="-120"/>
              </a:rPr>
              <a:t>// Parent</a:t>
            </a:r>
            <a:endParaRPr lang="en-US" sz="1030" dirty="0"/>
          </a:p>
          <a:p>
            <a:pPr marL="0" indent="0">
              <a:buNone/>
            </a:pPr>
            <a:r>
              <a:rPr lang="en-US" sz="1030" dirty="0">
                <a:solidFill>
                  <a:srgbClr val="F8FAFC"/>
                </a:solidFill>
                <a:latin typeface="Courier New" pitchFamily="34" charset="0"/>
                <a:ea typeface="Courier New" pitchFamily="34" charset="-122"/>
                <a:cs typeface="Courier New" pitchFamily="34" charset="-120"/>
              </a:rPr>
              <a:t>&lt;app-counter [(quantity)]="quantity" /&gt;</a:t>
            </a:r>
            <a:endParaRPr lang="en-US" sz="1030" dirty="0"/>
          </a:p>
        </p:txBody>
      </p:sp>
      <p:sp>
        <p:nvSpPr>
          <p:cNvPr id="8" name="Text 5"/>
          <p:cNvSpPr/>
          <p:nvPr/>
        </p:nvSpPr>
        <p:spPr>
          <a:xfrm>
            <a:off x="11277295" y="6537960"/>
            <a:ext cx="502920" cy="182880"/>
          </a:xfrm>
          <a:prstGeom prst="rect">
            <a:avLst/>
          </a:prstGeom>
          <a:noFill/>
          <a:ln/>
        </p:spPr>
        <p:txBody>
          <a:bodyPr wrap="square" rtlCol="0" anchor="ctr"/>
          <a:lstStyle/>
          <a:p>
            <a:pPr marL="0" indent="0" algn="r">
              <a:buNone/>
            </a:pPr>
            <a:r>
              <a:rPr lang="en-US" sz="700" dirty="0">
                <a:solidFill>
                  <a:srgbClr val="61716F"/>
                </a:solidFill>
              </a:rPr>
              <a:t>22/29</a:t>
            </a:r>
            <a:endParaRPr lang="en-US" sz="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06B4F"/>
        </a:solidFill>
        <a:effectLst/>
      </p:bgPr>
    </p:bg>
    <p:spTree>
      <p:nvGrpSpPr>
        <p:cNvPr id="1" name=""/>
        <p:cNvGrpSpPr/>
        <p:nvPr/>
      </p:nvGrpSpPr>
      <p:grpSpPr>
        <a:xfrm>
          <a:off x="0" y="0"/>
          <a:ext cx="0" cy="0"/>
          <a:chOff x="0" y="0"/>
          <a:chExt cx="0" cy="0"/>
        </a:xfrm>
      </p:grpSpPr>
      <p:sp>
        <p:nvSpPr>
          <p:cNvPr id="2" name="Text 0"/>
          <p:cNvSpPr/>
          <p:nvPr/>
        </p:nvSpPr>
        <p:spPr>
          <a:xfrm>
            <a:off x="594360" y="1600200"/>
            <a:ext cx="11002975" cy="411480"/>
          </a:xfrm>
          <a:prstGeom prst="rect">
            <a:avLst/>
          </a:prstGeom>
          <a:noFill/>
          <a:ln/>
        </p:spPr>
        <p:txBody>
          <a:bodyPr wrap="square" lIns="0" tIns="0" rIns="0" bIns="0" rtlCol="0" anchor="ctr"/>
          <a:lstStyle/>
          <a:p>
            <a:pPr marL="0" indent="0" algn="ctr">
              <a:buNone/>
            </a:pPr>
            <a:r>
              <a:rPr lang="en-US" sz="1800" dirty="0">
                <a:solidFill>
                  <a:srgbClr val="CFEDE2"/>
                </a:solidFill>
              </a:rPr>
              <a:t>Exercice 5</a:t>
            </a:r>
            <a:endParaRPr lang="en-US" sz="1800" dirty="0"/>
          </a:p>
        </p:txBody>
      </p:sp>
      <p:sp>
        <p:nvSpPr>
          <p:cNvPr id="3" name="Text 1"/>
          <p:cNvSpPr/>
          <p:nvPr/>
        </p:nvSpPr>
        <p:spPr>
          <a:xfrm>
            <a:off x="594360" y="2148840"/>
            <a:ext cx="11002975" cy="1097280"/>
          </a:xfrm>
          <a:prstGeom prst="rect">
            <a:avLst/>
          </a:prstGeom>
          <a:noFill/>
          <a:ln/>
        </p:spPr>
        <p:txBody>
          <a:bodyPr wrap="square" lIns="0" tIns="0" rIns="0" bIns="0" rtlCol="0" anchor="ctr">
            <a:normAutofit/>
          </a:bodyPr>
          <a:lstStyle/>
          <a:p>
            <a:pPr marL="0" indent="0" algn="ctr">
              <a:buNone/>
            </a:pPr>
            <a:r>
              <a:rPr lang="en-US" sz="3800" b="1" dirty="0">
                <a:solidFill>
                  <a:srgbClr val="FFFFFF"/>
                </a:solidFill>
              </a:rPr>
              <a:t>linkedSignal()</a:t>
            </a:r>
            <a:endParaRPr lang="en-US" sz="3800" dirty="0"/>
          </a:p>
        </p:txBody>
      </p:sp>
      <p:sp>
        <p:nvSpPr>
          <p:cNvPr id="4" name="Text 2"/>
          <p:cNvSpPr/>
          <p:nvPr/>
        </p:nvSpPr>
        <p:spPr>
          <a:xfrm>
            <a:off x="11277295" y="6537960"/>
            <a:ext cx="502920" cy="182880"/>
          </a:xfrm>
          <a:prstGeom prst="rect">
            <a:avLst/>
          </a:prstGeom>
          <a:noFill/>
          <a:ln/>
        </p:spPr>
        <p:txBody>
          <a:bodyPr wrap="square" rtlCol="0" anchor="ctr"/>
          <a:lstStyle/>
          <a:p>
            <a:pPr marL="0" indent="0" algn="r">
              <a:buNone/>
            </a:pPr>
            <a:r>
              <a:rPr lang="en-US" sz="700" dirty="0">
                <a:solidFill>
                  <a:srgbClr val="61716F"/>
                </a:solidFill>
              </a:rPr>
              <a:t>23/29</a:t>
            </a:r>
            <a:endParaRPr lang="en-US" sz="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3F8F6"/>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8A5B"/>
          </a:solidFill>
          <a:ln w="12700">
            <a:solidFill>
              <a:srgbClr val="008A5B"/>
            </a:solidFill>
            <a:prstDash val="solid"/>
          </a:ln>
        </p:spPr>
      </p:sp>
      <p:sp>
        <p:nvSpPr>
          <p:cNvPr id="3" name="Text 1"/>
          <p:cNvSpPr/>
          <p:nvPr/>
        </p:nvSpPr>
        <p:spPr>
          <a:xfrm>
            <a:off x="411480" y="219456"/>
            <a:ext cx="9357055" cy="347472"/>
          </a:xfrm>
          <a:prstGeom prst="rect">
            <a:avLst/>
          </a:prstGeom>
          <a:noFill/>
          <a:ln/>
        </p:spPr>
        <p:txBody>
          <a:bodyPr wrap="square" lIns="0" tIns="0" rIns="0" bIns="0" rtlCol="0" anchor="ctr">
            <a:normAutofit/>
          </a:bodyPr>
          <a:lstStyle/>
          <a:p>
            <a:pPr marL="0" indent="0">
              <a:buNone/>
            </a:pPr>
            <a:r>
              <a:rPr lang="en-US" sz="2300" b="1" dirty="0">
                <a:solidFill>
                  <a:srgbClr val="1B2B2A"/>
                </a:solidFill>
              </a:rPr>
              <a:t>Exercice 5 — linkedSignal() — Consigne et API Signal à utiliser</a:t>
            </a:r>
            <a:endParaRPr lang="en-US" sz="2300" dirty="0"/>
          </a:p>
        </p:txBody>
      </p:sp>
      <p:sp>
        <p:nvSpPr>
          <p:cNvPr id="4" name="Text 2"/>
          <p:cNvSpPr/>
          <p:nvPr/>
        </p:nvSpPr>
        <p:spPr>
          <a:xfrm>
            <a:off x="10317175" y="246888"/>
            <a:ext cx="1463040" cy="219456"/>
          </a:xfrm>
          <a:prstGeom prst="rect">
            <a:avLst/>
          </a:prstGeom>
          <a:solidFill>
            <a:srgbClr val="CFEDE2"/>
          </a:solidFill>
          <a:ln>
            <a:solidFill>
              <a:srgbClr val="CFEDE2"/>
            </a:solidFill>
          </a:ln>
        </p:spPr>
        <p:txBody>
          <a:bodyPr wrap="square" lIns="254" tIns="254" rIns="254" bIns="254" rtlCol="0" anchor="ctr"/>
          <a:lstStyle/>
          <a:p>
            <a:pPr marL="0" indent="0" algn="ctr">
              <a:buNone/>
            </a:pPr>
            <a:r>
              <a:rPr lang="en-US" sz="800" b="1" dirty="0">
                <a:solidFill>
                  <a:srgbClr val="008A5B"/>
                </a:solidFill>
              </a:rPr>
              <a:t>BNP Paribas</a:t>
            </a:r>
            <a:endParaRPr lang="en-US" sz="800" dirty="0"/>
          </a:p>
        </p:txBody>
      </p:sp>
      <p:sp>
        <p:nvSpPr>
          <p:cNvPr id="6" name="Text 3"/>
          <p:cNvSpPr/>
          <p:nvPr/>
        </p:nvSpPr>
        <p:spPr>
          <a:xfrm>
            <a:off x="411480" y="932688"/>
            <a:ext cx="11368735" cy="1024128"/>
          </a:xfrm>
          <a:prstGeom prst="rect">
            <a:avLst/>
          </a:prstGeom>
          <a:solidFill>
            <a:srgbClr val="15332F"/>
          </a:solidFill>
          <a:ln/>
        </p:spPr>
        <p:txBody>
          <a:bodyPr wrap="square" lIns="1016" tIns="1016" rIns="1016" bIns="1016" rtlCol="0" anchor="t">
            <a:normAutofit/>
          </a:bodyPr>
          <a:lstStyle/>
          <a:p>
            <a:pPr marL="0" indent="0">
              <a:buNone/>
            </a:pPr>
            <a:r>
              <a:rPr lang="en-US" sz="1030" dirty="0">
                <a:solidFill>
                  <a:srgbClr val="F8FAFC"/>
                </a:solidFill>
                <a:latin typeface="Courier New" pitchFamily="34" charset="0"/>
                <a:ea typeface="Courier New" pitchFamily="34" charset="-122"/>
                <a:cs typeface="Courier New" pitchFamily="34" charset="-120"/>
              </a:rPr>
              <a:t>readonly value = linkedSignal(() =&gt; this.source());</a:t>
            </a:r>
            <a:endParaRPr lang="en-US" sz="1030" dirty="0"/>
          </a:p>
          <a:p>
            <a:pPr marL="0" indent="0">
              <a:buNone/>
            </a:pPr>
            <a:r>
              <a:rPr lang="en-US" sz="1030" dirty="0">
                <a:solidFill>
                  <a:srgbClr val="F8FAFC"/>
                </a:solidFill>
                <a:latin typeface="Courier New" pitchFamily="34" charset="0"/>
                <a:ea typeface="Courier New" pitchFamily="34" charset="-122"/>
                <a:cs typeface="Courier New" pitchFamily="34" charset="-120"/>
              </a:rPr>
              <a:t>value()        // lecture</a:t>
            </a:r>
            <a:endParaRPr lang="en-US" sz="1030" dirty="0"/>
          </a:p>
          <a:p>
            <a:pPr marL="0" indent="0">
              <a:buNone/>
            </a:pPr>
            <a:r>
              <a:rPr lang="en-US" sz="1030" dirty="0">
                <a:solidFill>
                  <a:srgbClr val="F8FAFC"/>
                </a:solidFill>
                <a:latin typeface="Courier New" pitchFamily="34" charset="0"/>
                <a:ea typeface="Courier New" pitchFamily="34" charset="-122"/>
                <a:cs typeface="Courier New" pitchFamily="34" charset="-120"/>
              </a:rPr>
              <a:t>value.set(x)   // écriture possible — contrairement à computed()</a:t>
            </a:r>
            <a:endParaRPr lang="en-US" sz="1030" dirty="0"/>
          </a:p>
          <a:p>
            <a:pPr marL="0" indent="0">
              <a:buNone/>
            </a:pPr>
            <a:r>
              <a:rPr lang="en-US" sz="1030" dirty="0">
                <a:solidFill>
                  <a:srgbClr val="F8FAFC"/>
                </a:solidFill>
                <a:latin typeface="Courier New" pitchFamily="34" charset="0"/>
                <a:ea typeface="Courier New" pitchFamily="34" charset="-122"/>
                <a:cs typeface="Courier New" pitchFamily="34" charset="-120"/>
              </a:rPr>
              <a:t>// Quand source() change → value() est recalculée depuis la source</a:t>
            </a:r>
            <a:endParaRPr lang="en-US" sz="1030" dirty="0"/>
          </a:p>
        </p:txBody>
      </p:sp>
      <p:sp>
        <p:nvSpPr>
          <p:cNvPr id="7" name="Text 4"/>
          <p:cNvSpPr/>
          <p:nvPr/>
        </p:nvSpPr>
        <p:spPr>
          <a:xfrm>
            <a:off x="411480" y="2103120"/>
            <a:ext cx="11368735" cy="731520"/>
          </a:xfrm>
          <a:prstGeom prst="rect">
            <a:avLst/>
          </a:prstGeom>
          <a:noFill/>
          <a:ln/>
        </p:spPr>
        <p:txBody>
          <a:bodyPr wrap="square" lIns="254" tIns="254" rIns="254" bIns="254" rtlCol="0" anchor="t">
            <a:normAutofit/>
          </a:bodyPr>
          <a:lstStyle/>
          <a:p>
            <a:pPr marL="0" indent="0">
              <a:buNone/>
            </a:pPr>
            <a:r>
              <a:rPr lang="en-US" sz="1420" dirty="0">
                <a:solidFill>
                  <a:srgbClr val="263B38"/>
                </a:solidFill>
              </a:rPr>
              <a:t>Dans src/app/features/accounts/pages/accounts/accounts.component.ts, convertir editAccount en linkedSignal() pour créer une valeur dérivée depuis le compte sélectionné, mais modifiable localement par l'utilisateur. Ajouter un signal accountForEdit pour porter la sélection courante.</a:t>
            </a:r>
            <a:endParaRPr lang="en-US" sz="1420" dirty="0"/>
          </a:p>
        </p:txBody>
      </p:sp>
      <p:sp>
        <p:nvSpPr>
          <p:cNvPr id="8" name="Text 5"/>
          <p:cNvSpPr/>
          <p:nvPr/>
        </p:nvSpPr>
        <p:spPr>
          <a:xfrm>
            <a:off x="11277295" y="6537960"/>
            <a:ext cx="502920" cy="182880"/>
          </a:xfrm>
          <a:prstGeom prst="rect">
            <a:avLst/>
          </a:prstGeom>
          <a:noFill/>
          <a:ln/>
        </p:spPr>
        <p:txBody>
          <a:bodyPr wrap="square" rtlCol="0" anchor="ctr"/>
          <a:lstStyle/>
          <a:p>
            <a:pPr marL="0" indent="0" algn="r">
              <a:buNone/>
            </a:pPr>
            <a:r>
              <a:rPr lang="en-US" sz="700" dirty="0">
                <a:solidFill>
                  <a:srgbClr val="61716F"/>
                </a:solidFill>
              </a:rPr>
              <a:t>24/29</a:t>
            </a:r>
            <a:endParaRPr lang="en-US" sz="7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3F8F6"/>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8A5B"/>
          </a:solidFill>
          <a:ln w="12700">
            <a:solidFill>
              <a:srgbClr val="008A5B"/>
            </a:solidFill>
            <a:prstDash val="solid"/>
          </a:ln>
        </p:spPr>
      </p:sp>
      <p:sp>
        <p:nvSpPr>
          <p:cNvPr id="3" name="Text 1"/>
          <p:cNvSpPr/>
          <p:nvPr/>
        </p:nvSpPr>
        <p:spPr>
          <a:xfrm>
            <a:off x="411480" y="219456"/>
            <a:ext cx="9357055" cy="347472"/>
          </a:xfrm>
          <a:prstGeom prst="rect">
            <a:avLst/>
          </a:prstGeom>
          <a:noFill/>
          <a:ln/>
        </p:spPr>
        <p:txBody>
          <a:bodyPr wrap="square" lIns="0" tIns="0" rIns="0" bIns="0" rtlCol="0" anchor="ctr">
            <a:normAutofit/>
          </a:bodyPr>
          <a:lstStyle/>
          <a:p>
            <a:pPr marL="0" indent="0">
              <a:buNone/>
            </a:pPr>
            <a:r>
              <a:rPr lang="en-US" sz="2300" b="1" dirty="0">
                <a:solidFill>
                  <a:srgbClr val="1B2B2A"/>
                </a:solidFill>
              </a:rPr>
              <a:t>Exercice 5 — linkedSignal() — Test</a:t>
            </a:r>
            <a:endParaRPr lang="en-US" sz="2300" dirty="0"/>
          </a:p>
        </p:txBody>
      </p:sp>
      <p:sp>
        <p:nvSpPr>
          <p:cNvPr id="4" name="Text 2"/>
          <p:cNvSpPr/>
          <p:nvPr/>
        </p:nvSpPr>
        <p:spPr>
          <a:xfrm>
            <a:off x="10317175" y="246888"/>
            <a:ext cx="1463040" cy="219456"/>
          </a:xfrm>
          <a:prstGeom prst="rect">
            <a:avLst/>
          </a:prstGeom>
          <a:solidFill>
            <a:srgbClr val="CFEDE2"/>
          </a:solidFill>
          <a:ln>
            <a:solidFill>
              <a:srgbClr val="CFEDE2"/>
            </a:solidFill>
          </a:ln>
        </p:spPr>
        <p:txBody>
          <a:bodyPr wrap="square" lIns="254" tIns="254" rIns="254" bIns="254" rtlCol="0" anchor="ctr"/>
          <a:lstStyle/>
          <a:p>
            <a:pPr marL="0" indent="0" algn="ctr">
              <a:buNone/>
            </a:pPr>
            <a:r>
              <a:rPr lang="en-US" sz="800" b="1" dirty="0">
                <a:solidFill>
                  <a:srgbClr val="008A5B"/>
                </a:solidFill>
              </a:rPr>
              <a:t>BNP Paribas</a:t>
            </a:r>
            <a:endParaRPr lang="en-US" sz="800" dirty="0"/>
          </a:p>
        </p:txBody>
      </p:sp>
      <p:sp>
        <p:nvSpPr>
          <p:cNvPr id="5" name="Text 3"/>
          <p:cNvSpPr/>
          <p:nvPr/>
        </p:nvSpPr>
        <p:spPr>
          <a:xfrm>
            <a:off x="411480" y="932688"/>
            <a:ext cx="11368735" cy="640080"/>
          </a:xfrm>
          <a:prstGeom prst="rect">
            <a:avLst/>
          </a:prstGeom>
          <a:solidFill>
            <a:srgbClr val="15332F"/>
          </a:solidFill>
          <a:ln/>
        </p:spPr>
        <p:txBody>
          <a:bodyPr wrap="square" lIns="1016" tIns="1016" rIns="1016" bIns="1016" rtlCol="0" anchor="t">
            <a:normAutofit/>
          </a:bodyPr>
          <a:lstStyle/>
          <a:p>
            <a:pPr marL="0" indent="0">
              <a:buNone/>
            </a:pPr>
            <a:r>
              <a:rPr lang="en-US" sz="1030" dirty="0">
                <a:solidFill>
                  <a:srgbClr val="F8FAFC"/>
                </a:solidFill>
                <a:latin typeface="Courier New" pitchFamily="34" charset="0"/>
                <a:ea typeface="Courier New" pitchFamily="34" charset="-122"/>
                <a:cs typeface="Courier New" pitchFamily="34" charset="-120"/>
              </a:rPr>
              <a:t>npm test -- --runTestsByPath src/app/features/accounts/pages/accounts/accounts.component.spec.ts</a:t>
            </a:r>
            <a:endParaRPr lang="en-US" sz="1030" dirty="0"/>
          </a:p>
        </p:txBody>
      </p:sp>
      <p:sp>
        <p:nvSpPr>
          <p:cNvPr id="6" name="Text 4"/>
          <p:cNvSpPr/>
          <p:nvPr/>
        </p:nvSpPr>
        <p:spPr>
          <a:xfrm>
            <a:off x="11277295" y="6537960"/>
            <a:ext cx="502920" cy="182880"/>
          </a:xfrm>
          <a:prstGeom prst="rect">
            <a:avLst/>
          </a:prstGeom>
          <a:noFill/>
          <a:ln/>
        </p:spPr>
        <p:txBody>
          <a:bodyPr wrap="square" rtlCol="0" anchor="ctr"/>
          <a:lstStyle/>
          <a:p>
            <a:pPr marL="0" indent="0" algn="r">
              <a:buNone/>
            </a:pPr>
            <a:r>
              <a:rPr lang="en-US" sz="700" dirty="0">
                <a:solidFill>
                  <a:srgbClr val="61716F"/>
                </a:solidFill>
              </a:rPr>
              <a:t>25/29</a:t>
            </a:r>
            <a:endParaRPr lang="en-US" sz="7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3F8F6"/>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8A5B"/>
          </a:solidFill>
          <a:ln w="12700">
            <a:solidFill>
              <a:srgbClr val="008A5B"/>
            </a:solidFill>
            <a:prstDash val="solid"/>
          </a:ln>
        </p:spPr>
      </p:sp>
      <p:sp>
        <p:nvSpPr>
          <p:cNvPr id="3" name="Text 1"/>
          <p:cNvSpPr/>
          <p:nvPr/>
        </p:nvSpPr>
        <p:spPr>
          <a:xfrm>
            <a:off x="411480" y="219456"/>
            <a:ext cx="9357055" cy="347472"/>
          </a:xfrm>
          <a:prstGeom prst="rect">
            <a:avLst/>
          </a:prstGeom>
          <a:noFill/>
          <a:ln/>
        </p:spPr>
        <p:txBody>
          <a:bodyPr wrap="square" lIns="0" tIns="0" rIns="0" bIns="0" rtlCol="0" anchor="ctr">
            <a:normAutofit/>
          </a:bodyPr>
          <a:lstStyle/>
          <a:p>
            <a:pPr marL="0" indent="0">
              <a:buNone/>
            </a:pPr>
            <a:r>
              <a:rPr lang="en-US" sz="2300" b="1" dirty="0">
                <a:solidFill>
                  <a:srgbClr val="1B2B2A"/>
                </a:solidFill>
              </a:rPr>
              <a:t>Exercice 5 — linkedSignal() — linkedSignal() vs computed()</a:t>
            </a:r>
            <a:endParaRPr lang="en-US" sz="2300" dirty="0"/>
          </a:p>
        </p:txBody>
      </p:sp>
      <p:sp>
        <p:nvSpPr>
          <p:cNvPr id="4" name="Text 2"/>
          <p:cNvSpPr/>
          <p:nvPr/>
        </p:nvSpPr>
        <p:spPr>
          <a:xfrm>
            <a:off x="10317175" y="246888"/>
            <a:ext cx="1463040" cy="219456"/>
          </a:xfrm>
          <a:prstGeom prst="rect">
            <a:avLst/>
          </a:prstGeom>
          <a:solidFill>
            <a:srgbClr val="CFEDE2"/>
          </a:solidFill>
          <a:ln>
            <a:solidFill>
              <a:srgbClr val="CFEDE2"/>
            </a:solidFill>
          </a:ln>
        </p:spPr>
        <p:txBody>
          <a:bodyPr wrap="square" lIns="254" tIns="254" rIns="254" bIns="254" rtlCol="0" anchor="ctr"/>
          <a:lstStyle/>
          <a:p>
            <a:pPr marL="0" indent="0" algn="ctr">
              <a:buNone/>
            </a:pPr>
            <a:r>
              <a:rPr lang="en-US" sz="800" b="1" dirty="0">
                <a:solidFill>
                  <a:srgbClr val="008A5B"/>
                </a:solidFill>
              </a:rPr>
              <a:t>BNP Paribas</a:t>
            </a:r>
            <a:endParaRPr lang="en-US" sz="800" dirty="0"/>
          </a:p>
        </p:txBody>
      </p:sp>
      <p:sp>
        <p:nvSpPr>
          <p:cNvPr id="5" name="Shape 3"/>
          <p:cNvSpPr/>
          <p:nvPr/>
        </p:nvSpPr>
        <p:spPr>
          <a:xfrm>
            <a:off x="411480" y="932688"/>
            <a:ext cx="5684368" cy="384048"/>
          </a:xfrm>
          <a:prstGeom prst="rect">
            <a:avLst/>
          </a:prstGeom>
          <a:solidFill>
            <a:srgbClr val="008A5B"/>
          </a:solidFill>
          <a:ln w="12700">
            <a:solidFill>
              <a:srgbClr val="D6E5E0"/>
            </a:solidFill>
            <a:prstDash val="solid"/>
          </a:ln>
        </p:spPr>
      </p:sp>
      <p:sp>
        <p:nvSpPr>
          <p:cNvPr id="6" name="Text 4"/>
          <p:cNvSpPr/>
          <p:nvPr/>
        </p:nvSpPr>
        <p:spPr>
          <a:xfrm>
            <a:off x="448056" y="960120"/>
            <a:ext cx="5611216" cy="329184"/>
          </a:xfrm>
          <a:prstGeom prst="rect">
            <a:avLst/>
          </a:prstGeom>
          <a:noFill/>
          <a:ln/>
        </p:spPr>
        <p:txBody>
          <a:bodyPr wrap="square" lIns="127" tIns="127" rIns="127" bIns="127" rtlCol="0" anchor="ctr">
            <a:normAutofit/>
          </a:bodyPr>
          <a:lstStyle/>
          <a:p>
            <a:pPr marL="0" indent="0">
              <a:buNone/>
            </a:pPr>
            <a:r>
              <a:rPr lang="en-US" sz="1160" b="1" dirty="0">
                <a:solidFill>
                  <a:srgbClr val="FFFFFF"/>
                </a:solidFill>
              </a:rPr>
              <a:t>computed()</a:t>
            </a:r>
            <a:endParaRPr lang="en-US" sz="1160" dirty="0"/>
          </a:p>
        </p:txBody>
      </p:sp>
      <p:sp>
        <p:nvSpPr>
          <p:cNvPr id="7" name="Shape 5"/>
          <p:cNvSpPr/>
          <p:nvPr/>
        </p:nvSpPr>
        <p:spPr>
          <a:xfrm>
            <a:off x="6095848" y="932688"/>
            <a:ext cx="5684368" cy="384048"/>
          </a:xfrm>
          <a:prstGeom prst="rect">
            <a:avLst/>
          </a:prstGeom>
          <a:solidFill>
            <a:srgbClr val="008A5B"/>
          </a:solidFill>
          <a:ln w="12700">
            <a:solidFill>
              <a:srgbClr val="D6E5E0"/>
            </a:solidFill>
            <a:prstDash val="solid"/>
          </a:ln>
        </p:spPr>
      </p:sp>
      <p:sp>
        <p:nvSpPr>
          <p:cNvPr id="8" name="Text 6"/>
          <p:cNvSpPr/>
          <p:nvPr/>
        </p:nvSpPr>
        <p:spPr>
          <a:xfrm>
            <a:off x="6132424" y="960120"/>
            <a:ext cx="5611216" cy="329184"/>
          </a:xfrm>
          <a:prstGeom prst="rect">
            <a:avLst/>
          </a:prstGeom>
          <a:noFill/>
          <a:ln/>
        </p:spPr>
        <p:txBody>
          <a:bodyPr wrap="square" lIns="127" tIns="127" rIns="127" bIns="127" rtlCol="0" anchor="ctr">
            <a:normAutofit/>
          </a:bodyPr>
          <a:lstStyle/>
          <a:p>
            <a:pPr marL="0" indent="0">
              <a:buNone/>
            </a:pPr>
            <a:r>
              <a:rPr lang="en-US" sz="1160" b="1" dirty="0">
                <a:solidFill>
                  <a:srgbClr val="FFFFFF"/>
                </a:solidFill>
              </a:rPr>
              <a:t>linkedSignal()</a:t>
            </a:r>
            <a:endParaRPr lang="en-US" sz="1160" dirty="0"/>
          </a:p>
        </p:txBody>
      </p:sp>
      <p:sp>
        <p:nvSpPr>
          <p:cNvPr id="9" name="Shape 7"/>
          <p:cNvSpPr/>
          <p:nvPr/>
        </p:nvSpPr>
        <p:spPr>
          <a:xfrm>
            <a:off x="411480" y="1316736"/>
            <a:ext cx="5684368" cy="384048"/>
          </a:xfrm>
          <a:prstGeom prst="rect">
            <a:avLst/>
          </a:prstGeom>
          <a:solidFill>
            <a:srgbClr val="FFFFFF"/>
          </a:solidFill>
          <a:ln w="12700">
            <a:solidFill>
              <a:srgbClr val="D6E5E0"/>
            </a:solidFill>
            <a:prstDash val="solid"/>
          </a:ln>
        </p:spPr>
      </p:sp>
      <p:sp>
        <p:nvSpPr>
          <p:cNvPr id="10" name="Text 8"/>
          <p:cNvSpPr/>
          <p:nvPr/>
        </p:nvSpPr>
        <p:spPr>
          <a:xfrm>
            <a:off x="448056" y="1344168"/>
            <a:ext cx="5611216" cy="329184"/>
          </a:xfrm>
          <a:prstGeom prst="rect">
            <a:avLst/>
          </a:prstGeom>
          <a:noFill/>
          <a:ln/>
        </p:spPr>
        <p:txBody>
          <a:bodyPr wrap="square" lIns="127" tIns="127" rIns="127" bIns="127" rtlCol="0" anchor="ctr">
            <a:normAutofit/>
          </a:bodyPr>
          <a:lstStyle/>
          <a:p>
            <a:pPr marL="0" indent="0">
              <a:buNone/>
            </a:pPr>
            <a:r>
              <a:rPr lang="en-US" sz="1160" dirty="0">
                <a:solidFill>
                  <a:srgbClr val="263B38"/>
                </a:solidFill>
              </a:rPr>
              <a:t>Lecture seule</a:t>
            </a:r>
            <a:endParaRPr lang="en-US" sz="1160" dirty="0"/>
          </a:p>
        </p:txBody>
      </p:sp>
      <p:sp>
        <p:nvSpPr>
          <p:cNvPr id="11" name="Shape 9"/>
          <p:cNvSpPr/>
          <p:nvPr/>
        </p:nvSpPr>
        <p:spPr>
          <a:xfrm>
            <a:off x="6095848" y="1316736"/>
            <a:ext cx="5684368" cy="384048"/>
          </a:xfrm>
          <a:prstGeom prst="rect">
            <a:avLst/>
          </a:prstGeom>
          <a:solidFill>
            <a:srgbClr val="FFFFFF"/>
          </a:solidFill>
          <a:ln w="12700">
            <a:solidFill>
              <a:srgbClr val="D6E5E0"/>
            </a:solidFill>
            <a:prstDash val="solid"/>
          </a:ln>
        </p:spPr>
      </p:sp>
      <p:sp>
        <p:nvSpPr>
          <p:cNvPr id="12" name="Text 10"/>
          <p:cNvSpPr/>
          <p:nvPr/>
        </p:nvSpPr>
        <p:spPr>
          <a:xfrm>
            <a:off x="6132424" y="1344168"/>
            <a:ext cx="5611216" cy="329184"/>
          </a:xfrm>
          <a:prstGeom prst="rect">
            <a:avLst/>
          </a:prstGeom>
          <a:noFill/>
          <a:ln/>
        </p:spPr>
        <p:txBody>
          <a:bodyPr wrap="square" lIns="127" tIns="127" rIns="127" bIns="127" rtlCol="0" anchor="ctr">
            <a:normAutofit/>
          </a:bodyPr>
          <a:lstStyle/>
          <a:p>
            <a:pPr marL="0" indent="0">
              <a:buNone/>
            </a:pPr>
            <a:r>
              <a:rPr lang="en-US" sz="1160" dirty="0">
                <a:solidFill>
                  <a:srgbClr val="263B38"/>
                </a:solidFill>
              </a:rPr>
              <a:t>Writable — .set() et .update() disponibles</a:t>
            </a:r>
            <a:endParaRPr lang="en-US" sz="1160" dirty="0"/>
          </a:p>
        </p:txBody>
      </p:sp>
      <p:sp>
        <p:nvSpPr>
          <p:cNvPr id="13" name="Shape 11"/>
          <p:cNvSpPr/>
          <p:nvPr/>
        </p:nvSpPr>
        <p:spPr>
          <a:xfrm>
            <a:off x="411480" y="1700784"/>
            <a:ext cx="5684368" cy="384048"/>
          </a:xfrm>
          <a:prstGeom prst="rect">
            <a:avLst/>
          </a:prstGeom>
          <a:solidFill>
            <a:srgbClr val="F3F8F6"/>
          </a:solidFill>
          <a:ln w="12700">
            <a:solidFill>
              <a:srgbClr val="D6E5E0"/>
            </a:solidFill>
            <a:prstDash val="solid"/>
          </a:ln>
        </p:spPr>
      </p:sp>
      <p:sp>
        <p:nvSpPr>
          <p:cNvPr id="14" name="Text 12"/>
          <p:cNvSpPr/>
          <p:nvPr/>
        </p:nvSpPr>
        <p:spPr>
          <a:xfrm>
            <a:off x="448056" y="1728216"/>
            <a:ext cx="5611216" cy="329184"/>
          </a:xfrm>
          <a:prstGeom prst="rect">
            <a:avLst/>
          </a:prstGeom>
          <a:noFill/>
          <a:ln/>
        </p:spPr>
        <p:txBody>
          <a:bodyPr wrap="square" lIns="127" tIns="127" rIns="127" bIns="127" rtlCol="0" anchor="ctr">
            <a:normAutofit/>
          </a:bodyPr>
          <a:lstStyle/>
          <a:p>
            <a:pPr marL="0" indent="0">
              <a:buNone/>
            </a:pPr>
            <a:r>
              <a:rPr lang="en-US" sz="1160" dirty="0">
                <a:solidFill>
                  <a:srgbClr val="263B38"/>
                </a:solidFill>
              </a:rPr>
              <a:t>Recalculé quand les dépendances changent</a:t>
            </a:r>
            <a:endParaRPr lang="en-US" sz="1160" dirty="0"/>
          </a:p>
        </p:txBody>
      </p:sp>
      <p:sp>
        <p:nvSpPr>
          <p:cNvPr id="15" name="Shape 13"/>
          <p:cNvSpPr/>
          <p:nvPr/>
        </p:nvSpPr>
        <p:spPr>
          <a:xfrm>
            <a:off x="6095848" y="1700784"/>
            <a:ext cx="5684368" cy="384048"/>
          </a:xfrm>
          <a:prstGeom prst="rect">
            <a:avLst/>
          </a:prstGeom>
          <a:solidFill>
            <a:srgbClr val="F3F8F6"/>
          </a:solidFill>
          <a:ln w="12700">
            <a:solidFill>
              <a:srgbClr val="D6E5E0"/>
            </a:solidFill>
            <a:prstDash val="solid"/>
          </a:ln>
        </p:spPr>
      </p:sp>
      <p:sp>
        <p:nvSpPr>
          <p:cNvPr id="16" name="Text 14"/>
          <p:cNvSpPr/>
          <p:nvPr/>
        </p:nvSpPr>
        <p:spPr>
          <a:xfrm>
            <a:off x="6132424" y="1728216"/>
            <a:ext cx="5611216" cy="329184"/>
          </a:xfrm>
          <a:prstGeom prst="rect">
            <a:avLst/>
          </a:prstGeom>
          <a:noFill/>
          <a:ln/>
        </p:spPr>
        <p:txBody>
          <a:bodyPr wrap="square" lIns="127" tIns="127" rIns="127" bIns="127" rtlCol="0" anchor="ctr">
            <a:normAutofit/>
          </a:bodyPr>
          <a:lstStyle/>
          <a:p>
            <a:pPr marL="0" indent="0">
              <a:buNone/>
            </a:pPr>
            <a:r>
              <a:rPr lang="en-US" sz="1160" dirty="0">
                <a:solidFill>
                  <a:srgbClr val="263B38"/>
                </a:solidFill>
              </a:rPr>
              <a:t>Recalculé quand la source change, modifiable entre deux</a:t>
            </a:r>
            <a:endParaRPr lang="en-US" sz="1160" dirty="0"/>
          </a:p>
        </p:txBody>
      </p:sp>
      <p:sp>
        <p:nvSpPr>
          <p:cNvPr id="17" name="Shape 15"/>
          <p:cNvSpPr/>
          <p:nvPr/>
        </p:nvSpPr>
        <p:spPr>
          <a:xfrm>
            <a:off x="411480" y="2084832"/>
            <a:ext cx="5684368" cy="384048"/>
          </a:xfrm>
          <a:prstGeom prst="rect">
            <a:avLst/>
          </a:prstGeom>
          <a:solidFill>
            <a:srgbClr val="FFFFFF"/>
          </a:solidFill>
          <a:ln w="12700">
            <a:solidFill>
              <a:srgbClr val="D6E5E0"/>
            </a:solidFill>
            <a:prstDash val="solid"/>
          </a:ln>
        </p:spPr>
      </p:sp>
      <p:sp>
        <p:nvSpPr>
          <p:cNvPr id="18" name="Text 16"/>
          <p:cNvSpPr/>
          <p:nvPr/>
        </p:nvSpPr>
        <p:spPr>
          <a:xfrm>
            <a:off x="448056" y="2112264"/>
            <a:ext cx="5611216" cy="329184"/>
          </a:xfrm>
          <a:prstGeom prst="rect">
            <a:avLst/>
          </a:prstGeom>
          <a:noFill/>
          <a:ln/>
        </p:spPr>
        <p:txBody>
          <a:bodyPr wrap="square" lIns="127" tIns="127" rIns="127" bIns="127" rtlCol="0" anchor="ctr">
            <a:normAutofit/>
          </a:bodyPr>
          <a:lstStyle/>
          <a:p>
            <a:pPr marL="0" indent="0">
              <a:buNone/>
            </a:pPr>
            <a:r>
              <a:rPr lang="en-US" sz="1160" dirty="0">
                <a:solidFill>
                  <a:srgbClr val="263B38"/>
                </a:solidFill>
              </a:rPr>
              <a:t>Adapté aux valeurs dérivées stables</a:t>
            </a:r>
            <a:endParaRPr lang="en-US" sz="1160" dirty="0"/>
          </a:p>
        </p:txBody>
      </p:sp>
      <p:sp>
        <p:nvSpPr>
          <p:cNvPr id="19" name="Shape 17"/>
          <p:cNvSpPr/>
          <p:nvPr/>
        </p:nvSpPr>
        <p:spPr>
          <a:xfrm>
            <a:off x="6095848" y="2084832"/>
            <a:ext cx="5684368" cy="384048"/>
          </a:xfrm>
          <a:prstGeom prst="rect">
            <a:avLst/>
          </a:prstGeom>
          <a:solidFill>
            <a:srgbClr val="FFFFFF"/>
          </a:solidFill>
          <a:ln w="12700">
            <a:solidFill>
              <a:srgbClr val="D6E5E0"/>
            </a:solidFill>
            <a:prstDash val="solid"/>
          </a:ln>
        </p:spPr>
      </p:sp>
      <p:sp>
        <p:nvSpPr>
          <p:cNvPr id="20" name="Text 18"/>
          <p:cNvSpPr/>
          <p:nvPr/>
        </p:nvSpPr>
        <p:spPr>
          <a:xfrm>
            <a:off x="6132424" y="2112264"/>
            <a:ext cx="5611216" cy="329184"/>
          </a:xfrm>
          <a:prstGeom prst="rect">
            <a:avLst/>
          </a:prstGeom>
          <a:noFill/>
          <a:ln/>
        </p:spPr>
        <p:txBody>
          <a:bodyPr wrap="square" lIns="127" tIns="127" rIns="127" bIns="127" rtlCol="0" anchor="ctr">
            <a:normAutofit/>
          </a:bodyPr>
          <a:lstStyle/>
          <a:p>
            <a:pPr marL="0" indent="0">
              <a:buNone/>
            </a:pPr>
            <a:r>
              <a:rPr lang="en-US" sz="1160" dirty="0">
                <a:solidFill>
                  <a:srgbClr val="263B38"/>
                </a:solidFill>
              </a:rPr>
              <a:t>Adapté aux formulaires pré-remplis depuis une sélection</a:t>
            </a:r>
            <a:endParaRPr lang="en-US" sz="1160" dirty="0"/>
          </a:p>
        </p:txBody>
      </p:sp>
      <p:sp>
        <p:nvSpPr>
          <p:cNvPr id="21" name="Text 19"/>
          <p:cNvSpPr/>
          <p:nvPr/>
        </p:nvSpPr>
        <p:spPr>
          <a:xfrm>
            <a:off x="11277295" y="6537960"/>
            <a:ext cx="502920" cy="182880"/>
          </a:xfrm>
          <a:prstGeom prst="rect">
            <a:avLst/>
          </a:prstGeom>
          <a:noFill/>
          <a:ln/>
        </p:spPr>
        <p:txBody>
          <a:bodyPr wrap="square" rtlCol="0" anchor="ctr"/>
          <a:lstStyle/>
          <a:p>
            <a:pPr marL="0" indent="0" algn="r">
              <a:buNone/>
            </a:pPr>
            <a:r>
              <a:rPr lang="en-US" sz="700" dirty="0">
                <a:solidFill>
                  <a:srgbClr val="61716F"/>
                </a:solidFill>
              </a:rPr>
              <a:t>26/29</a:t>
            </a:r>
            <a:endParaRPr lang="en-US" sz="7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3F8F6"/>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8A5B"/>
          </a:solidFill>
          <a:ln w="12700">
            <a:solidFill>
              <a:srgbClr val="008A5B"/>
            </a:solidFill>
            <a:prstDash val="solid"/>
          </a:ln>
        </p:spPr>
      </p:sp>
      <p:sp>
        <p:nvSpPr>
          <p:cNvPr id="3" name="Text 1"/>
          <p:cNvSpPr/>
          <p:nvPr/>
        </p:nvSpPr>
        <p:spPr>
          <a:xfrm>
            <a:off x="411480" y="219456"/>
            <a:ext cx="9357055" cy="347472"/>
          </a:xfrm>
          <a:prstGeom prst="rect">
            <a:avLst/>
          </a:prstGeom>
          <a:noFill/>
          <a:ln/>
        </p:spPr>
        <p:txBody>
          <a:bodyPr wrap="square" lIns="0" tIns="0" rIns="0" bIns="0" rtlCol="0" anchor="ctr">
            <a:normAutofit/>
          </a:bodyPr>
          <a:lstStyle/>
          <a:p>
            <a:pPr marL="0" indent="0">
              <a:buNone/>
            </a:pPr>
            <a:r>
              <a:rPr lang="en-US" sz="2300" b="1" dirty="0">
                <a:solidFill>
                  <a:srgbClr val="1B2B2A"/>
                </a:solidFill>
              </a:rPr>
              <a:t>Récapitulatif — Primitives Signals</a:t>
            </a:r>
            <a:endParaRPr lang="en-US" sz="2300" dirty="0"/>
          </a:p>
        </p:txBody>
      </p:sp>
      <p:sp>
        <p:nvSpPr>
          <p:cNvPr id="4" name="Text 2"/>
          <p:cNvSpPr/>
          <p:nvPr/>
        </p:nvSpPr>
        <p:spPr>
          <a:xfrm>
            <a:off x="10317175" y="246888"/>
            <a:ext cx="1463040" cy="219456"/>
          </a:xfrm>
          <a:prstGeom prst="rect">
            <a:avLst/>
          </a:prstGeom>
          <a:solidFill>
            <a:srgbClr val="CFEDE2"/>
          </a:solidFill>
          <a:ln>
            <a:solidFill>
              <a:srgbClr val="CFEDE2"/>
            </a:solidFill>
          </a:ln>
        </p:spPr>
        <p:txBody>
          <a:bodyPr wrap="square" lIns="254" tIns="254" rIns="254" bIns="254" rtlCol="0" anchor="ctr"/>
          <a:lstStyle/>
          <a:p>
            <a:pPr marL="0" indent="0" algn="ctr">
              <a:buNone/>
            </a:pPr>
            <a:r>
              <a:rPr lang="en-US" sz="800" b="1" dirty="0">
                <a:solidFill>
                  <a:srgbClr val="008A5B"/>
                </a:solidFill>
              </a:rPr>
              <a:t>BNP Paribas</a:t>
            </a:r>
            <a:endParaRPr lang="en-US" sz="800" dirty="0"/>
          </a:p>
        </p:txBody>
      </p:sp>
      <p:sp>
        <p:nvSpPr>
          <p:cNvPr id="5" name="Shape 3"/>
          <p:cNvSpPr/>
          <p:nvPr/>
        </p:nvSpPr>
        <p:spPr>
          <a:xfrm>
            <a:off x="411480" y="932688"/>
            <a:ext cx="685800" cy="384048"/>
          </a:xfrm>
          <a:prstGeom prst="rect">
            <a:avLst/>
          </a:prstGeom>
          <a:solidFill>
            <a:srgbClr val="008A5B"/>
          </a:solidFill>
          <a:ln w="12700">
            <a:solidFill>
              <a:srgbClr val="D6E5E0"/>
            </a:solidFill>
            <a:prstDash val="solid"/>
          </a:ln>
        </p:spPr>
      </p:sp>
      <p:sp>
        <p:nvSpPr>
          <p:cNvPr id="6" name="Text 4"/>
          <p:cNvSpPr/>
          <p:nvPr/>
        </p:nvSpPr>
        <p:spPr>
          <a:xfrm>
            <a:off x="448056" y="960120"/>
            <a:ext cx="612648" cy="329184"/>
          </a:xfrm>
          <a:prstGeom prst="rect">
            <a:avLst/>
          </a:prstGeom>
          <a:noFill/>
          <a:ln/>
        </p:spPr>
        <p:txBody>
          <a:bodyPr wrap="square" lIns="127" tIns="127" rIns="127" bIns="127" rtlCol="0" anchor="ctr">
            <a:normAutofit/>
          </a:bodyPr>
          <a:lstStyle/>
          <a:p>
            <a:pPr marL="0" indent="0">
              <a:buNone/>
            </a:pPr>
            <a:r>
              <a:rPr lang="en-US" sz="880" b="1" dirty="0">
                <a:solidFill>
                  <a:srgbClr val="FFFFFF"/>
                </a:solidFill>
              </a:rPr>
              <a:t>Primitive</a:t>
            </a:r>
            <a:endParaRPr lang="en-US" sz="880" dirty="0"/>
          </a:p>
        </p:txBody>
      </p:sp>
      <p:sp>
        <p:nvSpPr>
          <p:cNvPr id="7" name="Shape 5"/>
          <p:cNvSpPr/>
          <p:nvPr/>
        </p:nvSpPr>
        <p:spPr>
          <a:xfrm>
            <a:off x="1097280" y="932688"/>
            <a:ext cx="2240280" cy="384048"/>
          </a:xfrm>
          <a:prstGeom prst="rect">
            <a:avLst/>
          </a:prstGeom>
          <a:solidFill>
            <a:srgbClr val="008A5B"/>
          </a:solidFill>
          <a:ln w="12700">
            <a:solidFill>
              <a:srgbClr val="D6E5E0"/>
            </a:solidFill>
            <a:prstDash val="solid"/>
          </a:ln>
        </p:spPr>
      </p:sp>
      <p:sp>
        <p:nvSpPr>
          <p:cNvPr id="8" name="Text 6"/>
          <p:cNvSpPr/>
          <p:nvPr/>
        </p:nvSpPr>
        <p:spPr>
          <a:xfrm>
            <a:off x="1133856" y="960120"/>
            <a:ext cx="2167128" cy="329184"/>
          </a:xfrm>
          <a:prstGeom prst="rect">
            <a:avLst/>
          </a:prstGeom>
          <a:noFill/>
          <a:ln/>
        </p:spPr>
        <p:txBody>
          <a:bodyPr wrap="square" lIns="127" tIns="127" rIns="127" bIns="127" rtlCol="0" anchor="ctr">
            <a:normAutofit/>
          </a:bodyPr>
          <a:lstStyle/>
          <a:p>
            <a:pPr marL="0" indent="0">
              <a:buNone/>
            </a:pPr>
            <a:r>
              <a:rPr lang="en-US" sz="880" b="1" dirty="0">
                <a:solidFill>
                  <a:srgbClr val="FFFFFF"/>
                </a:solidFill>
              </a:rPr>
              <a:t>Rôle</a:t>
            </a:r>
            <a:endParaRPr lang="en-US" sz="880" dirty="0"/>
          </a:p>
        </p:txBody>
      </p:sp>
      <p:sp>
        <p:nvSpPr>
          <p:cNvPr id="9" name="Shape 7"/>
          <p:cNvSpPr/>
          <p:nvPr/>
        </p:nvSpPr>
        <p:spPr>
          <a:xfrm>
            <a:off x="3337560" y="932688"/>
            <a:ext cx="2606040" cy="384048"/>
          </a:xfrm>
          <a:prstGeom prst="rect">
            <a:avLst/>
          </a:prstGeom>
          <a:solidFill>
            <a:srgbClr val="008A5B"/>
          </a:solidFill>
          <a:ln w="12700">
            <a:solidFill>
              <a:srgbClr val="D6E5E0"/>
            </a:solidFill>
            <a:prstDash val="solid"/>
          </a:ln>
        </p:spPr>
      </p:sp>
      <p:sp>
        <p:nvSpPr>
          <p:cNvPr id="10" name="Text 8"/>
          <p:cNvSpPr/>
          <p:nvPr/>
        </p:nvSpPr>
        <p:spPr>
          <a:xfrm>
            <a:off x="3374136" y="960120"/>
            <a:ext cx="2532888" cy="329184"/>
          </a:xfrm>
          <a:prstGeom prst="rect">
            <a:avLst/>
          </a:prstGeom>
          <a:noFill/>
          <a:ln/>
        </p:spPr>
        <p:txBody>
          <a:bodyPr wrap="square" lIns="127" tIns="127" rIns="127" bIns="127" rtlCol="0" anchor="ctr">
            <a:normAutofit/>
          </a:bodyPr>
          <a:lstStyle/>
          <a:p>
            <a:pPr marL="0" indent="0">
              <a:buNone/>
            </a:pPr>
            <a:r>
              <a:rPr lang="en-US" sz="880" b="1" dirty="0">
                <a:solidFill>
                  <a:srgbClr val="FFFFFF"/>
                </a:solidFill>
              </a:rPr>
              <a:t>Writable</a:t>
            </a:r>
            <a:endParaRPr lang="en-US" sz="880" dirty="0"/>
          </a:p>
        </p:txBody>
      </p:sp>
      <p:sp>
        <p:nvSpPr>
          <p:cNvPr id="11" name="Shape 9"/>
          <p:cNvSpPr/>
          <p:nvPr/>
        </p:nvSpPr>
        <p:spPr>
          <a:xfrm>
            <a:off x="5943600" y="932688"/>
            <a:ext cx="5836615" cy="384048"/>
          </a:xfrm>
          <a:prstGeom prst="rect">
            <a:avLst/>
          </a:prstGeom>
          <a:solidFill>
            <a:srgbClr val="008A5B"/>
          </a:solidFill>
          <a:ln w="12700">
            <a:solidFill>
              <a:srgbClr val="D6E5E0"/>
            </a:solidFill>
            <a:prstDash val="solid"/>
          </a:ln>
        </p:spPr>
      </p:sp>
      <p:sp>
        <p:nvSpPr>
          <p:cNvPr id="12" name="Text 10"/>
          <p:cNvSpPr/>
          <p:nvPr/>
        </p:nvSpPr>
        <p:spPr>
          <a:xfrm>
            <a:off x="5980176" y="960120"/>
            <a:ext cx="5763463" cy="329184"/>
          </a:xfrm>
          <a:prstGeom prst="rect">
            <a:avLst/>
          </a:prstGeom>
          <a:noFill/>
          <a:ln/>
        </p:spPr>
        <p:txBody>
          <a:bodyPr wrap="square" lIns="127" tIns="127" rIns="127" bIns="127" rtlCol="0" anchor="ctr">
            <a:normAutofit/>
          </a:bodyPr>
          <a:lstStyle/>
          <a:p>
            <a:pPr marL="0" indent="0">
              <a:buNone/>
            </a:pPr>
            <a:r>
              <a:rPr lang="en-US" sz="880" b="1" dirty="0">
                <a:solidFill>
                  <a:srgbClr val="FFFFFF"/>
                </a:solidFill>
              </a:rPr>
              <a:t>Recalcul automatique</a:t>
            </a:r>
            <a:endParaRPr lang="en-US" sz="880" dirty="0"/>
          </a:p>
        </p:txBody>
      </p:sp>
      <p:sp>
        <p:nvSpPr>
          <p:cNvPr id="13" name="Shape 11"/>
          <p:cNvSpPr/>
          <p:nvPr/>
        </p:nvSpPr>
        <p:spPr>
          <a:xfrm>
            <a:off x="411480" y="1316736"/>
            <a:ext cx="685800" cy="384048"/>
          </a:xfrm>
          <a:prstGeom prst="rect">
            <a:avLst/>
          </a:prstGeom>
          <a:solidFill>
            <a:srgbClr val="FFFFFF"/>
          </a:solidFill>
          <a:ln w="12700">
            <a:solidFill>
              <a:srgbClr val="D6E5E0"/>
            </a:solidFill>
            <a:prstDash val="solid"/>
          </a:ln>
        </p:spPr>
      </p:sp>
      <p:sp>
        <p:nvSpPr>
          <p:cNvPr id="14" name="Text 12"/>
          <p:cNvSpPr/>
          <p:nvPr/>
        </p:nvSpPr>
        <p:spPr>
          <a:xfrm>
            <a:off x="448056" y="1344168"/>
            <a:ext cx="612648" cy="329184"/>
          </a:xfrm>
          <a:prstGeom prst="rect">
            <a:avLst/>
          </a:prstGeom>
          <a:noFill/>
          <a:ln/>
        </p:spPr>
        <p:txBody>
          <a:bodyPr wrap="square" lIns="127" tIns="127" rIns="127" bIns="127" rtlCol="0" anchor="ctr">
            <a:normAutofit/>
          </a:bodyPr>
          <a:lstStyle/>
          <a:p>
            <a:pPr marL="0" indent="0">
              <a:buNone/>
            </a:pPr>
            <a:r>
              <a:rPr lang="en-US" sz="880" dirty="0">
                <a:solidFill>
                  <a:srgbClr val="263B38"/>
                </a:solidFill>
              </a:rPr>
              <a:t>signal()</a:t>
            </a:r>
            <a:endParaRPr lang="en-US" sz="880" dirty="0"/>
          </a:p>
        </p:txBody>
      </p:sp>
      <p:sp>
        <p:nvSpPr>
          <p:cNvPr id="15" name="Shape 13"/>
          <p:cNvSpPr/>
          <p:nvPr/>
        </p:nvSpPr>
        <p:spPr>
          <a:xfrm>
            <a:off x="1097280" y="1316736"/>
            <a:ext cx="2240280" cy="384048"/>
          </a:xfrm>
          <a:prstGeom prst="rect">
            <a:avLst/>
          </a:prstGeom>
          <a:solidFill>
            <a:srgbClr val="FFFFFF"/>
          </a:solidFill>
          <a:ln w="12700">
            <a:solidFill>
              <a:srgbClr val="D6E5E0"/>
            </a:solidFill>
            <a:prstDash val="solid"/>
          </a:ln>
        </p:spPr>
      </p:sp>
      <p:sp>
        <p:nvSpPr>
          <p:cNvPr id="16" name="Text 14"/>
          <p:cNvSpPr/>
          <p:nvPr/>
        </p:nvSpPr>
        <p:spPr>
          <a:xfrm>
            <a:off x="1133856" y="1344168"/>
            <a:ext cx="2167128" cy="329184"/>
          </a:xfrm>
          <a:prstGeom prst="rect">
            <a:avLst/>
          </a:prstGeom>
          <a:noFill/>
          <a:ln/>
        </p:spPr>
        <p:txBody>
          <a:bodyPr wrap="square" lIns="127" tIns="127" rIns="127" bIns="127" rtlCol="0" anchor="ctr">
            <a:normAutofit/>
          </a:bodyPr>
          <a:lstStyle/>
          <a:p>
            <a:pPr marL="0" indent="0">
              <a:buNone/>
            </a:pPr>
            <a:r>
              <a:rPr lang="en-US" sz="880" dirty="0">
                <a:solidFill>
                  <a:srgbClr val="263B38"/>
                </a:solidFill>
              </a:rPr>
              <a:t>État local</a:t>
            </a:r>
            <a:endParaRPr lang="en-US" sz="880" dirty="0"/>
          </a:p>
        </p:txBody>
      </p:sp>
      <p:sp>
        <p:nvSpPr>
          <p:cNvPr id="17" name="Shape 15"/>
          <p:cNvSpPr/>
          <p:nvPr/>
        </p:nvSpPr>
        <p:spPr>
          <a:xfrm>
            <a:off x="3337560" y="1316736"/>
            <a:ext cx="2606040" cy="384048"/>
          </a:xfrm>
          <a:prstGeom prst="rect">
            <a:avLst/>
          </a:prstGeom>
          <a:solidFill>
            <a:srgbClr val="FFFFFF"/>
          </a:solidFill>
          <a:ln w="12700">
            <a:solidFill>
              <a:srgbClr val="D6E5E0"/>
            </a:solidFill>
            <a:prstDash val="solid"/>
          </a:ln>
        </p:spPr>
      </p:sp>
      <p:sp>
        <p:nvSpPr>
          <p:cNvPr id="18" name="Text 16"/>
          <p:cNvSpPr/>
          <p:nvPr/>
        </p:nvSpPr>
        <p:spPr>
          <a:xfrm>
            <a:off x="3374136" y="1344168"/>
            <a:ext cx="2532888" cy="329184"/>
          </a:xfrm>
          <a:prstGeom prst="rect">
            <a:avLst/>
          </a:prstGeom>
          <a:noFill/>
          <a:ln/>
        </p:spPr>
        <p:txBody>
          <a:bodyPr wrap="square" lIns="127" tIns="127" rIns="127" bIns="127" rtlCol="0" anchor="ctr">
            <a:normAutofit/>
          </a:bodyPr>
          <a:lstStyle/>
          <a:p>
            <a:pPr marL="0" indent="0">
              <a:buNone/>
            </a:pPr>
            <a:r>
              <a:rPr lang="en-US" sz="880" dirty="0">
                <a:solidFill>
                  <a:srgbClr val="263B38"/>
                </a:solidFill>
              </a:rPr>
              <a:t>✓ .set() / .update()</a:t>
            </a:r>
            <a:endParaRPr lang="en-US" sz="880" dirty="0"/>
          </a:p>
        </p:txBody>
      </p:sp>
      <p:sp>
        <p:nvSpPr>
          <p:cNvPr id="19" name="Shape 17"/>
          <p:cNvSpPr/>
          <p:nvPr/>
        </p:nvSpPr>
        <p:spPr>
          <a:xfrm>
            <a:off x="5943600" y="1316736"/>
            <a:ext cx="5836615" cy="384048"/>
          </a:xfrm>
          <a:prstGeom prst="rect">
            <a:avLst/>
          </a:prstGeom>
          <a:solidFill>
            <a:srgbClr val="FFFFFF"/>
          </a:solidFill>
          <a:ln w="12700">
            <a:solidFill>
              <a:srgbClr val="D6E5E0"/>
            </a:solidFill>
            <a:prstDash val="solid"/>
          </a:ln>
        </p:spPr>
      </p:sp>
      <p:sp>
        <p:nvSpPr>
          <p:cNvPr id="20" name="Text 18"/>
          <p:cNvSpPr/>
          <p:nvPr/>
        </p:nvSpPr>
        <p:spPr>
          <a:xfrm>
            <a:off x="5980176" y="1344168"/>
            <a:ext cx="5763463" cy="329184"/>
          </a:xfrm>
          <a:prstGeom prst="rect">
            <a:avLst/>
          </a:prstGeom>
          <a:noFill/>
          <a:ln/>
        </p:spPr>
        <p:txBody>
          <a:bodyPr wrap="square" lIns="127" tIns="127" rIns="127" bIns="127" rtlCol="0" anchor="ctr">
            <a:normAutofit/>
          </a:bodyPr>
          <a:lstStyle/>
          <a:p>
            <a:pPr marL="0" indent="0">
              <a:buNone/>
            </a:pPr>
            <a:r>
              <a:rPr lang="en-US" sz="880" dirty="0">
                <a:solidFill>
                  <a:srgbClr val="263B38"/>
                </a:solidFill>
              </a:rPr>
              <a:t>—</a:t>
            </a:r>
            <a:endParaRPr lang="en-US" sz="880" dirty="0"/>
          </a:p>
        </p:txBody>
      </p:sp>
      <p:sp>
        <p:nvSpPr>
          <p:cNvPr id="21" name="Shape 19"/>
          <p:cNvSpPr/>
          <p:nvPr/>
        </p:nvSpPr>
        <p:spPr>
          <a:xfrm>
            <a:off x="411480" y="1700784"/>
            <a:ext cx="685800" cy="384048"/>
          </a:xfrm>
          <a:prstGeom prst="rect">
            <a:avLst/>
          </a:prstGeom>
          <a:solidFill>
            <a:srgbClr val="F3F8F6"/>
          </a:solidFill>
          <a:ln w="12700">
            <a:solidFill>
              <a:srgbClr val="D6E5E0"/>
            </a:solidFill>
            <a:prstDash val="solid"/>
          </a:ln>
        </p:spPr>
      </p:sp>
      <p:sp>
        <p:nvSpPr>
          <p:cNvPr id="22" name="Text 20"/>
          <p:cNvSpPr/>
          <p:nvPr/>
        </p:nvSpPr>
        <p:spPr>
          <a:xfrm>
            <a:off x="448056" y="1728216"/>
            <a:ext cx="612648" cy="329184"/>
          </a:xfrm>
          <a:prstGeom prst="rect">
            <a:avLst/>
          </a:prstGeom>
          <a:noFill/>
          <a:ln/>
        </p:spPr>
        <p:txBody>
          <a:bodyPr wrap="square" lIns="127" tIns="127" rIns="127" bIns="127" rtlCol="0" anchor="ctr">
            <a:normAutofit/>
          </a:bodyPr>
          <a:lstStyle/>
          <a:p>
            <a:pPr marL="0" indent="0">
              <a:buNone/>
            </a:pPr>
            <a:r>
              <a:rPr lang="en-US" sz="880" dirty="0">
                <a:solidFill>
                  <a:srgbClr val="263B38"/>
                </a:solidFill>
              </a:rPr>
              <a:t>computed()</a:t>
            </a:r>
            <a:endParaRPr lang="en-US" sz="880" dirty="0"/>
          </a:p>
        </p:txBody>
      </p:sp>
      <p:sp>
        <p:nvSpPr>
          <p:cNvPr id="23" name="Shape 21"/>
          <p:cNvSpPr/>
          <p:nvPr/>
        </p:nvSpPr>
        <p:spPr>
          <a:xfrm>
            <a:off x="1097280" y="1700784"/>
            <a:ext cx="2240280" cy="384048"/>
          </a:xfrm>
          <a:prstGeom prst="rect">
            <a:avLst/>
          </a:prstGeom>
          <a:solidFill>
            <a:srgbClr val="F3F8F6"/>
          </a:solidFill>
          <a:ln w="12700">
            <a:solidFill>
              <a:srgbClr val="D6E5E0"/>
            </a:solidFill>
            <a:prstDash val="solid"/>
          </a:ln>
        </p:spPr>
      </p:sp>
      <p:sp>
        <p:nvSpPr>
          <p:cNvPr id="24" name="Text 22"/>
          <p:cNvSpPr/>
          <p:nvPr/>
        </p:nvSpPr>
        <p:spPr>
          <a:xfrm>
            <a:off x="1133856" y="1728216"/>
            <a:ext cx="2167128" cy="329184"/>
          </a:xfrm>
          <a:prstGeom prst="rect">
            <a:avLst/>
          </a:prstGeom>
          <a:noFill/>
          <a:ln/>
        </p:spPr>
        <p:txBody>
          <a:bodyPr wrap="square" lIns="127" tIns="127" rIns="127" bIns="127" rtlCol="0" anchor="ctr">
            <a:normAutofit/>
          </a:bodyPr>
          <a:lstStyle/>
          <a:p>
            <a:pPr marL="0" indent="0">
              <a:buNone/>
            </a:pPr>
            <a:r>
              <a:rPr lang="en-US" sz="880" dirty="0">
                <a:solidFill>
                  <a:srgbClr val="263B38"/>
                </a:solidFill>
              </a:rPr>
              <a:t>Valeur dérivée mémorisée</a:t>
            </a:r>
            <a:endParaRPr lang="en-US" sz="880" dirty="0"/>
          </a:p>
        </p:txBody>
      </p:sp>
      <p:sp>
        <p:nvSpPr>
          <p:cNvPr id="25" name="Shape 23"/>
          <p:cNvSpPr/>
          <p:nvPr/>
        </p:nvSpPr>
        <p:spPr>
          <a:xfrm>
            <a:off x="3337560" y="1700784"/>
            <a:ext cx="2606040" cy="384048"/>
          </a:xfrm>
          <a:prstGeom prst="rect">
            <a:avLst/>
          </a:prstGeom>
          <a:solidFill>
            <a:srgbClr val="F3F8F6"/>
          </a:solidFill>
          <a:ln w="12700">
            <a:solidFill>
              <a:srgbClr val="D6E5E0"/>
            </a:solidFill>
            <a:prstDash val="solid"/>
          </a:ln>
        </p:spPr>
      </p:sp>
      <p:sp>
        <p:nvSpPr>
          <p:cNvPr id="26" name="Text 24"/>
          <p:cNvSpPr/>
          <p:nvPr/>
        </p:nvSpPr>
        <p:spPr>
          <a:xfrm>
            <a:off x="3374136" y="1728216"/>
            <a:ext cx="2532888" cy="329184"/>
          </a:xfrm>
          <a:prstGeom prst="rect">
            <a:avLst/>
          </a:prstGeom>
          <a:noFill/>
          <a:ln/>
        </p:spPr>
        <p:txBody>
          <a:bodyPr wrap="square" lIns="127" tIns="127" rIns="127" bIns="127" rtlCol="0" anchor="ctr">
            <a:normAutofit/>
          </a:bodyPr>
          <a:lstStyle/>
          <a:p>
            <a:pPr marL="0" indent="0">
              <a:buNone/>
            </a:pPr>
            <a:r>
              <a:rPr lang="en-US" sz="880" dirty="0">
                <a:solidFill>
                  <a:srgbClr val="263B38"/>
                </a:solidFill>
              </a:rPr>
              <a:t>✗ lecture seule</a:t>
            </a:r>
            <a:endParaRPr lang="en-US" sz="880" dirty="0"/>
          </a:p>
        </p:txBody>
      </p:sp>
      <p:sp>
        <p:nvSpPr>
          <p:cNvPr id="27" name="Shape 25"/>
          <p:cNvSpPr/>
          <p:nvPr/>
        </p:nvSpPr>
        <p:spPr>
          <a:xfrm>
            <a:off x="5943600" y="1700784"/>
            <a:ext cx="5836615" cy="384048"/>
          </a:xfrm>
          <a:prstGeom prst="rect">
            <a:avLst/>
          </a:prstGeom>
          <a:solidFill>
            <a:srgbClr val="F3F8F6"/>
          </a:solidFill>
          <a:ln w="12700">
            <a:solidFill>
              <a:srgbClr val="D6E5E0"/>
            </a:solidFill>
            <a:prstDash val="solid"/>
          </a:ln>
        </p:spPr>
      </p:sp>
      <p:sp>
        <p:nvSpPr>
          <p:cNvPr id="28" name="Text 26"/>
          <p:cNvSpPr/>
          <p:nvPr/>
        </p:nvSpPr>
        <p:spPr>
          <a:xfrm>
            <a:off x="5980176" y="1728216"/>
            <a:ext cx="5763463" cy="329184"/>
          </a:xfrm>
          <a:prstGeom prst="rect">
            <a:avLst/>
          </a:prstGeom>
          <a:noFill/>
          <a:ln/>
        </p:spPr>
        <p:txBody>
          <a:bodyPr wrap="square" lIns="127" tIns="127" rIns="127" bIns="127" rtlCol="0" anchor="ctr">
            <a:normAutofit/>
          </a:bodyPr>
          <a:lstStyle/>
          <a:p>
            <a:pPr marL="0" indent="0">
              <a:buNone/>
            </a:pPr>
            <a:r>
              <a:rPr lang="en-US" sz="880" dirty="0">
                <a:solidFill>
                  <a:srgbClr val="263B38"/>
                </a:solidFill>
              </a:rPr>
              <a:t>Quand une dépendance signal change</a:t>
            </a:r>
            <a:endParaRPr lang="en-US" sz="880" dirty="0"/>
          </a:p>
        </p:txBody>
      </p:sp>
      <p:sp>
        <p:nvSpPr>
          <p:cNvPr id="29" name="Shape 27"/>
          <p:cNvSpPr/>
          <p:nvPr/>
        </p:nvSpPr>
        <p:spPr>
          <a:xfrm>
            <a:off x="411480" y="2084832"/>
            <a:ext cx="685800" cy="384048"/>
          </a:xfrm>
          <a:prstGeom prst="rect">
            <a:avLst/>
          </a:prstGeom>
          <a:solidFill>
            <a:srgbClr val="FFFFFF"/>
          </a:solidFill>
          <a:ln w="12700">
            <a:solidFill>
              <a:srgbClr val="D6E5E0"/>
            </a:solidFill>
            <a:prstDash val="solid"/>
          </a:ln>
        </p:spPr>
      </p:sp>
      <p:sp>
        <p:nvSpPr>
          <p:cNvPr id="30" name="Text 28"/>
          <p:cNvSpPr/>
          <p:nvPr/>
        </p:nvSpPr>
        <p:spPr>
          <a:xfrm>
            <a:off x="448056" y="2112264"/>
            <a:ext cx="612648" cy="329184"/>
          </a:xfrm>
          <a:prstGeom prst="rect">
            <a:avLst/>
          </a:prstGeom>
          <a:noFill/>
          <a:ln/>
        </p:spPr>
        <p:txBody>
          <a:bodyPr wrap="square" lIns="127" tIns="127" rIns="127" bIns="127" rtlCol="0" anchor="ctr">
            <a:normAutofit/>
          </a:bodyPr>
          <a:lstStyle/>
          <a:p>
            <a:pPr marL="0" indent="0">
              <a:buNone/>
            </a:pPr>
            <a:r>
              <a:rPr lang="en-US" sz="880" dirty="0">
                <a:solidFill>
                  <a:srgbClr val="263B38"/>
                </a:solidFill>
              </a:rPr>
              <a:t>effect()</a:t>
            </a:r>
            <a:endParaRPr lang="en-US" sz="880" dirty="0"/>
          </a:p>
        </p:txBody>
      </p:sp>
      <p:sp>
        <p:nvSpPr>
          <p:cNvPr id="31" name="Shape 29"/>
          <p:cNvSpPr/>
          <p:nvPr/>
        </p:nvSpPr>
        <p:spPr>
          <a:xfrm>
            <a:off x="1097280" y="2084832"/>
            <a:ext cx="2240280" cy="384048"/>
          </a:xfrm>
          <a:prstGeom prst="rect">
            <a:avLst/>
          </a:prstGeom>
          <a:solidFill>
            <a:srgbClr val="FFFFFF"/>
          </a:solidFill>
          <a:ln w="12700">
            <a:solidFill>
              <a:srgbClr val="D6E5E0"/>
            </a:solidFill>
            <a:prstDash val="solid"/>
          </a:ln>
        </p:spPr>
      </p:sp>
      <p:sp>
        <p:nvSpPr>
          <p:cNvPr id="32" name="Text 30"/>
          <p:cNvSpPr/>
          <p:nvPr/>
        </p:nvSpPr>
        <p:spPr>
          <a:xfrm>
            <a:off x="1133856" y="2112264"/>
            <a:ext cx="2167128" cy="329184"/>
          </a:xfrm>
          <a:prstGeom prst="rect">
            <a:avLst/>
          </a:prstGeom>
          <a:noFill/>
          <a:ln/>
        </p:spPr>
        <p:txBody>
          <a:bodyPr wrap="square" lIns="127" tIns="127" rIns="127" bIns="127" rtlCol="0" anchor="ctr">
            <a:normAutofit/>
          </a:bodyPr>
          <a:lstStyle/>
          <a:p>
            <a:pPr marL="0" indent="0">
              <a:buNone/>
            </a:pPr>
            <a:r>
              <a:rPr lang="en-US" sz="880" dirty="0">
                <a:solidFill>
                  <a:srgbClr val="263B38"/>
                </a:solidFill>
              </a:rPr>
              <a:t>Effet de bord réactif</a:t>
            </a:r>
            <a:endParaRPr lang="en-US" sz="880" dirty="0"/>
          </a:p>
        </p:txBody>
      </p:sp>
      <p:sp>
        <p:nvSpPr>
          <p:cNvPr id="33" name="Shape 31"/>
          <p:cNvSpPr/>
          <p:nvPr/>
        </p:nvSpPr>
        <p:spPr>
          <a:xfrm>
            <a:off x="3337560" y="2084832"/>
            <a:ext cx="2606040" cy="384048"/>
          </a:xfrm>
          <a:prstGeom prst="rect">
            <a:avLst/>
          </a:prstGeom>
          <a:solidFill>
            <a:srgbClr val="FFFFFF"/>
          </a:solidFill>
          <a:ln w="12700">
            <a:solidFill>
              <a:srgbClr val="D6E5E0"/>
            </a:solidFill>
            <a:prstDash val="solid"/>
          </a:ln>
        </p:spPr>
      </p:sp>
      <p:sp>
        <p:nvSpPr>
          <p:cNvPr id="34" name="Text 32"/>
          <p:cNvSpPr/>
          <p:nvPr/>
        </p:nvSpPr>
        <p:spPr>
          <a:xfrm>
            <a:off x="3374136" y="2112264"/>
            <a:ext cx="2532888" cy="329184"/>
          </a:xfrm>
          <a:prstGeom prst="rect">
            <a:avLst/>
          </a:prstGeom>
          <a:noFill/>
          <a:ln/>
        </p:spPr>
        <p:txBody>
          <a:bodyPr wrap="square" lIns="127" tIns="127" rIns="127" bIns="127" rtlCol="0" anchor="ctr">
            <a:normAutofit/>
          </a:bodyPr>
          <a:lstStyle/>
          <a:p>
            <a:pPr marL="0" indent="0">
              <a:buNone/>
            </a:pPr>
            <a:r>
              <a:rPr lang="en-US" sz="880" dirty="0">
                <a:solidFill>
                  <a:srgbClr val="263B38"/>
                </a:solidFill>
              </a:rPr>
              <a:t>—</a:t>
            </a:r>
            <a:endParaRPr lang="en-US" sz="880" dirty="0"/>
          </a:p>
        </p:txBody>
      </p:sp>
      <p:sp>
        <p:nvSpPr>
          <p:cNvPr id="35" name="Shape 33"/>
          <p:cNvSpPr/>
          <p:nvPr/>
        </p:nvSpPr>
        <p:spPr>
          <a:xfrm>
            <a:off x="5943600" y="2084832"/>
            <a:ext cx="5836615" cy="384048"/>
          </a:xfrm>
          <a:prstGeom prst="rect">
            <a:avLst/>
          </a:prstGeom>
          <a:solidFill>
            <a:srgbClr val="FFFFFF"/>
          </a:solidFill>
          <a:ln w="12700">
            <a:solidFill>
              <a:srgbClr val="D6E5E0"/>
            </a:solidFill>
            <a:prstDash val="solid"/>
          </a:ln>
        </p:spPr>
      </p:sp>
      <p:sp>
        <p:nvSpPr>
          <p:cNvPr id="36" name="Text 34"/>
          <p:cNvSpPr/>
          <p:nvPr/>
        </p:nvSpPr>
        <p:spPr>
          <a:xfrm>
            <a:off x="5980176" y="2112264"/>
            <a:ext cx="5763463" cy="329184"/>
          </a:xfrm>
          <a:prstGeom prst="rect">
            <a:avLst/>
          </a:prstGeom>
          <a:noFill/>
          <a:ln/>
        </p:spPr>
        <p:txBody>
          <a:bodyPr wrap="square" lIns="127" tIns="127" rIns="127" bIns="127" rtlCol="0" anchor="ctr">
            <a:normAutofit/>
          </a:bodyPr>
          <a:lstStyle/>
          <a:p>
            <a:pPr marL="0" indent="0">
              <a:buNone/>
            </a:pPr>
            <a:r>
              <a:rPr lang="en-US" sz="880" dirty="0">
                <a:solidFill>
                  <a:srgbClr val="263B38"/>
                </a:solidFill>
              </a:rPr>
              <a:t>Quand une dépendance signal change</a:t>
            </a:r>
            <a:endParaRPr lang="en-US" sz="880" dirty="0"/>
          </a:p>
        </p:txBody>
      </p:sp>
      <p:sp>
        <p:nvSpPr>
          <p:cNvPr id="37" name="Shape 35"/>
          <p:cNvSpPr/>
          <p:nvPr/>
        </p:nvSpPr>
        <p:spPr>
          <a:xfrm>
            <a:off x="411480" y="2468880"/>
            <a:ext cx="685800" cy="384048"/>
          </a:xfrm>
          <a:prstGeom prst="rect">
            <a:avLst/>
          </a:prstGeom>
          <a:solidFill>
            <a:srgbClr val="F3F8F6"/>
          </a:solidFill>
          <a:ln w="12700">
            <a:solidFill>
              <a:srgbClr val="D6E5E0"/>
            </a:solidFill>
            <a:prstDash val="solid"/>
          </a:ln>
        </p:spPr>
      </p:sp>
      <p:sp>
        <p:nvSpPr>
          <p:cNvPr id="38" name="Text 36"/>
          <p:cNvSpPr/>
          <p:nvPr/>
        </p:nvSpPr>
        <p:spPr>
          <a:xfrm>
            <a:off x="448056" y="2496312"/>
            <a:ext cx="612648" cy="329184"/>
          </a:xfrm>
          <a:prstGeom prst="rect">
            <a:avLst/>
          </a:prstGeom>
          <a:noFill/>
          <a:ln/>
        </p:spPr>
        <p:txBody>
          <a:bodyPr wrap="square" lIns="127" tIns="127" rIns="127" bIns="127" rtlCol="0" anchor="ctr">
            <a:normAutofit/>
          </a:bodyPr>
          <a:lstStyle/>
          <a:p>
            <a:pPr marL="0" indent="0">
              <a:buNone/>
            </a:pPr>
            <a:r>
              <a:rPr lang="en-US" sz="880" dirty="0">
                <a:solidFill>
                  <a:srgbClr val="263B38"/>
                </a:solidFill>
              </a:rPr>
              <a:t>linkedSignal()</a:t>
            </a:r>
            <a:endParaRPr lang="en-US" sz="880" dirty="0"/>
          </a:p>
        </p:txBody>
      </p:sp>
      <p:sp>
        <p:nvSpPr>
          <p:cNvPr id="39" name="Shape 37"/>
          <p:cNvSpPr/>
          <p:nvPr/>
        </p:nvSpPr>
        <p:spPr>
          <a:xfrm>
            <a:off x="1097280" y="2468880"/>
            <a:ext cx="2240280" cy="384048"/>
          </a:xfrm>
          <a:prstGeom prst="rect">
            <a:avLst/>
          </a:prstGeom>
          <a:solidFill>
            <a:srgbClr val="F3F8F6"/>
          </a:solidFill>
          <a:ln w="12700">
            <a:solidFill>
              <a:srgbClr val="D6E5E0"/>
            </a:solidFill>
            <a:prstDash val="solid"/>
          </a:ln>
        </p:spPr>
      </p:sp>
      <p:sp>
        <p:nvSpPr>
          <p:cNvPr id="40" name="Text 38"/>
          <p:cNvSpPr/>
          <p:nvPr/>
        </p:nvSpPr>
        <p:spPr>
          <a:xfrm>
            <a:off x="1133856" y="2496312"/>
            <a:ext cx="2167128" cy="329184"/>
          </a:xfrm>
          <a:prstGeom prst="rect">
            <a:avLst/>
          </a:prstGeom>
          <a:noFill/>
          <a:ln/>
        </p:spPr>
        <p:txBody>
          <a:bodyPr wrap="square" lIns="127" tIns="127" rIns="127" bIns="127" rtlCol="0" anchor="ctr">
            <a:normAutofit/>
          </a:bodyPr>
          <a:lstStyle/>
          <a:p>
            <a:pPr marL="0" indent="0">
              <a:buNone/>
            </a:pPr>
            <a:r>
              <a:rPr lang="en-US" sz="880" dirty="0">
                <a:solidFill>
                  <a:srgbClr val="263B38"/>
                </a:solidFill>
              </a:rPr>
              <a:t>Valeur dérivée ET éditable</a:t>
            </a:r>
            <a:endParaRPr lang="en-US" sz="880" dirty="0"/>
          </a:p>
        </p:txBody>
      </p:sp>
      <p:sp>
        <p:nvSpPr>
          <p:cNvPr id="41" name="Shape 39"/>
          <p:cNvSpPr/>
          <p:nvPr/>
        </p:nvSpPr>
        <p:spPr>
          <a:xfrm>
            <a:off x="3337560" y="2468880"/>
            <a:ext cx="2606040" cy="384048"/>
          </a:xfrm>
          <a:prstGeom prst="rect">
            <a:avLst/>
          </a:prstGeom>
          <a:solidFill>
            <a:srgbClr val="F3F8F6"/>
          </a:solidFill>
          <a:ln w="12700">
            <a:solidFill>
              <a:srgbClr val="D6E5E0"/>
            </a:solidFill>
            <a:prstDash val="solid"/>
          </a:ln>
        </p:spPr>
      </p:sp>
      <p:sp>
        <p:nvSpPr>
          <p:cNvPr id="42" name="Text 40"/>
          <p:cNvSpPr/>
          <p:nvPr/>
        </p:nvSpPr>
        <p:spPr>
          <a:xfrm>
            <a:off x="3374136" y="2496312"/>
            <a:ext cx="2532888" cy="329184"/>
          </a:xfrm>
          <a:prstGeom prst="rect">
            <a:avLst/>
          </a:prstGeom>
          <a:noFill/>
          <a:ln/>
        </p:spPr>
        <p:txBody>
          <a:bodyPr wrap="square" lIns="127" tIns="127" rIns="127" bIns="127" rtlCol="0" anchor="ctr">
            <a:normAutofit/>
          </a:bodyPr>
          <a:lstStyle/>
          <a:p>
            <a:pPr marL="0" indent="0">
              <a:buNone/>
            </a:pPr>
            <a:r>
              <a:rPr lang="en-US" sz="880" dirty="0">
                <a:solidFill>
                  <a:srgbClr val="263B38"/>
                </a:solidFill>
              </a:rPr>
              <a:t>✓ .set() / .update()</a:t>
            </a:r>
            <a:endParaRPr lang="en-US" sz="880" dirty="0"/>
          </a:p>
        </p:txBody>
      </p:sp>
      <p:sp>
        <p:nvSpPr>
          <p:cNvPr id="43" name="Shape 41"/>
          <p:cNvSpPr/>
          <p:nvPr/>
        </p:nvSpPr>
        <p:spPr>
          <a:xfrm>
            <a:off x="5943600" y="2468880"/>
            <a:ext cx="5836615" cy="384048"/>
          </a:xfrm>
          <a:prstGeom prst="rect">
            <a:avLst/>
          </a:prstGeom>
          <a:solidFill>
            <a:srgbClr val="F3F8F6"/>
          </a:solidFill>
          <a:ln w="12700">
            <a:solidFill>
              <a:srgbClr val="D6E5E0"/>
            </a:solidFill>
            <a:prstDash val="solid"/>
          </a:ln>
        </p:spPr>
      </p:sp>
      <p:sp>
        <p:nvSpPr>
          <p:cNvPr id="44" name="Text 42"/>
          <p:cNvSpPr/>
          <p:nvPr/>
        </p:nvSpPr>
        <p:spPr>
          <a:xfrm>
            <a:off x="5980176" y="2496312"/>
            <a:ext cx="5763463" cy="329184"/>
          </a:xfrm>
          <a:prstGeom prst="rect">
            <a:avLst/>
          </a:prstGeom>
          <a:noFill/>
          <a:ln/>
        </p:spPr>
        <p:txBody>
          <a:bodyPr wrap="square" lIns="127" tIns="127" rIns="127" bIns="127" rtlCol="0" anchor="ctr">
            <a:normAutofit/>
          </a:bodyPr>
          <a:lstStyle/>
          <a:p>
            <a:pPr marL="0" indent="0">
              <a:buNone/>
            </a:pPr>
            <a:r>
              <a:rPr lang="en-US" sz="880" dirty="0">
                <a:solidFill>
                  <a:srgbClr val="263B38"/>
                </a:solidFill>
              </a:rPr>
              <a:t>Quand la source change</a:t>
            </a:r>
            <a:endParaRPr lang="en-US" sz="880" dirty="0"/>
          </a:p>
        </p:txBody>
      </p:sp>
      <p:sp>
        <p:nvSpPr>
          <p:cNvPr id="45" name="Text 43"/>
          <p:cNvSpPr/>
          <p:nvPr/>
        </p:nvSpPr>
        <p:spPr>
          <a:xfrm>
            <a:off x="11277295" y="6537960"/>
            <a:ext cx="502920" cy="182880"/>
          </a:xfrm>
          <a:prstGeom prst="rect">
            <a:avLst/>
          </a:prstGeom>
          <a:noFill/>
          <a:ln/>
        </p:spPr>
        <p:txBody>
          <a:bodyPr wrap="square" rtlCol="0" anchor="ctr"/>
          <a:lstStyle/>
          <a:p>
            <a:pPr marL="0" indent="0" algn="r">
              <a:buNone/>
            </a:pPr>
            <a:r>
              <a:rPr lang="en-US" sz="700" dirty="0">
                <a:solidFill>
                  <a:srgbClr val="61716F"/>
                </a:solidFill>
              </a:rPr>
              <a:t>27/29</a:t>
            </a:r>
            <a:endParaRPr lang="en-US" sz="7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3F8F6"/>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8A5B"/>
          </a:solidFill>
          <a:ln w="12700">
            <a:solidFill>
              <a:srgbClr val="008A5B"/>
            </a:solidFill>
            <a:prstDash val="solid"/>
          </a:ln>
        </p:spPr>
      </p:sp>
      <p:sp>
        <p:nvSpPr>
          <p:cNvPr id="3" name="Text 1"/>
          <p:cNvSpPr/>
          <p:nvPr/>
        </p:nvSpPr>
        <p:spPr>
          <a:xfrm>
            <a:off x="411480" y="219456"/>
            <a:ext cx="9357055" cy="347472"/>
          </a:xfrm>
          <a:prstGeom prst="rect">
            <a:avLst/>
          </a:prstGeom>
          <a:noFill/>
          <a:ln/>
        </p:spPr>
        <p:txBody>
          <a:bodyPr wrap="square" lIns="0" tIns="0" rIns="0" bIns="0" rtlCol="0" anchor="ctr">
            <a:normAutofit/>
          </a:bodyPr>
          <a:lstStyle/>
          <a:p>
            <a:pPr marL="0" indent="0">
              <a:buNone/>
            </a:pPr>
            <a:r>
              <a:rPr lang="en-US" sz="2300" b="1" dirty="0">
                <a:solidFill>
                  <a:srgbClr val="1B2B2A"/>
                </a:solidFill>
              </a:rPr>
              <a:t>Récapitulatif — Primitives Signals — APIs composant</a:t>
            </a:r>
            <a:endParaRPr lang="en-US" sz="2300" dirty="0"/>
          </a:p>
        </p:txBody>
      </p:sp>
      <p:sp>
        <p:nvSpPr>
          <p:cNvPr id="4" name="Text 2"/>
          <p:cNvSpPr/>
          <p:nvPr/>
        </p:nvSpPr>
        <p:spPr>
          <a:xfrm>
            <a:off x="10317175" y="246888"/>
            <a:ext cx="1463040" cy="219456"/>
          </a:xfrm>
          <a:prstGeom prst="rect">
            <a:avLst/>
          </a:prstGeom>
          <a:solidFill>
            <a:srgbClr val="CFEDE2"/>
          </a:solidFill>
          <a:ln>
            <a:solidFill>
              <a:srgbClr val="CFEDE2"/>
            </a:solidFill>
          </a:ln>
        </p:spPr>
        <p:txBody>
          <a:bodyPr wrap="square" lIns="254" tIns="254" rIns="254" bIns="254" rtlCol="0" anchor="ctr"/>
          <a:lstStyle/>
          <a:p>
            <a:pPr marL="0" indent="0" algn="ctr">
              <a:buNone/>
            </a:pPr>
            <a:r>
              <a:rPr lang="en-US" sz="800" b="1" dirty="0">
                <a:solidFill>
                  <a:srgbClr val="008A5B"/>
                </a:solidFill>
              </a:rPr>
              <a:t>BNP Paribas</a:t>
            </a:r>
            <a:endParaRPr lang="en-US" sz="800" dirty="0"/>
          </a:p>
        </p:txBody>
      </p:sp>
      <p:sp>
        <p:nvSpPr>
          <p:cNvPr id="5" name="Shape 3"/>
          <p:cNvSpPr/>
          <p:nvPr/>
        </p:nvSpPr>
        <p:spPr>
          <a:xfrm>
            <a:off x="411480" y="932688"/>
            <a:ext cx="1417320" cy="384048"/>
          </a:xfrm>
          <a:prstGeom prst="rect">
            <a:avLst/>
          </a:prstGeom>
          <a:solidFill>
            <a:srgbClr val="008A5B"/>
          </a:solidFill>
          <a:ln w="12700">
            <a:solidFill>
              <a:srgbClr val="D6E5E0"/>
            </a:solidFill>
            <a:prstDash val="solid"/>
          </a:ln>
        </p:spPr>
      </p:sp>
      <p:sp>
        <p:nvSpPr>
          <p:cNvPr id="6" name="Text 4"/>
          <p:cNvSpPr/>
          <p:nvPr/>
        </p:nvSpPr>
        <p:spPr>
          <a:xfrm>
            <a:off x="448056" y="960120"/>
            <a:ext cx="1344168" cy="329184"/>
          </a:xfrm>
          <a:prstGeom prst="rect">
            <a:avLst/>
          </a:prstGeom>
          <a:noFill/>
          <a:ln/>
        </p:spPr>
        <p:txBody>
          <a:bodyPr wrap="square" lIns="127" tIns="127" rIns="127" bIns="127" rtlCol="0" anchor="ctr">
            <a:normAutofit/>
          </a:bodyPr>
          <a:lstStyle/>
          <a:p>
            <a:pPr marL="0" indent="0">
              <a:buNone/>
            </a:pPr>
            <a:r>
              <a:rPr lang="en-US" sz="1160" b="1" dirty="0">
                <a:solidFill>
                  <a:srgbClr val="FFFFFF"/>
                </a:solidFill>
              </a:rPr>
              <a:t>API</a:t>
            </a:r>
            <a:endParaRPr lang="en-US" sz="1160" dirty="0"/>
          </a:p>
        </p:txBody>
      </p:sp>
      <p:sp>
        <p:nvSpPr>
          <p:cNvPr id="7" name="Shape 5"/>
          <p:cNvSpPr/>
          <p:nvPr/>
        </p:nvSpPr>
        <p:spPr>
          <a:xfrm>
            <a:off x="1828800" y="932688"/>
            <a:ext cx="2834640" cy="384048"/>
          </a:xfrm>
          <a:prstGeom prst="rect">
            <a:avLst/>
          </a:prstGeom>
          <a:solidFill>
            <a:srgbClr val="008A5B"/>
          </a:solidFill>
          <a:ln w="12700">
            <a:solidFill>
              <a:srgbClr val="D6E5E0"/>
            </a:solidFill>
            <a:prstDash val="solid"/>
          </a:ln>
        </p:spPr>
      </p:sp>
      <p:sp>
        <p:nvSpPr>
          <p:cNvPr id="8" name="Text 6"/>
          <p:cNvSpPr/>
          <p:nvPr/>
        </p:nvSpPr>
        <p:spPr>
          <a:xfrm>
            <a:off x="1865376" y="960120"/>
            <a:ext cx="2761488" cy="329184"/>
          </a:xfrm>
          <a:prstGeom prst="rect">
            <a:avLst/>
          </a:prstGeom>
          <a:noFill/>
          <a:ln/>
        </p:spPr>
        <p:txBody>
          <a:bodyPr wrap="square" lIns="127" tIns="127" rIns="127" bIns="127" rtlCol="0" anchor="ctr">
            <a:normAutofit/>
          </a:bodyPr>
          <a:lstStyle/>
          <a:p>
            <a:pPr marL="0" indent="0">
              <a:buNone/>
            </a:pPr>
            <a:r>
              <a:rPr lang="en-US" sz="1160" b="1" dirty="0">
                <a:solidFill>
                  <a:srgbClr val="FFFFFF"/>
                </a:solidFill>
              </a:rPr>
              <a:t>Rôle</a:t>
            </a:r>
            <a:endParaRPr lang="en-US" sz="1160" dirty="0"/>
          </a:p>
        </p:txBody>
      </p:sp>
      <p:sp>
        <p:nvSpPr>
          <p:cNvPr id="9" name="Shape 7"/>
          <p:cNvSpPr/>
          <p:nvPr/>
        </p:nvSpPr>
        <p:spPr>
          <a:xfrm>
            <a:off x="4663440" y="932688"/>
            <a:ext cx="7116775" cy="384048"/>
          </a:xfrm>
          <a:prstGeom prst="rect">
            <a:avLst/>
          </a:prstGeom>
          <a:solidFill>
            <a:srgbClr val="008A5B"/>
          </a:solidFill>
          <a:ln w="12700">
            <a:solidFill>
              <a:srgbClr val="D6E5E0"/>
            </a:solidFill>
            <a:prstDash val="solid"/>
          </a:ln>
        </p:spPr>
      </p:sp>
      <p:sp>
        <p:nvSpPr>
          <p:cNvPr id="10" name="Text 8"/>
          <p:cNvSpPr/>
          <p:nvPr/>
        </p:nvSpPr>
        <p:spPr>
          <a:xfrm>
            <a:off x="4700016" y="960120"/>
            <a:ext cx="7043623" cy="329184"/>
          </a:xfrm>
          <a:prstGeom prst="rect">
            <a:avLst/>
          </a:prstGeom>
          <a:noFill/>
          <a:ln/>
        </p:spPr>
        <p:txBody>
          <a:bodyPr wrap="square" lIns="127" tIns="127" rIns="127" bIns="127" rtlCol="0" anchor="ctr">
            <a:normAutofit/>
          </a:bodyPr>
          <a:lstStyle/>
          <a:p>
            <a:pPr marL="0" indent="0">
              <a:buNone/>
            </a:pPr>
            <a:r>
              <a:rPr lang="en-US" sz="1160" b="1" dirty="0">
                <a:solidFill>
                  <a:srgbClr val="FFFFFF"/>
                </a:solidFill>
              </a:rPr>
              <a:t>Remplace</a:t>
            </a:r>
            <a:endParaRPr lang="en-US" sz="1160" dirty="0"/>
          </a:p>
        </p:txBody>
      </p:sp>
      <p:sp>
        <p:nvSpPr>
          <p:cNvPr id="11" name="Shape 9"/>
          <p:cNvSpPr/>
          <p:nvPr/>
        </p:nvSpPr>
        <p:spPr>
          <a:xfrm>
            <a:off x="411480" y="1316736"/>
            <a:ext cx="1417320" cy="384048"/>
          </a:xfrm>
          <a:prstGeom prst="rect">
            <a:avLst/>
          </a:prstGeom>
          <a:solidFill>
            <a:srgbClr val="FFFFFF"/>
          </a:solidFill>
          <a:ln w="12700">
            <a:solidFill>
              <a:srgbClr val="D6E5E0"/>
            </a:solidFill>
            <a:prstDash val="solid"/>
          </a:ln>
        </p:spPr>
      </p:sp>
      <p:sp>
        <p:nvSpPr>
          <p:cNvPr id="12" name="Text 10"/>
          <p:cNvSpPr/>
          <p:nvPr/>
        </p:nvSpPr>
        <p:spPr>
          <a:xfrm>
            <a:off x="448056" y="1344168"/>
            <a:ext cx="1344168" cy="329184"/>
          </a:xfrm>
          <a:prstGeom prst="rect">
            <a:avLst/>
          </a:prstGeom>
          <a:noFill/>
          <a:ln/>
        </p:spPr>
        <p:txBody>
          <a:bodyPr wrap="square" lIns="127" tIns="127" rIns="127" bIns="127" rtlCol="0" anchor="ctr">
            <a:normAutofit/>
          </a:bodyPr>
          <a:lstStyle/>
          <a:p>
            <a:pPr marL="0" indent="0">
              <a:buNone/>
            </a:pPr>
            <a:r>
              <a:rPr lang="en-US" sz="1160" dirty="0">
                <a:solidFill>
                  <a:srgbClr val="263B38"/>
                </a:solidFill>
              </a:rPr>
              <a:t>input()</a:t>
            </a:r>
            <a:endParaRPr lang="en-US" sz="1160" dirty="0"/>
          </a:p>
        </p:txBody>
      </p:sp>
      <p:sp>
        <p:nvSpPr>
          <p:cNvPr id="13" name="Shape 11"/>
          <p:cNvSpPr/>
          <p:nvPr/>
        </p:nvSpPr>
        <p:spPr>
          <a:xfrm>
            <a:off x="1828800" y="1316736"/>
            <a:ext cx="2834640" cy="384048"/>
          </a:xfrm>
          <a:prstGeom prst="rect">
            <a:avLst/>
          </a:prstGeom>
          <a:solidFill>
            <a:srgbClr val="FFFFFF"/>
          </a:solidFill>
          <a:ln w="12700">
            <a:solidFill>
              <a:srgbClr val="D6E5E0"/>
            </a:solidFill>
            <a:prstDash val="solid"/>
          </a:ln>
        </p:spPr>
      </p:sp>
      <p:sp>
        <p:nvSpPr>
          <p:cNvPr id="14" name="Text 12"/>
          <p:cNvSpPr/>
          <p:nvPr/>
        </p:nvSpPr>
        <p:spPr>
          <a:xfrm>
            <a:off x="1865376" y="1344168"/>
            <a:ext cx="2761488" cy="329184"/>
          </a:xfrm>
          <a:prstGeom prst="rect">
            <a:avLst/>
          </a:prstGeom>
          <a:noFill/>
          <a:ln/>
        </p:spPr>
        <p:txBody>
          <a:bodyPr wrap="square" lIns="127" tIns="127" rIns="127" bIns="127" rtlCol="0" anchor="ctr">
            <a:normAutofit/>
          </a:bodyPr>
          <a:lstStyle/>
          <a:p>
            <a:pPr marL="0" indent="0">
              <a:buNone/>
            </a:pPr>
            <a:r>
              <a:rPr lang="en-US" sz="1160" dirty="0">
                <a:solidFill>
                  <a:srgbClr val="263B38"/>
                </a:solidFill>
              </a:rPr>
              <a:t>Entrée réactive (signal en lecture)</a:t>
            </a:r>
            <a:endParaRPr lang="en-US" sz="1160" dirty="0"/>
          </a:p>
        </p:txBody>
      </p:sp>
      <p:sp>
        <p:nvSpPr>
          <p:cNvPr id="15" name="Shape 13"/>
          <p:cNvSpPr/>
          <p:nvPr/>
        </p:nvSpPr>
        <p:spPr>
          <a:xfrm>
            <a:off x="4663440" y="1316736"/>
            <a:ext cx="7116775" cy="384048"/>
          </a:xfrm>
          <a:prstGeom prst="rect">
            <a:avLst/>
          </a:prstGeom>
          <a:solidFill>
            <a:srgbClr val="FFFFFF"/>
          </a:solidFill>
          <a:ln w="12700">
            <a:solidFill>
              <a:srgbClr val="D6E5E0"/>
            </a:solidFill>
            <a:prstDash val="solid"/>
          </a:ln>
        </p:spPr>
      </p:sp>
      <p:sp>
        <p:nvSpPr>
          <p:cNvPr id="16" name="Text 14"/>
          <p:cNvSpPr/>
          <p:nvPr/>
        </p:nvSpPr>
        <p:spPr>
          <a:xfrm>
            <a:off x="4700016" y="1344168"/>
            <a:ext cx="7043623" cy="329184"/>
          </a:xfrm>
          <a:prstGeom prst="rect">
            <a:avLst/>
          </a:prstGeom>
          <a:noFill/>
          <a:ln/>
        </p:spPr>
        <p:txBody>
          <a:bodyPr wrap="square" lIns="127" tIns="127" rIns="127" bIns="127" rtlCol="0" anchor="ctr">
            <a:normAutofit/>
          </a:bodyPr>
          <a:lstStyle/>
          <a:p>
            <a:pPr marL="0" indent="0">
              <a:buNone/>
            </a:pPr>
            <a:r>
              <a:rPr lang="en-US" sz="1160" dirty="0">
                <a:solidFill>
                  <a:srgbClr val="263B38"/>
                </a:solidFill>
              </a:rPr>
              <a:t>@Input()</a:t>
            </a:r>
            <a:endParaRPr lang="en-US" sz="1160" dirty="0"/>
          </a:p>
        </p:txBody>
      </p:sp>
      <p:sp>
        <p:nvSpPr>
          <p:cNvPr id="17" name="Shape 15"/>
          <p:cNvSpPr/>
          <p:nvPr/>
        </p:nvSpPr>
        <p:spPr>
          <a:xfrm>
            <a:off x="411480" y="1700784"/>
            <a:ext cx="1417320" cy="384048"/>
          </a:xfrm>
          <a:prstGeom prst="rect">
            <a:avLst/>
          </a:prstGeom>
          <a:solidFill>
            <a:srgbClr val="F3F8F6"/>
          </a:solidFill>
          <a:ln w="12700">
            <a:solidFill>
              <a:srgbClr val="D6E5E0"/>
            </a:solidFill>
            <a:prstDash val="solid"/>
          </a:ln>
        </p:spPr>
      </p:sp>
      <p:sp>
        <p:nvSpPr>
          <p:cNvPr id="18" name="Text 16"/>
          <p:cNvSpPr/>
          <p:nvPr/>
        </p:nvSpPr>
        <p:spPr>
          <a:xfrm>
            <a:off x="448056" y="1728216"/>
            <a:ext cx="1344168" cy="329184"/>
          </a:xfrm>
          <a:prstGeom prst="rect">
            <a:avLst/>
          </a:prstGeom>
          <a:noFill/>
          <a:ln/>
        </p:spPr>
        <p:txBody>
          <a:bodyPr wrap="square" lIns="127" tIns="127" rIns="127" bIns="127" rtlCol="0" anchor="ctr">
            <a:normAutofit/>
          </a:bodyPr>
          <a:lstStyle/>
          <a:p>
            <a:pPr marL="0" indent="0">
              <a:buNone/>
            </a:pPr>
            <a:r>
              <a:rPr lang="en-US" sz="1160" dirty="0">
                <a:solidFill>
                  <a:srgbClr val="263B38"/>
                </a:solidFill>
              </a:rPr>
              <a:t>output()</a:t>
            </a:r>
            <a:endParaRPr lang="en-US" sz="1160" dirty="0"/>
          </a:p>
        </p:txBody>
      </p:sp>
      <p:sp>
        <p:nvSpPr>
          <p:cNvPr id="19" name="Shape 17"/>
          <p:cNvSpPr/>
          <p:nvPr/>
        </p:nvSpPr>
        <p:spPr>
          <a:xfrm>
            <a:off x="1828800" y="1700784"/>
            <a:ext cx="2834640" cy="384048"/>
          </a:xfrm>
          <a:prstGeom prst="rect">
            <a:avLst/>
          </a:prstGeom>
          <a:solidFill>
            <a:srgbClr val="F3F8F6"/>
          </a:solidFill>
          <a:ln w="12700">
            <a:solidFill>
              <a:srgbClr val="D6E5E0"/>
            </a:solidFill>
            <a:prstDash val="solid"/>
          </a:ln>
        </p:spPr>
      </p:sp>
      <p:sp>
        <p:nvSpPr>
          <p:cNvPr id="20" name="Text 18"/>
          <p:cNvSpPr/>
          <p:nvPr/>
        </p:nvSpPr>
        <p:spPr>
          <a:xfrm>
            <a:off x="1865376" y="1728216"/>
            <a:ext cx="2761488" cy="329184"/>
          </a:xfrm>
          <a:prstGeom prst="rect">
            <a:avLst/>
          </a:prstGeom>
          <a:noFill/>
          <a:ln/>
        </p:spPr>
        <p:txBody>
          <a:bodyPr wrap="square" lIns="127" tIns="127" rIns="127" bIns="127" rtlCol="0" anchor="ctr">
            <a:normAutofit/>
          </a:bodyPr>
          <a:lstStyle/>
          <a:p>
            <a:pPr marL="0" indent="0">
              <a:buNone/>
            </a:pPr>
            <a:r>
              <a:rPr lang="en-US" sz="1160" dirty="0">
                <a:solidFill>
                  <a:srgbClr val="263B38"/>
                </a:solidFill>
              </a:rPr>
              <a:t>Événement sortant (intention composant)</a:t>
            </a:r>
            <a:endParaRPr lang="en-US" sz="1160" dirty="0"/>
          </a:p>
        </p:txBody>
      </p:sp>
      <p:sp>
        <p:nvSpPr>
          <p:cNvPr id="21" name="Shape 19"/>
          <p:cNvSpPr/>
          <p:nvPr/>
        </p:nvSpPr>
        <p:spPr>
          <a:xfrm>
            <a:off x="4663440" y="1700784"/>
            <a:ext cx="7116775" cy="384048"/>
          </a:xfrm>
          <a:prstGeom prst="rect">
            <a:avLst/>
          </a:prstGeom>
          <a:solidFill>
            <a:srgbClr val="F3F8F6"/>
          </a:solidFill>
          <a:ln w="12700">
            <a:solidFill>
              <a:srgbClr val="D6E5E0"/>
            </a:solidFill>
            <a:prstDash val="solid"/>
          </a:ln>
        </p:spPr>
      </p:sp>
      <p:sp>
        <p:nvSpPr>
          <p:cNvPr id="22" name="Text 20"/>
          <p:cNvSpPr/>
          <p:nvPr/>
        </p:nvSpPr>
        <p:spPr>
          <a:xfrm>
            <a:off x="4700016" y="1728216"/>
            <a:ext cx="7043623" cy="329184"/>
          </a:xfrm>
          <a:prstGeom prst="rect">
            <a:avLst/>
          </a:prstGeom>
          <a:noFill/>
          <a:ln/>
        </p:spPr>
        <p:txBody>
          <a:bodyPr wrap="square" lIns="127" tIns="127" rIns="127" bIns="127" rtlCol="0" anchor="ctr">
            <a:normAutofit/>
          </a:bodyPr>
          <a:lstStyle/>
          <a:p>
            <a:pPr marL="0" indent="0">
              <a:buNone/>
            </a:pPr>
            <a:r>
              <a:rPr lang="en-US" sz="1160" dirty="0">
                <a:solidFill>
                  <a:srgbClr val="263B38"/>
                </a:solidFill>
              </a:rPr>
              <a:t>@Output() + EventEmitter</a:t>
            </a:r>
            <a:endParaRPr lang="en-US" sz="1160" dirty="0"/>
          </a:p>
        </p:txBody>
      </p:sp>
      <p:sp>
        <p:nvSpPr>
          <p:cNvPr id="23" name="Shape 21"/>
          <p:cNvSpPr/>
          <p:nvPr/>
        </p:nvSpPr>
        <p:spPr>
          <a:xfrm>
            <a:off x="411480" y="2084832"/>
            <a:ext cx="1417320" cy="384048"/>
          </a:xfrm>
          <a:prstGeom prst="rect">
            <a:avLst/>
          </a:prstGeom>
          <a:solidFill>
            <a:srgbClr val="FFFFFF"/>
          </a:solidFill>
          <a:ln w="12700">
            <a:solidFill>
              <a:srgbClr val="D6E5E0"/>
            </a:solidFill>
            <a:prstDash val="solid"/>
          </a:ln>
        </p:spPr>
      </p:sp>
      <p:sp>
        <p:nvSpPr>
          <p:cNvPr id="24" name="Text 22"/>
          <p:cNvSpPr/>
          <p:nvPr/>
        </p:nvSpPr>
        <p:spPr>
          <a:xfrm>
            <a:off x="448056" y="2112264"/>
            <a:ext cx="1344168" cy="329184"/>
          </a:xfrm>
          <a:prstGeom prst="rect">
            <a:avLst/>
          </a:prstGeom>
          <a:noFill/>
          <a:ln/>
        </p:spPr>
        <p:txBody>
          <a:bodyPr wrap="square" lIns="127" tIns="127" rIns="127" bIns="127" rtlCol="0" anchor="ctr">
            <a:normAutofit/>
          </a:bodyPr>
          <a:lstStyle/>
          <a:p>
            <a:pPr marL="0" indent="0">
              <a:buNone/>
            </a:pPr>
            <a:r>
              <a:rPr lang="en-US" sz="1160" dirty="0">
                <a:solidFill>
                  <a:srgbClr val="263B38"/>
                </a:solidFill>
              </a:rPr>
              <a:t>model()</a:t>
            </a:r>
            <a:endParaRPr lang="en-US" sz="1160" dirty="0"/>
          </a:p>
        </p:txBody>
      </p:sp>
      <p:sp>
        <p:nvSpPr>
          <p:cNvPr id="25" name="Shape 23"/>
          <p:cNvSpPr/>
          <p:nvPr/>
        </p:nvSpPr>
        <p:spPr>
          <a:xfrm>
            <a:off x="1828800" y="2084832"/>
            <a:ext cx="2834640" cy="384048"/>
          </a:xfrm>
          <a:prstGeom prst="rect">
            <a:avLst/>
          </a:prstGeom>
          <a:solidFill>
            <a:srgbClr val="FFFFFF"/>
          </a:solidFill>
          <a:ln w="12700">
            <a:solidFill>
              <a:srgbClr val="D6E5E0"/>
            </a:solidFill>
            <a:prstDash val="solid"/>
          </a:ln>
        </p:spPr>
      </p:sp>
      <p:sp>
        <p:nvSpPr>
          <p:cNvPr id="26" name="Text 24"/>
          <p:cNvSpPr/>
          <p:nvPr/>
        </p:nvSpPr>
        <p:spPr>
          <a:xfrm>
            <a:off x="1865376" y="2112264"/>
            <a:ext cx="2761488" cy="329184"/>
          </a:xfrm>
          <a:prstGeom prst="rect">
            <a:avLst/>
          </a:prstGeom>
          <a:noFill/>
          <a:ln/>
        </p:spPr>
        <p:txBody>
          <a:bodyPr wrap="square" lIns="127" tIns="127" rIns="127" bIns="127" rtlCol="0" anchor="ctr">
            <a:normAutofit/>
          </a:bodyPr>
          <a:lstStyle/>
          <a:p>
            <a:pPr marL="0" indent="0">
              <a:buNone/>
            </a:pPr>
            <a:r>
              <a:rPr lang="en-US" sz="1160" dirty="0">
                <a:solidFill>
                  <a:srgbClr val="263B38"/>
                </a:solidFill>
              </a:rPr>
              <a:t>Valeur partagée modifiable des deux côtés</a:t>
            </a:r>
            <a:endParaRPr lang="en-US" sz="1160" dirty="0"/>
          </a:p>
        </p:txBody>
      </p:sp>
      <p:sp>
        <p:nvSpPr>
          <p:cNvPr id="27" name="Shape 25"/>
          <p:cNvSpPr/>
          <p:nvPr/>
        </p:nvSpPr>
        <p:spPr>
          <a:xfrm>
            <a:off x="4663440" y="2084832"/>
            <a:ext cx="7116775" cy="384048"/>
          </a:xfrm>
          <a:prstGeom prst="rect">
            <a:avLst/>
          </a:prstGeom>
          <a:solidFill>
            <a:srgbClr val="FFFFFF"/>
          </a:solidFill>
          <a:ln w="12700">
            <a:solidFill>
              <a:srgbClr val="D6E5E0"/>
            </a:solidFill>
            <a:prstDash val="solid"/>
          </a:ln>
        </p:spPr>
      </p:sp>
      <p:sp>
        <p:nvSpPr>
          <p:cNvPr id="28" name="Text 26"/>
          <p:cNvSpPr/>
          <p:nvPr/>
        </p:nvSpPr>
        <p:spPr>
          <a:xfrm>
            <a:off x="4700016" y="2112264"/>
            <a:ext cx="7043623" cy="329184"/>
          </a:xfrm>
          <a:prstGeom prst="rect">
            <a:avLst/>
          </a:prstGeom>
          <a:noFill/>
          <a:ln/>
        </p:spPr>
        <p:txBody>
          <a:bodyPr wrap="square" lIns="127" tIns="127" rIns="127" bIns="127" rtlCol="0" anchor="ctr">
            <a:normAutofit/>
          </a:bodyPr>
          <a:lstStyle/>
          <a:p>
            <a:pPr marL="0" indent="0">
              <a:buNone/>
            </a:pPr>
            <a:r>
              <a:rPr lang="en-US" sz="1160" dirty="0">
                <a:solidFill>
                  <a:srgbClr val="263B38"/>
                </a:solidFill>
              </a:rPr>
              <a:t>@Input() + @Output() pour le two-way binding</a:t>
            </a:r>
            <a:endParaRPr lang="en-US" sz="1160" dirty="0"/>
          </a:p>
        </p:txBody>
      </p:sp>
      <p:sp>
        <p:nvSpPr>
          <p:cNvPr id="29" name="Text 27"/>
          <p:cNvSpPr/>
          <p:nvPr/>
        </p:nvSpPr>
        <p:spPr>
          <a:xfrm>
            <a:off x="11277295" y="6537960"/>
            <a:ext cx="502920" cy="182880"/>
          </a:xfrm>
          <a:prstGeom prst="rect">
            <a:avLst/>
          </a:prstGeom>
          <a:noFill/>
          <a:ln/>
        </p:spPr>
        <p:txBody>
          <a:bodyPr wrap="square" rtlCol="0" anchor="ctr"/>
          <a:lstStyle/>
          <a:p>
            <a:pPr marL="0" indent="0" algn="r">
              <a:buNone/>
            </a:pPr>
            <a:r>
              <a:rPr lang="en-US" sz="700" dirty="0">
                <a:solidFill>
                  <a:srgbClr val="61716F"/>
                </a:solidFill>
              </a:rPr>
              <a:t>28/29</a:t>
            </a:r>
            <a:endParaRPr lang="en-US" sz="7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3F8F6"/>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8A5B"/>
          </a:solidFill>
          <a:ln w="12700">
            <a:solidFill>
              <a:srgbClr val="008A5B"/>
            </a:solidFill>
            <a:prstDash val="solid"/>
          </a:ln>
        </p:spPr>
      </p:sp>
      <p:sp>
        <p:nvSpPr>
          <p:cNvPr id="3" name="Text 1"/>
          <p:cNvSpPr/>
          <p:nvPr/>
        </p:nvSpPr>
        <p:spPr>
          <a:xfrm>
            <a:off x="411480" y="219456"/>
            <a:ext cx="9357055" cy="347472"/>
          </a:xfrm>
          <a:prstGeom prst="rect">
            <a:avLst/>
          </a:prstGeom>
          <a:noFill/>
          <a:ln/>
        </p:spPr>
        <p:txBody>
          <a:bodyPr wrap="square" lIns="0" tIns="0" rIns="0" bIns="0" rtlCol="0" anchor="ctr">
            <a:normAutofit/>
          </a:bodyPr>
          <a:lstStyle/>
          <a:p>
            <a:pPr marL="0" indent="0">
              <a:buNone/>
            </a:pPr>
            <a:r>
              <a:rPr lang="en-US" sz="2300" b="1" dirty="0">
                <a:solidFill>
                  <a:srgbClr val="1B2B2A"/>
                </a:solidFill>
              </a:rPr>
              <a:t>Clôture du dojo — Règles à retenir</a:t>
            </a:r>
            <a:endParaRPr lang="en-US" sz="2300" dirty="0"/>
          </a:p>
        </p:txBody>
      </p:sp>
      <p:sp>
        <p:nvSpPr>
          <p:cNvPr id="4" name="Text 2"/>
          <p:cNvSpPr/>
          <p:nvPr/>
        </p:nvSpPr>
        <p:spPr>
          <a:xfrm>
            <a:off x="10317175" y="246888"/>
            <a:ext cx="1463040" cy="219456"/>
          </a:xfrm>
          <a:prstGeom prst="rect">
            <a:avLst/>
          </a:prstGeom>
          <a:solidFill>
            <a:srgbClr val="CFEDE2"/>
          </a:solidFill>
          <a:ln>
            <a:solidFill>
              <a:srgbClr val="CFEDE2"/>
            </a:solidFill>
          </a:ln>
        </p:spPr>
        <p:txBody>
          <a:bodyPr wrap="square" lIns="254" tIns="254" rIns="254" bIns="254" rtlCol="0" anchor="ctr"/>
          <a:lstStyle/>
          <a:p>
            <a:pPr marL="0" indent="0" algn="ctr">
              <a:buNone/>
            </a:pPr>
            <a:r>
              <a:rPr lang="en-US" sz="800" b="1" dirty="0">
                <a:solidFill>
                  <a:srgbClr val="008A5B"/>
                </a:solidFill>
              </a:rPr>
              <a:t>BNP Paribas</a:t>
            </a:r>
            <a:endParaRPr lang="en-US" sz="800" dirty="0"/>
          </a:p>
        </p:txBody>
      </p:sp>
      <p:sp>
        <p:nvSpPr>
          <p:cNvPr id="6" name="Text 3"/>
          <p:cNvSpPr/>
          <p:nvPr/>
        </p:nvSpPr>
        <p:spPr>
          <a:xfrm>
            <a:off x="411480" y="932688"/>
            <a:ext cx="11368735" cy="1225296"/>
          </a:xfrm>
          <a:prstGeom prst="rect">
            <a:avLst/>
          </a:prstGeom>
          <a:solidFill>
            <a:srgbClr val="15332F"/>
          </a:solidFill>
          <a:ln/>
        </p:spPr>
        <p:txBody>
          <a:bodyPr wrap="square" lIns="1016" tIns="1016" rIns="1016" bIns="1016" rtlCol="0" anchor="t">
            <a:normAutofit/>
          </a:bodyPr>
          <a:lstStyle/>
          <a:p>
            <a:pPr marL="0" indent="0">
              <a:buNone/>
            </a:pPr>
            <a:r>
              <a:rPr lang="en-US" sz="1030" dirty="0">
                <a:solidFill>
                  <a:srgbClr val="F8FAFC"/>
                </a:solidFill>
                <a:latin typeface="Courier New" pitchFamily="34" charset="0"/>
                <a:ea typeface="Courier New" pitchFamily="34" charset="-122"/>
                <a:cs typeface="Courier New" pitchFamily="34" charset="-120"/>
              </a:rPr>
              <a:t>1. computed()    ne fait jamais d'appel HTTP — calcul pur uniquement</a:t>
            </a:r>
            <a:endParaRPr lang="en-US" sz="1030" dirty="0"/>
          </a:p>
          <a:p>
            <a:pPr marL="0" indent="0">
              <a:buNone/>
            </a:pPr>
            <a:r>
              <a:rPr lang="en-US" sz="1030" dirty="0">
                <a:solidFill>
                  <a:srgbClr val="F8FAFC"/>
                </a:solidFill>
                <a:latin typeface="Courier New" pitchFamily="34" charset="0"/>
                <a:ea typeface="Courier New" pitchFamily="34" charset="-122"/>
                <a:cs typeface="Courier New" pitchFamily="34" charset="-120"/>
              </a:rPr>
              <a:t>2. effect()      n'expose jamais de valeur    — effets de bord uniquement</a:t>
            </a:r>
            <a:endParaRPr lang="en-US" sz="1030" dirty="0"/>
          </a:p>
          <a:p>
            <a:pPr marL="0" indent="0">
              <a:buNone/>
            </a:pPr>
            <a:r>
              <a:rPr lang="en-US" sz="1030" dirty="0">
                <a:solidFill>
                  <a:srgbClr val="F8FAFC"/>
                </a:solidFill>
                <a:latin typeface="Courier New" pitchFamily="34" charset="0"/>
                <a:ea typeface="Courier New" pitchFamily="34" charset="-122"/>
                <a:cs typeface="Courier New" pitchFamily="34" charset="-120"/>
              </a:rPr>
              <a:t>3. input() dans un computed() = dépendance réelle / @Input() dans computed() = non</a:t>
            </a:r>
            <a:endParaRPr lang="en-US" sz="1030" dirty="0"/>
          </a:p>
          <a:p>
            <a:pPr marL="0" indent="0">
              <a:buNone/>
            </a:pPr>
            <a:r>
              <a:rPr lang="en-US" sz="1030" dirty="0">
                <a:solidFill>
                  <a:srgbClr val="F8FAFC"/>
                </a:solidFill>
                <a:latin typeface="Courier New" pitchFamily="34" charset="0"/>
                <a:ea typeface="Courier New" pitchFamily="34" charset="-122"/>
                <a:cs typeface="Courier New" pitchFamily="34" charset="-120"/>
              </a:rPr>
              <a:t>4. Zone.js peut coexister — migrer progressivement, pas tout d'un coup</a:t>
            </a:r>
            <a:endParaRPr lang="en-US" sz="1030" dirty="0"/>
          </a:p>
          <a:p>
            <a:pPr marL="0" indent="0">
              <a:buNone/>
            </a:pPr>
            <a:r>
              <a:rPr lang="en-US" sz="1030" dirty="0">
                <a:solidFill>
                  <a:srgbClr val="F8FAFC"/>
                </a:solidFill>
                <a:latin typeface="Courier New" pitchFamily="34" charset="0"/>
                <a:ea typeface="Courier New" pitchFamily="34" charset="-122"/>
                <a:cs typeface="Courier New" pitchFamily="34" charset="-120"/>
              </a:rPr>
              <a:t>5. untracked()   pour lire sans s'abonner dans un effect()</a:t>
            </a:r>
            <a:endParaRPr lang="en-US" sz="1030" dirty="0"/>
          </a:p>
        </p:txBody>
      </p:sp>
      <p:sp>
        <p:nvSpPr>
          <p:cNvPr id="7" name="Text 4"/>
          <p:cNvSpPr/>
          <p:nvPr/>
        </p:nvSpPr>
        <p:spPr>
          <a:xfrm>
            <a:off x="11277295" y="6537960"/>
            <a:ext cx="502920" cy="182880"/>
          </a:xfrm>
          <a:prstGeom prst="rect">
            <a:avLst/>
          </a:prstGeom>
          <a:noFill/>
          <a:ln/>
        </p:spPr>
        <p:txBody>
          <a:bodyPr wrap="square" rtlCol="0" anchor="ctr"/>
          <a:lstStyle/>
          <a:p>
            <a:pPr marL="0" indent="0" algn="r">
              <a:buNone/>
            </a:pPr>
            <a:r>
              <a:rPr lang="en-US" sz="700" dirty="0">
                <a:solidFill>
                  <a:srgbClr val="61716F"/>
                </a:solidFill>
              </a:rPr>
              <a:t>29/29</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2172</Words>
  <Application>Microsoft Office PowerPoint</Application>
  <PresentationFormat>Grand écran</PresentationFormat>
  <Paragraphs>281</Paragraphs>
  <Slides>29</Slides>
  <Notes>29</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29</vt:i4>
      </vt:variant>
    </vt:vector>
  </HeadingPairs>
  <TitlesOfParts>
    <vt:vector size="33" baseType="lpstr">
      <vt:lpstr>Arial</vt:lpstr>
      <vt:lpstr>Calibri</vt:lpstr>
      <vt:lpstr>Courier New</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BNP Paribas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Angular 21 Signals - Support de presentation dojo</dc:title>
  <dc:subject>Angular 21 Signals</dc:subject>
  <dc:creator>Dojo Angular Signals</dc:creator>
  <cp:lastModifiedBy>Achraf Slaoui</cp:lastModifiedBy>
  <cp:revision>2</cp:revision>
  <dcterms:created xsi:type="dcterms:W3CDTF">2026-06-16T20:55:27Z</dcterms:created>
  <dcterms:modified xsi:type="dcterms:W3CDTF">2026-06-16T21:00:36Z</dcterms:modified>
</cp:coreProperties>
</file>