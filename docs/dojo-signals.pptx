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dojo se déroule en Angular 21. Le projet garde volontairement zone.js et OnPush pour montrer une migration progressive vers Signals, sans basculer toute l'application en zoneless dès le départ.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Zone.js aide Angular à savoir qu'un événement asynchrone a eu lieu. Il patche les APIs du navigateur (setTimeout, Promise, addEventListener, XMLHttpRequest, etc.) puis prévient Angular qu'un cycle de détection doit être lancé.
Zone.js ne modélise pas l'état de l'application : il sert surtout à déclencher la détection de changement.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signal est une valeur réactive observable par Angular. Il contient une valeur, se lit avec (), et Angular mémorise automatiquement les templates, computed() et effect() qui l'ont lu.
Le problème résolu par Signals : rendre l'état local explicite et permettre à Angular de savoir précisément quelles vues ou valeurs dérivées dépendent de cet état.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decisions d'architecture pedagogique sont detaillees dans docs/adr/0001-architecture-pedagogique-dojo-signals.md.
Le projet montre volontairement deux patterns Signals.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ClientsComponent et DashboardComponent montrent les bases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AccountsFacade et MovementsFacade montrent l'étape avancée :
L'asymétrie est intentionnelle : on commence simple dans un composant,
puis on extrait vers une facade quand l'état devient plus riche ou partagé.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Voir aussi l'ADR 0001 pour la justification de ce choix.
Le projet contient volontairement du code mixte : certains états sont déjà des signals, d'autres restent des propriétés classiques.
Dans les templates, cela donne aussi un mélange visible :
Ce n'est pas une incohérence. C'est le reflet d'une migration progressive :
effect(), plusieurs composants, ou quand on veut expliciter ses dépendances.
À retenir : dans ce dojo, on ne convertit pas tout mécaniquement. On convertit les états qui rendent le modèle réactif plus clair.
L'exercice 1 convertit adding dans ClientsComponent pour apprendre signal(). Le adding de AccountsComponent reste volontairement classique : il illustre qu'une migration peut être progressive quand l'état reste local et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signal est une valeur réactive observable par Angular. Il contient une valeur,
se lit avec (), et Angular mémorise automatiquement les templates, computed()
et effect() qui l'ont lu.
Quand la valeur change, Angular sait précisément quelles dépendances invalider : les valeurs dérivées sont recalculées si nécessaire et les vues concernées sont mises à jour.
signal() crée un signal mutable. computed() crée un signal dérivé en lecture seule. effect() observe des signals, mais n'est pas un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computed est une valeur dérivée mémorisée. Le calcul ne se relance que si
une dépendance lue a changé depuis la dernière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effect() exécute un effet de bord quand les signals lus dans son corps changent.
Il s'exécute automatiquement, sans appel explicite.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 exercice montre un deuxième usage de effect() : déclencher un effet DOM quand une condition UI devient vraie. Ici, on veut placer le focus sur le champ prénom quand le formulaire d'ajout est affiché.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viewChild() expose une référence DOM comme un signal. Retourne undefined quand
l'élément est absent du DOM, ElementRef quand il est présent.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focus n'est pas une valeur calculée : c'est une interaction avec le DOM. effect() est adapté parce qu'il réagit à adding() et à la présence réelle de l'élément exposé par viewChild().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clé : @Input() dans un computed() ne crée pas de dépendance réelle.
input() dans un computed() est une dépendance réelle.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déclare une entrée de composant sous forme de signal. La valeur passée
par le parent devient une dépendance réelle dans les computed() et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fichier contient déjà plusieurs sorties écrites avec output() :
Elles servent de modèle local. L'exercice consiste à aligner la dernière sortie legacy, selectedRequested, sur le même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output() déclare un événement sortant du composant. L'enfant émet une intention,
le parent décide quoi faire. Ce n'est pas un Observable.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déclare une valeur bidirectionnelle entre parent et enfant.
Il combine l'idée d'une entrée (input) et d'une sortie (output) pour des cas
comme un composant de formulaire contrôlé.
À retenir dans ce dojo : input() sert à recevoir une valeur, output() sert à émettre une intention, model() sert aux échanges bidirectionnels explicites.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RxJS sert à modéliser et composer des flux de données dans le temps : HTTP, WebSocket, événements, debounceTime, switchMap, combineLatest, etc.
RxJS ne remplace pas Zone.js. RxJS organise les flux asynchrones ; Zone.js déclenche la détection de changement ; Signals rend l'état et ses dépendances explicites.
toSignal() ne remplace pas RxJS : il permet de consommer la dernière valeur d'un Observable sous forme de signal dans un composant.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 exercice est le plus dense du dojo. Il se découpe en trois marches :
1. Convertir un Observable simple en signal. 2. Ajouter l'état loading/error autour d'un flux HTTP. 3. Lire toObservable() comme pont inverse, sans demander de modification.
Le but n'est pas de remplacer RxJS. Le but est de savoir où placer la frontière : RxJS compose le flux, toSignal() expose sa dernière valeur au template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toSignal() convertit un Observable en signal (dernière valeur émise, abonnement géré automatiquement).
toObservable() expose un signal comme Observable pour brancher des opérateurs RxJS.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Exposer une règle métier dérivée dans la facade sous forme de computed() plutôt que
de calculer en ligne dans le template ou le composant.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Après l'interop RxJS, on revient à un geste simple mais structurant : placer la logique dérivée dans la facade. C'est le lien avec l'objectif architectural du dojo : des composants plus lisibles, une facade qui porte l'état partagé, et des règles métier nommées.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partie est une annexe de référence. Elle répond à la question : que devient la détection de changement quand on limite Zone.js ou qu'on passe en mode zoneless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Zone.js remplace les APIs async natives du navigateur par ses propres versions pour intercepter chaque appel et prévenir Angular qu'un changement a peut-être eu lieu.
Quand le callback async se termine, Zone.js dit à Angular : "quelque chose a peut-être changé". Angular lance alors un cycle de détection global. Avec OnPush, les composants non marqués dirty sont sautés, ce qui limite déjà le travail.
Zone.js espionne les APIs pour deviner qu'un changement a eu lieu.
Signals annonce explicitement le changement.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OnPush dit à Angular : ignore ce composant pendant un cycle de détection sauf si une raison explicite existe.
OnPush ne supprime pas Zone.js. Zone.js continue de déclencher des cycles globaux —
OnPush fait juste que ce composant est sauté s'il n'est pas marqué dirty.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Dirty = Angular doit réévaluer ce composant lors du prochain cycle de détection.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n'est pas l'objectif de ce dojo, mais c'est la suite logique une fois l'état principal piloté par Signals.
1. app.config.ts :
2. angular.json :
En zoneless, Signals ne sont pas obligatoires partout, mais chaque changement doit passer par un déclencheur connu d'Angular : signal().set(), input(), événement template, async pipe, markForCheck(), router/forms, etc.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DD0031"/>
        </a:solidFill>
      </p:bgPr>
    </p:bg>
    <p:spTree>
      <p:nvGrpSpPr>
        <p:cNvPr id="1" name=""/>
        <p:cNvGrpSpPr/>
        <p:nvPr/>
      </p:nvGrpSpPr>
      <p:grpSpPr>
        <a:xfrm>
          <a:off x="0" y="0"/>
          <a:ext cx="0" cy="0"/>
          <a:chOff x="0" y="0"/>
          <a:chExt cx="0" cy="0"/>
        </a:xfrm>
      </p:grpSpPr>
      <p:sp>
        <p:nvSpPr>
          <p:cNvPr id="2" name="Text 0"/>
          <p:cNvSpPr/>
          <p:nvPr/>
        </p:nvSpPr>
        <p:spPr>
          <a:xfrm>
            <a:off x="594360" y="1508760"/>
            <a:ext cx="11002975" cy="1280160"/>
          </a:xfrm>
          <a:prstGeom prst="rect">
            <a:avLst/>
          </a:prstGeom>
          <a:noFill/>
          <a:ln/>
        </p:spPr>
        <p:txBody>
          <a:bodyPr wrap="square" rtlCol="0" anchor="ctr">
            <a:normAutofit/>
          </a:bodyPr>
          <a:lstStyle/>
          <a:p>
            <a:pPr algn="ctr" indent="0" marL="0">
              <a:buNone/>
            </a:pPr>
            <a:r>
              <a:rPr lang="en-US" sz="4400" b="1" dirty="0">
                <a:solidFill>
                  <a:srgbClr val="FFFFFF"/>
                </a:solidFill>
              </a:rPr>
              <a:t>Angular 21 Signals — Support de présentation dojo</a:t>
            </a:r>
            <a:endParaRPr lang="en-US" sz="4400" dirty="0"/>
          </a:p>
        </p:txBody>
      </p:sp>
      <p:sp>
        <p:nvSpPr>
          <p:cNvPr id="3" name="Text 1"/>
          <p:cNvSpPr/>
          <p:nvPr/>
        </p:nvSpPr>
        <p:spPr>
          <a:xfrm>
            <a:off x="594360" y="3063240"/>
            <a:ext cx="11002975" cy="411480"/>
          </a:xfrm>
          <a:prstGeom prst="rect">
            <a:avLst/>
          </a:prstGeom>
          <a:noFill/>
          <a:ln/>
        </p:spPr>
        <p:txBody>
          <a:bodyPr wrap="square" rtlCol="0" anchor="ctr"/>
          <a:lstStyle/>
          <a:p>
            <a:pPr algn="ctr" indent="0" marL="0">
              <a:buNone/>
            </a:pPr>
            <a:r>
              <a:rPr lang="en-US" sz="2200" dirty="0">
                <a:solidFill>
                  <a:srgbClr val="FFD5DC"/>
                </a:solidFill>
              </a:rPr>
              <a:t>Support de présentation dojo</a:t>
            </a:r>
            <a:endParaRPr lang="en-US" sz="2200" dirty="0"/>
          </a:p>
        </p:txBody>
      </p:sp>
      <p:sp>
        <p:nvSpPr>
          <p:cNvPr id="4" name="Text 2"/>
          <p:cNvSpPr/>
          <p:nvPr/>
        </p:nvSpPr>
        <p:spPr>
          <a:xfrm>
            <a:off x="594360" y="4892040"/>
            <a:ext cx="11002975" cy="320040"/>
          </a:xfrm>
          <a:prstGeom prst="rect">
            <a:avLst/>
          </a:prstGeom>
          <a:noFill/>
          <a:ln/>
        </p:spPr>
        <p:txBody>
          <a:bodyPr wrap="square" rtlCol="0" anchor="ctr"/>
          <a:lstStyle/>
          <a:p>
            <a:pPr algn="ctr" indent="0" marL="0">
              <a:buNone/>
            </a:pPr>
            <a:r>
              <a:rPr lang="en-US" sz="1300" dirty="0">
                <a:solidFill>
                  <a:srgbClr val="FFD5DC"/>
                </a:solidFill>
              </a:rPr>
              <a:t>Angular 21 · Signals · Zone.js · RxJS interop</a:t>
            </a:r>
            <a:endParaRPr lang="en-US" sz="130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1/72</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Avant de commencer</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Zone.js et Signals</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2/72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Avant de commencer — Zone.js et Signals — Rappel Zone.js</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Définition : librairie qui intercepte les APIs async du navigateur.</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Rôle : prévenir Angular qu'un cycle de détection doit être lancé.</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Limite : ne décrit pas l'état, il déclenche seulement la vérification.</a:t>
            </a:r>
            <a:endParaRPr lang="en-US" sz="116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3/72</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Avant de commencer — Zone.js et Signals — Définition de Signal et problème résolu</a:t>
            </a:r>
            <a:endParaRPr lang="en-US" sz="15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Définition : valeur réactive lue avec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Rôle : mémoriser les lecteurs dépendants.</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Problème résolu : état explicite et mises à jour plus ciblées.</a:t>
            </a:r>
            <a:endParaRPr lang="en-US" sz="1160" dirty="0"/>
          </a:p>
        </p:txBody>
      </p:sp>
      <p:sp>
        <p:nvSpPr>
          <p:cNvPr id="8" name="Text 5"/>
          <p:cNvSpPr/>
          <p:nvPr/>
        </p:nvSpPr>
        <p:spPr>
          <a:xfrm>
            <a:off x="411480" y="1865376"/>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Zone.js : un événement async se produit → Angular lance la détection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Signals : une valeur change             → Angular connaît les lecteurs dépendants</a:t>
            </a:r>
            <a:endParaRPr lang="en-US" sz="880" dirty="0"/>
          </a:p>
        </p:txBody>
      </p:sp>
      <p:sp>
        <p:nvSpPr>
          <p:cNvPr id="9" name="Text 6"/>
          <p:cNvSpPr/>
          <p:nvPr/>
        </p:nvSpPr>
        <p:spPr>
          <a:xfrm>
            <a:off x="411480" y="2514600"/>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Signals résout : l'état réactif local synchrone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Zone.js résout : le déclenchement automatique de la détection après async</a:t>
            </a:r>
            <a:endParaRPr lang="en-US" sz="880" dirty="0"/>
          </a:p>
        </p:txBody>
      </p:sp>
      <p:sp>
        <p:nvSpPr>
          <p:cNvPr id="10"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4/72</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201168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Intention d'architecture du dojo</a:t>
            </a:r>
            <a:endParaRPr lang="en-US" sz="3800" dirty="0"/>
          </a:p>
        </p:txBody>
      </p:sp>
      <p:sp>
        <p:nvSpPr>
          <p:cNvPr id="4" name="Text 1"/>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5/72</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Intention d'architecture du dojo — 1. Signals directement dans les composants</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signal() pour l'état local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computed() pour les valeurs dérivées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effect() pour les effets de bord simples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lecture directe dans le template avec signal().</a:t>
            </a:r>
            <a:endParaRPr lang="en-US" sz="1160" dirty="0"/>
          </a:p>
        </p:txBody>
      </p:sp>
      <p:sp>
        <p:nvSpPr>
          <p:cNvPr id="9"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6/72</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Intention d'architecture du dojo — 2. Signals extraits dans une facade</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état partagé entre plusieurs composants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logique métier encapsulée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exposition en lecture seule avec asReadonly()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orchestration API + notifications + confirmations.</a:t>
            </a:r>
            <a:endParaRPr lang="en-US" sz="1160" dirty="0"/>
          </a:p>
        </p:txBody>
      </p:sp>
      <p:sp>
        <p:nvSpPr>
          <p:cNvPr id="9"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7/72</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Lecture guidée — code mixte pendant la migration</a:t>
            </a:r>
            <a:endParaRPr lang="en-US" sz="1800" dirty="0"/>
          </a:p>
        </p:txBody>
      </p:sp>
      <p:sp>
        <p:nvSpPr>
          <p:cNvPr id="5" name="Text 2"/>
          <p:cNvSpPr/>
          <p:nvPr/>
        </p:nvSpPr>
        <p:spPr>
          <a:xfrm>
            <a:off x="411480" y="932688"/>
            <a:ext cx="11368735" cy="171907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ClientCardComponent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editMode = 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editModel: ClientUpdate | null = null;</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ClientDetailComponent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addingAccount = 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mutating = this.accountsFacade.mutating;</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AccountsComponent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 = false;</a:t>
            </a:r>
            <a:endParaRPr lang="en-US" sz="880" dirty="0"/>
          </a:p>
        </p:txBody>
      </p:sp>
      <p:sp>
        <p:nvSpPr>
          <p:cNvPr id="6" name="Text 3"/>
          <p:cNvSpPr/>
          <p:nvPr/>
        </p:nvSpPr>
        <p:spPr>
          <a:xfrm>
            <a:off x="411480" y="2798064"/>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@if (addingAccount) { ...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@if (mutating()) { ... }</a:t>
            </a:r>
            <a:endParaRPr lang="en-US" sz="880" dirty="0"/>
          </a:p>
        </p:txBody>
      </p:sp>
      <p:sp>
        <p:nvSpPr>
          <p:cNvPr id="7" name="Text 4"/>
          <p:cNvSpPr/>
          <p:nvPr/>
        </p:nvSpPr>
        <p:spPr>
          <a:xfrm>
            <a:off x="576072" y="3447288"/>
            <a:ext cx="11204143" cy="256032"/>
          </a:xfrm>
          <a:prstGeom prst="rect">
            <a:avLst/>
          </a:prstGeom>
          <a:noFill/>
          <a:ln/>
        </p:spPr>
        <p:txBody>
          <a:bodyPr wrap="square" lIns="127" tIns="127" rIns="127" bIns="127" rtlCol="0" anchor="ctr">
            <a:normAutofit/>
          </a:bodyPr>
          <a:lstStyle/>
          <a:p>
            <a:r>
              <a:rPr lang="en-US" sz="1160" dirty="0">
                <a:solidFill>
                  <a:srgbClr val="333333"/>
                </a:solidFill>
              </a:rPr>
              <a:t>mutating() vient d'une facade Signals et peut être partagé entre composants ;</a:t>
            </a:r>
            <a:endParaRPr lang="en-US" sz="1160" dirty="0"/>
          </a:p>
        </p:txBody>
      </p:sp>
      <p:sp>
        <p:nvSpPr>
          <p:cNvPr id="8" name="Text 5"/>
          <p:cNvSpPr/>
          <p:nvPr/>
        </p:nvSpPr>
        <p:spPr>
          <a:xfrm>
            <a:off x="576072" y="3758184"/>
            <a:ext cx="11204143" cy="256032"/>
          </a:xfrm>
          <a:prstGeom prst="rect">
            <a:avLst/>
          </a:prstGeom>
          <a:noFill/>
          <a:ln/>
        </p:spPr>
        <p:txBody>
          <a:bodyPr wrap="square" lIns="127" tIns="127" rIns="127" bIns="127" rtlCol="0" anchor="ctr">
            <a:normAutofit/>
          </a:bodyPr>
          <a:lstStyle/>
          <a:p>
            <a:r>
              <a:rPr lang="en-US" sz="1160" dirty="0">
                <a:solidFill>
                  <a:srgbClr val="333333"/>
                </a:solidFill>
              </a:rPr>
              <a:t>addingAccount, adding, editMode et editModel sont des états locaux transitoires ;</a:t>
            </a:r>
            <a:endParaRPr lang="en-US" sz="1160" dirty="0"/>
          </a:p>
        </p:txBody>
      </p:sp>
      <p:sp>
        <p:nvSpPr>
          <p:cNvPr id="9" name="Text 6"/>
          <p:cNvSpPr/>
          <p:nvPr/>
        </p:nvSpPr>
        <p:spPr>
          <a:xfrm>
            <a:off x="576072" y="4069080"/>
            <a:ext cx="11204143" cy="256032"/>
          </a:xfrm>
          <a:prstGeom prst="rect">
            <a:avLst/>
          </a:prstGeom>
          <a:noFill/>
          <a:ln/>
        </p:spPr>
        <p:txBody>
          <a:bodyPr wrap="square" lIns="127" tIns="127" rIns="127" bIns="127" rtlCol="0" anchor="ctr">
            <a:normAutofit/>
          </a:bodyPr>
          <a:lstStyle/>
          <a:p>
            <a:r>
              <a:rPr lang="en-US" sz="1160" dirty="0">
                <a:solidFill>
                  <a:srgbClr val="333333"/>
                </a:solidFill>
              </a:rPr>
              <a:t>avec zone.js + OnPush, un clic template marque le composant à vérifier ;</a:t>
            </a:r>
            <a:endParaRPr lang="en-US" sz="1160" dirty="0"/>
          </a:p>
        </p:txBody>
      </p:sp>
      <p:sp>
        <p:nvSpPr>
          <p:cNvPr id="10" name="Text 7"/>
          <p:cNvSpPr/>
          <p:nvPr/>
        </p:nvSpPr>
        <p:spPr>
          <a:xfrm>
            <a:off x="576072" y="4379976"/>
            <a:ext cx="11204143" cy="256032"/>
          </a:xfrm>
          <a:prstGeom prst="rect">
            <a:avLst/>
          </a:prstGeom>
          <a:noFill/>
          <a:ln/>
        </p:spPr>
        <p:txBody>
          <a:bodyPr wrap="square" lIns="127" tIns="127" rIns="127" bIns="127" rtlCol="0" anchor="ctr">
            <a:normAutofit/>
          </a:bodyPr>
          <a:lstStyle/>
          <a:p>
            <a:r>
              <a:rPr lang="en-US" sz="1160" dirty="0">
                <a:solidFill>
                  <a:srgbClr val="333333"/>
                </a:solidFill>
              </a:rPr>
              <a:t>convertir en signal devient intéressant quand l'état est lu par computed(),</a:t>
            </a:r>
            <a:endParaRPr lang="en-US" sz="1160" dirty="0"/>
          </a:p>
        </p:txBody>
      </p:sp>
      <p:sp>
        <p:nvSpPr>
          <p:cNvPr id="11" name="Text 8"/>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8/72</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Mapping exercices / branches / fichiers</a:t>
            </a:r>
            <a:endParaRPr lang="en-US" sz="1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2798064"/>
        </p:xfrm>
        <a:graphic>
          <a:graphicData uri="http://schemas.openxmlformats.org/drawingml/2006/table">
            <a:tbl>
              <a:tblPr/>
              <a:tblGrid>
                <a:gridCol w="2842184"/>
                <a:gridCol w="2842184"/>
                <a:gridCol w="2842184"/>
                <a:gridCol w="2842184"/>
              </a:tblGrid>
              <a:tr h="310896">
                <a:tc>
                  <a:txBody>
                    <a:bodyPr/>
                    <a:lstStyle/>
                    <a:p>
                      <a:pPr indent="0" marL="0">
                        <a:buNone/>
                      </a:pPr>
                      <a:r>
                        <a:rPr lang="en-US" sz="850" b="1" dirty="0">
                          <a:solidFill>
                            <a:srgbClr val="FFFFFF"/>
                          </a:solidFill>
                        </a:rPr>
                        <a:t>Exercice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850" b="1" dirty="0">
                          <a:solidFill>
                            <a:srgbClr val="FFFFFF"/>
                          </a:solidFill>
                        </a:rPr>
                        <a:t>Branche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850" b="1" dirty="0">
                          <a:solidFill>
                            <a:srgbClr val="FFFFFF"/>
                          </a:solidFill>
                        </a:rPr>
                        <a:t>Concept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850" b="1" dirty="0">
                          <a:solidFill>
                            <a:srgbClr val="FFFFFF"/>
                          </a:solidFill>
                        </a:rPr>
                        <a:t>Fichiers principaux</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850" dirty="0">
                          <a:solidFill>
                            <a:srgbClr val="333333"/>
                          </a:solidFill>
                        </a:rPr>
                        <a:t>1</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exercice-1</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signal()</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clients.component.ts, clients.component.html, clients.component.spec.ts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2</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exercice-2</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computed() en facade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accounts.facade.ts, accounts.component.ts, accounts.component.html, accounts.component.spec.ts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850" dirty="0">
                          <a:solidFill>
                            <a:srgbClr val="333333"/>
                          </a:solidFill>
                        </a:rPr>
                        <a:t>3</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exercice-3</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effect() pour cohérence d'état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clients.component.ts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4</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exercice-4</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viewChild() + effect() DOM</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clients.component.ts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850" dirty="0">
                          <a:solidFill>
                            <a:srgbClr val="333333"/>
                          </a:solidFill>
                        </a:rPr>
                        <a:t>5</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exercice-5</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input()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account-card.component.ts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6</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exercice-6</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output()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account-list.component.ts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850" dirty="0">
                          <a:solidFill>
                            <a:srgbClr val="333333"/>
                          </a:solidFill>
                        </a:rPr>
                        <a:t>7</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exercice-7</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toSignal() / toObservable()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accounts.component.ts, dashboard.component.ts, dashboard.component.spec.ts, clients.component.ts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8</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exercice-8</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computed() en facade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accounts.facade.ts, accounts.component.ts, accounts.component.html</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411480" y="3895344"/>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Les branches sont cumulatives : chaque branche ajoute uniquement la correction de son exercice par rapport à la branche précédente.</a:t>
            </a:r>
            <a:endParaRPr lang="en-US" sz="122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9/72</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1</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signal()</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10/72</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11/72</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Convertir la propriété adding = false en signal.</a:t>
            </a:r>
            <a:endParaRPr lang="en-US" sz="1220" dirty="0"/>
          </a:p>
        </p:txBody>
      </p:sp>
      <p:sp>
        <p:nvSpPr>
          <p:cNvPr id="5" name="Text 3"/>
          <p:cNvSpPr/>
          <p:nvPr/>
        </p:nvSpPr>
        <p:spPr>
          <a:xfrm>
            <a:off x="411480" y="1362456"/>
            <a:ext cx="11368735" cy="156362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 = 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startAdd(): void { this.adding = true;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cancelAdd(): void { this.adding = false;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adding = signal(false);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startAdd(): void { this.adding.set(true);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cancelAdd(): void { this.adding.set(false); }</a:t>
            </a:r>
            <a:endParaRPr lang="en-US" sz="880" dirty="0"/>
          </a:p>
        </p:txBody>
      </p:sp>
      <p:sp>
        <p:nvSpPr>
          <p:cNvPr id="6" name="Text 4"/>
          <p:cNvSpPr/>
          <p:nvPr/>
        </p:nvSpPr>
        <p:spPr>
          <a:xfrm>
            <a:off x="411480" y="3072384"/>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Dans le template : remplacer adding par adding().</a:t>
            </a:r>
            <a:endParaRPr lang="en-US" sz="1220" dirty="0"/>
          </a:p>
        </p:txBody>
      </p:sp>
      <p:sp>
        <p:nvSpPr>
          <p:cNvPr id="7" name="Text 5"/>
          <p:cNvSpPr/>
          <p:nvPr/>
        </p:nvSpPr>
        <p:spPr>
          <a:xfrm>
            <a:off x="411480" y="350215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8"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12/72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Définition</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adding = signal(false);  // déclarer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this.adding.set(true);            // écrire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this.adding.update(v =&gt; !v);      // mettre à jour depuis la valeur courante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                          // lire (template ou TS)</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13/72</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vs Zone.js</a:t>
            </a:r>
            <a:endParaRPr lang="en-US" sz="1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Zone.js + propriété classique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Angular re-rend tout le composant à chaque cycle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Re-rend seulement les lecteurs du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Détection déclenchée par Zone.js après chaque async</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Détection déclenchée par .set()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Rien à déclarer — Zone.js devine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Déclarer signal() — Angular sait exactement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14/72</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Quand utiliser signal() — et quand rester ailleurs</a:t>
            </a:r>
            <a:endParaRPr lang="en-US" sz="1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État UI local : booléen, texte, page courante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État local transitoire manipulé seulement par des handlers template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Propriété classique acceptable pendant la migration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Valeur calculée à partir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computed() — pas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issue d'une route ou d'un appel HTTP</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État partagé entre composants via service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facade Signals ou store dédié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15/72</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2</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computed()</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16/72</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Fichiers à modifier</a:t>
            </a:r>
            <a:endParaRPr lang="en-US" sz="1800" dirty="0"/>
          </a:p>
        </p:txBody>
      </p:sp>
      <p:sp>
        <p:nvSpPr>
          <p:cNvPr id="4"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src/app/features/accounts/services/accounts.facade.ts</a:t>
            </a:r>
            <a:endParaRPr lang="en-US" sz="1160" dirty="0"/>
          </a:p>
        </p:txBody>
      </p:sp>
      <p:sp>
        <p:nvSpPr>
          <p:cNvPr id="5"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src/app/features/accounts/pages/accounts/accounts.component.ts</a:t>
            </a:r>
            <a:endParaRPr lang="en-US" sz="1160" dirty="0"/>
          </a:p>
        </p:txBody>
      </p:sp>
      <p:sp>
        <p:nvSpPr>
          <p:cNvPr id="6"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src/app/features/accounts/pages/accounts/accounts.component.html</a:t>
            </a:r>
            <a:endParaRPr lang="en-US" sz="116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17/72</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le getter blockedAccountsCount en computed() dans la facade, puis exposer le signal dans le composant.</a:t>
            </a:r>
            <a:endParaRPr lang="en-US" sz="1220" dirty="0"/>
          </a:p>
        </p:txBody>
      </p:sp>
      <p:sp>
        <p:nvSpPr>
          <p:cNvPr id="5" name="Text 3"/>
          <p:cNvSpPr/>
          <p:nvPr/>
        </p:nvSpPr>
        <p:spPr>
          <a:xfrm>
            <a:off x="411480" y="1362456"/>
            <a:ext cx="11368735" cy="156362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AccountsFacade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get blockedAccountsCount(): number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return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 — AccountsFacade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3072384"/>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AccountsComponent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get blockedAccountsCount(): number { return this.accountsFacade.blockedAccountsCount;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 — AccountsComponent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this.accountsFacade.blockedAccountsCount;</a:t>
            </a:r>
            <a:endParaRPr lang="en-US" sz="880" dirty="0"/>
          </a:p>
        </p:txBody>
      </p:sp>
      <p:sp>
        <p:nvSpPr>
          <p:cNvPr id="7" name="Text 5"/>
          <p:cNvSpPr/>
          <p:nvPr/>
        </p:nvSpPr>
        <p:spPr>
          <a:xfrm>
            <a:off x="411480" y="416052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Dans le template : {{ blockedAccountsCount }} → {{ blockedAccountsCount() }}</a:t>
            </a:r>
            <a:endParaRPr lang="en-US" sz="1220" dirty="0"/>
          </a:p>
        </p:txBody>
      </p:sp>
      <p:sp>
        <p:nvSpPr>
          <p:cNvPr id="8" name="Text 6"/>
          <p:cNvSpPr/>
          <p:nvPr/>
        </p:nvSpPr>
        <p:spPr>
          <a:xfrm>
            <a:off x="411480" y="45902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18/72</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Définition</a:t>
            </a:r>
            <a:endParaRPr lang="en-US" sz="1800" dirty="0"/>
          </a:p>
        </p:txBody>
      </p:sp>
      <p:sp>
        <p:nvSpPr>
          <p:cNvPr id="5" name="Text 2"/>
          <p:cNvSpPr/>
          <p:nvPr/>
        </p:nvSpPr>
        <p:spPr>
          <a:xfrm>
            <a:off x="411480" y="932688"/>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blockedAccountsCount()  // lecture</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19/72</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vs Zone.js</a:t>
            </a:r>
            <a:endParaRPr lang="en-US" sz="18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Getter + Zone.js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Recalculé à chaque cycle de détection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Recalculé seulement si une dépendance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Angular ignore si la valeur a changé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Angular mémorise et invalide le cache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Règle dans le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Règle dans la facade, partageable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20/72</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Quand utiliser computed() — et quand rester ailleurs</a:t>
            </a:r>
            <a:endParaRPr lang="en-US" sz="1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Total, compteur, libellé dérivé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Règle qui dépend du temps (debounce, delay)</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Flux asynchrone — computed() est 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Calcul déclenché par une source asynchrone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asynchrone puis 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Effet de bord (appel HTTP, log, focus)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effect() — pas 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21/72</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3</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effect() pour synchroniser un état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22/72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23/72</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Remplacer l'appel impératif this.clampCurrentPage() par un effect() dans le constructeur.</a:t>
            </a:r>
            <a:endParaRPr lang="en-US" sz="1220" dirty="0"/>
          </a:p>
        </p:txBody>
      </p:sp>
      <p:sp>
        <p:nvSpPr>
          <p:cNvPr id="5" name="Text 3"/>
          <p:cNvSpPr/>
          <p:nvPr/>
        </p:nvSpPr>
        <p:spPr>
          <a:xfrm>
            <a:off x="411480" y="1362456"/>
            <a:ext cx="11368735" cy="18745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Ajouter dans le constructeur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const clamped = this.pageSlice().page;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if (clamped !== this.page()) this.page.set(clamped);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Supprimer dans deleteClient()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this.clampCurrentPage(); // ← retirer cette ligne</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Supprimer la méthode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private clampCurrentPage(): void { ... }</a:t>
            </a:r>
            <a:endParaRPr lang="en-US" sz="880" dirty="0"/>
          </a:p>
        </p:txBody>
      </p:sp>
      <p:sp>
        <p:nvSpPr>
          <p:cNvPr id="6" name="Text 4"/>
          <p:cNvSpPr/>
          <p:nvPr/>
        </p:nvSpPr>
        <p:spPr>
          <a:xfrm>
            <a:off x="411480" y="3383280"/>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24/72</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3</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effect() pour synchroniser un état</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25/72</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vs Zone.js</a:t>
            </a:r>
            <a:endParaRPr lang="en-US" sz="18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Appel impératif après mutation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On doit penser à appeler la méthode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Déclenché automatiquement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Logique dispersée dans plusieurs méthodes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Logique centralisée dans l'effet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Bug si on oublie l'appel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Moins de risque — l'effet observe les dépendances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26/72</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Exercice 3 — effect() pour synchroniser un état — Quand utiliser effect() — et quand rester ailleurs</a:t>
            </a:r>
            <a:endParaRPr lang="en-US" sz="15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Titre du document, focus, scroll après changement d'état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Correction d'un état cohérent (clamping, reset)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Chargement HTTP déclenché par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Possible avec effect(), mais à encadrer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calculée à partir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computed() — pas 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Effet déclenché par une source asynchrone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asynchrone ou toSignal() selon le cas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27/72</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28/72</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29/72</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30/72</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Définition viewChild()</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private readonly firstNameInput = viewChild&lt;ElementRef&gt;('firstNameRef');</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31/72</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Conditionner le focus sur adding() dans l'effet viewChild existant.</a:t>
            </a:r>
            <a:endParaRPr lang="en-US" sz="1220" dirty="0"/>
          </a:p>
        </p:txBody>
      </p:sp>
      <p:sp>
        <p:nvSpPr>
          <p:cNvPr id="5" name="Text 3"/>
          <p:cNvSpPr/>
          <p:nvPr/>
        </p:nvSpPr>
        <p:spPr>
          <a:xfrm>
            <a:off x="411480" y="1362456"/>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 this.firstNameInput()?.nativeElement.focus();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 if (this.adding()) this.firstNameInput()?.nativeElement.focus(); });</a:t>
            </a:r>
            <a:endParaRPr lang="en-US" sz="880" dirty="0"/>
          </a:p>
        </p:txBody>
      </p:sp>
      <p:sp>
        <p:nvSpPr>
          <p:cNvPr id="6" name="Text 4"/>
          <p:cNvSpPr/>
          <p:nvPr/>
        </p:nvSpPr>
        <p:spPr>
          <a:xfrm>
            <a:off x="411480" y="245059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32/72</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33/72</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5</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input()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34/72</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src/app/features/accounts/components/account-card/account-card.component.ts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35/72</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Consigne</a:t>
            </a:r>
            <a:endParaRPr lang="en-US" sz="1800" dirty="0"/>
          </a:p>
        </p:txBody>
      </p:sp>
      <p:sp>
        <p:nvSpPr>
          <p:cNvPr id="5"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@Input() showStatus = true en showStatus = input(true) et retirer Input des imports.</a:t>
            </a:r>
            <a:endParaRPr lang="en-US" sz="1220" dirty="0"/>
          </a:p>
        </p:txBody>
      </p:sp>
      <p:sp>
        <p:nvSpPr>
          <p:cNvPr id="6" name="Text 3"/>
          <p:cNvSpPr/>
          <p:nvPr/>
        </p:nvSpPr>
        <p:spPr>
          <a:xfrm>
            <a:off x="411480" y="1362456"/>
            <a:ext cx="11368735" cy="125272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@Input() showStatus = true;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visibleStatusLabel = computed(() =&gt; this.showStatus ? this.statusLabel() : null);</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showStatus = input(true);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visibleStatusLabel = computed(() =&gt; this.showStatus() ? this.statusLabel() : null);</a:t>
            </a:r>
            <a:endParaRPr lang="en-US" sz="880" dirty="0"/>
          </a:p>
        </p:txBody>
      </p:sp>
      <p:sp>
        <p:nvSpPr>
          <p:cNvPr id="7" name="Text 4"/>
          <p:cNvSpPr/>
          <p:nvPr/>
        </p:nvSpPr>
        <p:spPr>
          <a:xfrm>
            <a:off x="411480" y="27614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src/app/features/accounts/components/account-card/account-card.component.spec.ts</a:t>
            </a:r>
            <a:endParaRPr lang="en-US" sz="88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36/72</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Définition</a:t>
            </a:r>
            <a:endParaRPr lang="en-US" sz="1800" dirty="0"/>
          </a:p>
        </p:txBody>
      </p:sp>
      <p:sp>
        <p:nvSpPr>
          <p:cNvPr id="5" name="Text 2"/>
          <p:cNvSpPr/>
          <p:nvPr/>
        </p:nvSpPr>
        <p:spPr>
          <a:xfrm>
            <a:off x="411480" y="932688"/>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showStatus = input(true);              // avec valeur par défaut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account = input.required&lt;Account&gt;();   // requis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showStatus()                           // lecture</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37/72</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vs Zone.js</a:t>
            </a:r>
            <a:endParaRPr lang="en-US" sz="18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@Input() classique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input()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Propriété TS mise à jour par Angular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Signal mis à jour par Angular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Lu dans computed() sans créer de dépendance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Lu dans computed() → dépendance réelle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déclenche détection après chaque cycle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Re-render seulement si la valeur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38/72</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Quand utiliser input() — et quand rester ailleurs</a:t>
            </a:r>
            <a:endParaRPr lang="en-US" sz="18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Entrée lue dans un computed() ou 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input()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Entrée requise sans valeur par défaut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input.required&lt;T&gt;()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Entrée legacy dans un composant non migré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@Input() acceptable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bidirectionnelle parent ↔ enfant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model() (voir parenthèse après 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39/72</a:t>
            </a:r>
            <a:endParaRPr lang="en-US" sz="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6</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output()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40/72</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src/app/features/accounts/components/account-list/account-list.component.ts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41/72</a:t>
            </a:r>
            <a:endParaRPr lang="en-US" sz="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Lecture guidée</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editRequested = output&lt;Account&gt;();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saveRequested = output&lt;void&gt;();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cancelRequested = output&lt;void&gt;();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deleteRequested = output&lt;Account&gt;();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42/72</a:t>
            </a:r>
            <a:endParaRPr lang="en-US" sz="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Consigne</a:t>
            </a:r>
            <a:endParaRPr lang="en-US" sz="1800" dirty="0"/>
          </a:p>
        </p:txBody>
      </p:sp>
      <p:sp>
        <p:nvSpPr>
          <p:cNvPr id="4" name="Text 2"/>
          <p:cNvSpPr/>
          <p:nvPr/>
        </p:nvSpPr>
        <p:spPr>
          <a:xfrm>
            <a:off x="411480" y="932688"/>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@Output() selectedRequested = new EventEmitter&lt;Account&gt;() en output(). Retirer EventEmitter et Output des imports.</a:t>
            </a:r>
            <a:endParaRPr lang="en-US" sz="1220" dirty="0"/>
          </a:p>
        </p:txBody>
      </p:sp>
      <p:sp>
        <p:nvSpPr>
          <p:cNvPr id="5" name="Text 3"/>
          <p:cNvSpPr/>
          <p:nvPr/>
        </p:nvSpPr>
        <p:spPr>
          <a:xfrm>
            <a:off x="411480" y="1472184"/>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@Output() selectedRequested = new EventEmitter&lt;Account&gt;();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selectedRequested = output&lt;Account&gt;();</a:t>
            </a:r>
            <a:endParaRPr lang="en-US" sz="880" dirty="0"/>
          </a:p>
        </p:txBody>
      </p:sp>
      <p:sp>
        <p:nvSpPr>
          <p:cNvPr id="6" name="Text 4"/>
          <p:cNvSpPr/>
          <p:nvPr/>
        </p:nvSpPr>
        <p:spPr>
          <a:xfrm>
            <a:off x="411480" y="256032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L'émission dans l'effect() reste identique : this.selectedRequested.emit(account).</a:t>
            </a:r>
            <a:endParaRPr lang="en-US" sz="1220" dirty="0"/>
          </a:p>
        </p:txBody>
      </p:sp>
      <p:sp>
        <p:nvSpPr>
          <p:cNvPr id="7" name="Text 5"/>
          <p:cNvSpPr/>
          <p:nvPr/>
        </p:nvSpPr>
        <p:spPr>
          <a:xfrm>
            <a:off x="411480" y="29900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8"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43/72</a:t>
            </a:r>
            <a:endParaRPr lang="en-US" sz="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Définition</a:t>
            </a:r>
            <a:endParaRPr lang="en-US" sz="1800" dirty="0"/>
          </a:p>
        </p:txBody>
      </p:sp>
      <p:sp>
        <p:nvSpPr>
          <p:cNvPr id="5" name="Text 2"/>
          <p:cNvSpPr/>
          <p:nvPr/>
        </p:nvSpPr>
        <p:spPr>
          <a:xfrm>
            <a:off x="411480" y="932688"/>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selectedRequested = output&lt;Account&gt;();       // déclarer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this.selectedRequested.emit(account);        // émettre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(selectedRequested)="startEdit($event)"      // écouter dans le parent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44/72</a:t>
            </a:r>
            <a:endParaRPr lang="en-US" sz="7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vs Zone.js</a:t>
            </a:r>
            <a:endParaRPr lang="en-US" sz="18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@Output() + EventEmitter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Hérite historiquement d'un mécanisme de flux</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Pas d'Observable interne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Souvent détourné comme flux applicatif</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Contrat pensé pour le parent direct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déclenche détection après l'émission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notifie directement le parent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45/72</a:t>
            </a:r>
            <a:endParaRPr lang="en-US" sz="7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Quand utiliser output() — et quand rester ailleurs</a:t>
            </a:r>
            <a:endParaRPr lang="en-US" sz="18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Événement vers le parent direct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Événement global ou cross-composant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Service dédié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Flux avec opérateurs temporels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Flux dédié, pas 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bidirectionnelle entrée + sortie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model() (voir ci-dessous)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46/72</a:t>
            </a:r>
            <a:endParaRPr lang="en-US" sz="7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Parenthèse rapide — model()</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value = model('');</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Parent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&lt;app-search-box [(value)]="searchTerm" /&gt;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47/72</a:t>
            </a:r>
            <a:endParaRPr lang="en-US" sz="7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Rappel RxJS — Avant toSignal()</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RxJS    : un flux émet dans le temps → on compose/transforme ce flux</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toSignal: Observable → Signal        → on lit la dernière valeur avec ()</a:t>
            </a:r>
            <a:endParaRPr lang="en-US" sz="880" dirty="0"/>
          </a:p>
        </p:txBody>
      </p:sp>
      <p:sp>
        <p:nvSpPr>
          <p:cNvPr id="6" name="Text 3"/>
          <p:cNvSpPr/>
          <p:nvPr/>
        </p:nvSpPr>
        <p:spPr>
          <a:xfrm>
            <a:off x="411480" y="1581912"/>
            <a:ext cx="11368735" cy="109728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this.route.paramMap.pipe(map(params =&gt; params.get('id'))),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clientId() // lecture côté composant/template</a:t>
            </a:r>
            <a:endParaRPr lang="en-US" sz="880" dirty="0"/>
          </a:p>
        </p:txBody>
      </p:sp>
      <p:sp>
        <p:nvSpPr>
          <p:cNvPr id="7"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48/72</a:t>
            </a:r>
            <a:endParaRPr lang="en-US" sz="7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7</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Interop RxJS progressive</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49/72</a:t>
            </a:r>
            <a:endParaRPr lang="en-US" sz="7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Fichiers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7a — toSignal() simple — src/app/features/accounts/pages/accounts/accounts.component.ts</a:t>
            </a:r>
            <a:endParaRPr lang="en-US" sz="1220" dirty="0"/>
          </a:p>
        </p:txBody>
      </p:sp>
      <p:sp>
        <p:nvSpPr>
          <p:cNvPr id="5" name="Text 3"/>
          <p:cNvSpPr/>
          <p:nvPr/>
        </p:nvSpPr>
        <p:spPr>
          <a:xfrm>
            <a:off x="411480" y="1362456"/>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7b — toSignal() avec état de chargement — src/app/features/clients/pages/dashboard/dashboard.component.ts</a:t>
            </a:r>
            <a:endParaRPr lang="en-US" sz="1220" dirty="0"/>
          </a:p>
        </p:txBody>
      </p:sp>
      <p:sp>
        <p:nvSpPr>
          <p:cNvPr id="6" name="Text 4"/>
          <p:cNvSpPr/>
          <p:nvPr/>
        </p:nvSpPr>
        <p:spPr>
          <a:xfrm>
            <a:off x="411480" y="1792224"/>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7c — toObservable() — src/app/features/clients/pages/clients/clients.component.ts (lecture seule / bonus)</a:t>
            </a:r>
            <a:endParaRPr lang="en-US" sz="122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50/72</a:t>
            </a:r>
            <a:endParaRPr lang="en-US" sz="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7</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Interop RxJS progressive</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51/72</a:t>
            </a:r>
            <a:endParaRPr lang="en-US" sz="7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7a : remplacer la souscription manuelle à paramMap par toSignal().</a:t>
            </a:r>
            <a:endParaRPr lang="en-US" sz="1220" dirty="0"/>
          </a:p>
        </p:txBody>
      </p:sp>
      <p:sp>
        <p:nvSpPr>
          <p:cNvPr id="5" name="Text 3"/>
          <p:cNvSpPr/>
          <p:nvPr/>
        </p:nvSpPr>
        <p:spPr>
          <a:xfrm>
            <a:off x="411480" y="1362456"/>
            <a:ext cx="11368735" cy="249631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souscription manuelle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signal&lt;string | null&gt;(null);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constructor()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this.clientId$.pipe(takeUntilDestroyed(this.destroyRef))</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.subscribe(id =&gt; { this.clientId.set(id); this.accountsFacade.load(id);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this.route.paramMap.pipe(map(p =&gt; p.get('id'))),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constructor()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effect(() =&gt; { this.accountsFacade.load(this.clientId());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4005072"/>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Nettoyer aussi les imports devenus inutiles :</a:t>
            </a:r>
            <a:endParaRPr lang="en-US" sz="1220" dirty="0"/>
          </a:p>
        </p:txBody>
      </p:sp>
      <p:sp>
        <p:nvSpPr>
          <p:cNvPr id="7" name="Text 5"/>
          <p:cNvSpPr/>
          <p:nvPr/>
        </p:nvSpPr>
        <p:spPr>
          <a:xfrm>
            <a:off x="411480" y="4434840"/>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À retirer après conversion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DestroyRef</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takeUntilDestroyed</a:t>
            </a:r>
            <a:endParaRPr lang="en-US" sz="880" dirty="0"/>
          </a:p>
        </p:txBody>
      </p:sp>
      <p:sp>
        <p:nvSpPr>
          <p:cNvPr id="8" name="Text 6"/>
          <p:cNvSpPr/>
          <p:nvPr/>
        </p:nvSpPr>
        <p:spPr>
          <a:xfrm>
            <a:off x="411480" y="521208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7b : remplacer firstValueFrom() + états manuels par toSignal() + pipe RxJS.</a:t>
            </a:r>
            <a:endParaRPr lang="en-US" sz="1220" dirty="0"/>
          </a:p>
        </p:txBody>
      </p:sp>
      <p:sp>
        <p:nvSpPr>
          <p:cNvPr id="9" name="Text 7"/>
          <p:cNvSpPr/>
          <p:nvPr/>
        </p:nvSpPr>
        <p:spPr>
          <a:xfrm>
            <a:off x="411480" y="5641848"/>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Point d'attention : ici RxJS reste utile. Le pipe() construit un petit état de vue unique : données, chargement et erreur.</a:t>
            </a:r>
            <a:endParaRPr lang="en-US" sz="1220" dirty="0"/>
          </a:p>
        </p:txBody>
      </p:sp>
      <p:sp>
        <p:nvSpPr>
          <p:cNvPr id="10" name="Text 8"/>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52/72</a:t>
            </a:r>
            <a:endParaRPr lang="en-US" sz="7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Consigne (suite 2)</a:t>
            </a:r>
            <a:endParaRPr lang="en-US" sz="1800" dirty="0"/>
          </a:p>
        </p:txBody>
      </p:sp>
      <p:sp>
        <p:nvSpPr>
          <p:cNvPr id="4" name="Text 2"/>
          <p:cNvSpPr/>
          <p:nvPr/>
        </p:nvSpPr>
        <p:spPr>
          <a:xfrm>
            <a:off x="411480" y="932688"/>
            <a:ext cx="11368735" cy="171907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private readonly clientsQuery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this.clientsApi.getAll().pipe(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map(clients =&gt; ({ clients, loading: false, error: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catchError(err =&gt; of({ clients: [], loading: false, error: err.message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startWith({ clients: [], loading: true, error: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 clients: [], loading: true, error: null }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loading = computed(() =&gt; this.clientsQuery().loading);</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error   = computed(() =&gt; this.clientsQuery().error);</a:t>
            </a:r>
            <a:endParaRPr lang="en-US" sz="880" dirty="0"/>
          </a:p>
        </p:txBody>
      </p:sp>
      <p:sp>
        <p:nvSpPr>
          <p:cNvPr id="5" name="Text 3"/>
          <p:cNvSpPr/>
          <p:nvPr/>
        </p:nvSpPr>
        <p:spPr>
          <a:xfrm>
            <a:off x="411480" y="2798064"/>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La méthode reload() disparaît : le chargement initial est porté par le signal créé avec toSignal().</a:t>
            </a:r>
            <a:endParaRPr lang="en-US" sz="1220" dirty="0"/>
          </a:p>
        </p:txBody>
      </p:sp>
      <p:sp>
        <p:nvSpPr>
          <p:cNvPr id="6" name="Text 4"/>
          <p:cNvSpPr/>
          <p:nvPr/>
        </p:nvSpPr>
        <p:spPr>
          <a:xfrm>
            <a:off x="411480" y="3227832"/>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7c : lire et expliquer debouncedSearch$ dans ClientsComponent (pas de modification).</a:t>
            </a:r>
            <a:endParaRPr lang="en-US" sz="1220" dirty="0"/>
          </a:p>
        </p:txBody>
      </p:sp>
      <p:sp>
        <p:nvSpPr>
          <p:cNvPr id="7" name="Text 5"/>
          <p:cNvSpPr/>
          <p:nvPr/>
        </p:nvSpPr>
        <p:spPr>
          <a:xfrm>
            <a:off x="411480" y="3657600"/>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Cette partie sert de consolidation. Elle montre le pont inverse : on part d'un signal local, puis on repasse en Observable uniquement parce qu'un opérateur temporel (debounceTime) est nécessaire.</a:t>
            </a:r>
            <a:endParaRPr lang="en-US" sz="1220" dirty="0"/>
          </a:p>
        </p:txBody>
      </p:sp>
      <p:sp>
        <p:nvSpPr>
          <p:cNvPr id="8" name="Text 6"/>
          <p:cNvSpPr/>
          <p:nvPr/>
        </p:nvSpPr>
        <p:spPr>
          <a:xfrm>
            <a:off x="411480" y="4197096"/>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src/app/features/clients/pages/dashboard/dashboard.component.spec.ts</a:t>
            </a:r>
            <a:endParaRPr lang="en-US" sz="88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53/72</a:t>
            </a:r>
            <a:endParaRPr lang="en-US" sz="7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Définition</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Signal → Observable pour opérateurs RxJS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debouncedSearch$ = toObservable(this.search).pipe(debounceTime(300));</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54/72</a:t>
            </a:r>
            <a:endParaRPr lang="en-US" sz="7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vs Zone.js</a:t>
            </a:r>
            <a:endParaRPr lang="en-US" sz="18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Observable + .subscribe()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takeUntilDestroyed requis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Abonnement géré automatiquement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Copie manuelle dans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 crée et alimente le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détecte l'émission, re-rend tout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re-rend seulement les dépendants du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55/72</a:t>
            </a:r>
            <a:endParaRPr lang="en-US" sz="7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vs RxJS</a:t>
            </a:r>
            <a:endParaRPr lang="en-US" sz="18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932688"/>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BehaviorSubject exposé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Source mutable, .next() depuis plusieurs endroits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Alimenté uniquement par l'Observable source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Adapté à l'état partagé entre services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Adapté à consommer un Observable dans un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56/72</a:t>
            </a:r>
            <a:endParaRPr lang="en-US" sz="7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Exercice 7 — Interop RxJS progressive — Quand utiliser toSignal() / toObservable() — et quand rester en RxJS pur</a:t>
            </a:r>
            <a:endParaRPr lang="en-US" sz="15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2176272"/>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Lire paramMap ou queryParamMap dans un composant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Observable HTTP one-shot dans un composant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 + pipe(map, catchError, startWith)</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Debounce, distinctUntilChanged sur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toObservable() + pipe()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Flux continu (WebSocket, polling)</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RxJS pur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Combiner deux flux avec temporalité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combineLatest RxJS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Requête POST / PUT / DELETE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firstValueFrom() dans une méthode async</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57/72</a:t>
            </a:r>
            <a:endParaRPr lang="en-US" sz="7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facade avec computed()</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58/72</a:t>
            </a:r>
            <a:endParaRPr lang="en-US" sz="7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facade avec computed() — Fichiers à modifier</a:t>
            </a:r>
            <a:endParaRPr lang="en-US" sz="1800" dirty="0"/>
          </a:p>
        </p:txBody>
      </p:sp>
      <p:sp>
        <p:nvSpPr>
          <p:cNvPr id="4"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src/app/features/accounts/services/accounts.facade.ts</a:t>
            </a:r>
            <a:endParaRPr lang="en-US" sz="1160" dirty="0"/>
          </a:p>
        </p:txBody>
      </p:sp>
      <p:sp>
        <p:nvSpPr>
          <p:cNvPr id="5"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src/app/features/accounts/pages/accounts/accounts.component.ts</a:t>
            </a:r>
            <a:endParaRPr lang="en-US" sz="1160" dirty="0"/>
          </a:p>
        </p:txBody>
      </p:sp>
      <p:sp>
        <p:nvSpPr>
          <p:cNvPr id="6"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src/app/features/accounts/pages/accounts/accounts.component.html</a:t>
            </a:r>
            <a:endParaRPr lang="en-US" sz="116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59/72</a:t>
            </a:r>
            <a:endParaRPr lang="en-US" sz="7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facade avec computed()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Ajouter hasActiveFilter comme computed() dans la facade, l'exposer dans le composant, l'utiliser dans le template.</a:t>
            </a:r>
            <a:endParaRPr lang="en-US" sz="1220" dirty="0"/>
          </a:p>
        </p:txBody>
      </p:sp>
      <p:sp>
        <p:nvSpPr>
          <p:cNvPr id="5" name="Text 3"/>
          <p:cNvSpPr/>
          <p:nvPr/>
        </p:nvSpPr>
        <p:spPr>
          <a:xfrm>
            <a:off x="411480" y="1362456"/>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accounts.facade.ts — ajouter après typeFilter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hasActiveFilter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this.search().trim().length &gt; 0 || this.typeFilter() !== 'all'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2295144"/>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AccountsComponent — exposer le signal de la facade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hasActiveFilter = this.accountsFacade.hasActiveFilter;</a:t>
            </a:r>
            <a:endParaRPr lang="en-US" sz="880" dirty="0"/>
          </a:p>
        </p:txBody>
      </p:sp>
      <p:sp>
        <p:nvSpPr>
          <p:cNvPr id="7" name="Text 5"/>
          <p:cNvSpPr/>
          <p:nvPr/>
        </p:nvSpPr>
        <p:spPr>
          <a:xfrm>
            <a:off x="411480" y="294436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&lt;!-- accounts.component.html — remplacer le message vide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hasActiveFilter() ? 'Aucun compte ne correspond aux filtres.' : 'Aucun compte trouvé.' }}</a:t>
            </a:r>
            <a:endParaRPr lang="en-US" sz="880" dirty="0"/>
          </a:p>
        </p:txBody>
      </p:sp>
      <p:sp>
        <p:nvSpPr>
          <p:cNvPr id="8" name="Text 6"/>
          <p:cNvSpPr/>
          <p:nvPr/>
        </p:nvSpPr>
        <p:spPr>
          <a:xfrm>
            <a:off x="411480" y="359359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60/72</a:t>
            </a:r>
            <a:endParaRPr lang="en-US" sz="7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facade avec computed()</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61/72</a:t>
            </a:r>
            <a:endParaRPr lang="en-US" sz="7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facade avec computed()</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62/72</a:t>
            </a:r>
            <a:endParaRPr lang="en-US" sz="7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facade avec computed() — vs Zone.js / vs RxJS</a:t>
            </a:r>
            <a:endParaRPr lang="en-US" sz="18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Règle dans le template ou le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computed() dans la facade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Logique inline, intention illisible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Nom qui exprime l'intention métier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Dupliquée si plusieurs composants en ont besoin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Partageable depuis la facade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Non testable directement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Testable unitairement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Recalculée à chaque cycle Zone.js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Mémorisée, recalculée seulement si nécessaire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63/72</a:t>
            </a:r>
            <a:endParaRPr lang="en-US" sz="7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Récapitulatif — Signal ou RxJS ?</a:t>
            </a:r>
            <a:endParaRPr lang="en-US" sz="18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Utiliser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Utiliser RxJS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État UI local 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Flux impliquant le temps (debounceTime, delay…)</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dérivée d'autres états locaux</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Combinaison de plusieurs sources (combineLatest, merge)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Entrée / sortie de composant réactive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continue (WebSocket, polling)</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Effet de bord déclenché par un état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Commande async (POST, PUT, DELETE)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Consommer un Observable dans un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Multicasting (shareReplay, share)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64/72</a:t>
            </a:r>
            <a:endParaRPr lang="en-US" sz="7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Récapitulatif — Signal ou RxJS ? — Zone d'intersection — utiliser les deux</a:t>
            </a:r>
            <a:endParaRPr lang="en-US" sz="1800" dirty="0"/>
          </a:p>
        </p:txBody>
      </p:sp>
      <p:sp>
        <p:nvSpPr>
          <p:cNvPr id="4"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Signal → toObservable() → pipe(debounceTime)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Observable HTTP         → pipe(map, catchError, startWith) → toSignal()</a:t>
            </a:r>
            <a:endParaRPr lang="en-US" sz="88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65/72</a:t>
            </a:r>
            <a:endParaRPr lang="en-US" sz="7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Clôture du dojo — Règles à retenir</a:t>
            </a:r>
            <a:endParaRPr lang="en-US" sz="1800" dirty="0"/>
          </a:p>
        </p:txBody>
      </p:sp>
      <p:sp>
        <p:nvSpPr>
          <p:cNvPr id="4" name="Text 2"/>
          <p:cNvSpPr/>
          <p:nvPr/>
        </p:nvSpPr>
        <p:spPr>
          <a:xfrm>
            <a:off x="411480" y="932688"/>
            <a:ext cx="11368735" cy="125272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1. computed()   ne fait jamais d'appel HTTP — calcul pur uniquement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2. effect()     n'expose jamais de valeur    — effets de bord uniquement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3. L'enfant émet une INTENTION, le parent exécute l'ACTION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4. Ne pas bridger signal ↔ RxJS systématiquement — rester dans un seul monde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5. Zone.js peut coexister — migrer progressivement, pas tout d'un coup</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6. input() dans un computed() = dépendance réelle / @Input() dans computed() = non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7. toSignal() gère le désabonnement — ne pas ajouter takeUntilDestroyed en plus</a:t>
            </a:r>
            <a:endParaRPr lang="en-US" sz="88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66/72</a:t>
            </a:r>
            <a:endParaRPr lang="en-US" sz="7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Annexe</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Limiter ou supprimer Zone.js</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67/72</a:t>
            </a:r>
            <a:endParaRPr lang="en-US" sz="7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Annexe — Limiter ou supprimer Zone.js — Ce que fait Zone.js</a:t>
            </a:r>
            <a:endParaRPr lang="en-US" sz="1800" dirty="0"/>
          </a:p>
        </p:txBody>
      </p:sp>
      <p:sp>
        <p:nvSpPr>
          <p:cNvPr id="5" name="Text 2"/>
          <p:cNvSpPr/>
          <p:nvPr/>
        </p:nvSpPr>
        <p:spPr>
          <a:xfrm>
            <a:off x="411480" y="932688"/>
            <a:ext cx="11368735" cy="109728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Zone.js remplace silencieusement au démarrage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window.setTimeout       → version Zone.js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window.Promise          → version Zone.js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window.fetch            → version Zone.js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window.addEventListener → version Zone.js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XMLHttpRequest          → version Zone.js</a:t>
            </a:r>
            <a:endParaRPr lang="en-US" sz="880" dirty="0"/>
          </a:p>
        </p:txBody>
      </p:sp>
      <p:sp>
        <p:nvSpPr>
          <p:cNvPr id="6" name="Text 3"/>
          <p:cNvSpPr/>
          <p:nvPr/>
        </p:nvSpPr>
        <p:spPr>
          <a:xfrm>
            <a:off x="411480" y="2176272"/>
            <a:ext cx="11368735" cy="234086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Zone.js seul — Angular lance un cycle après le setTimeout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setTimeout(()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this.name = 'Alice';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1000);</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Signals + Zone.js encore présent (cas de ce projet, OnPush)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setTimeout(()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this.name.set('Alice'); // Zone.js déclenche encore un cycle,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1000);                 // mais seuls les lecteurs de name() sont re-rendus</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Signals + Zoneless (possible en Angular 21)</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setTimeout(()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this.name.set('Alice'); // setTimeout non patché — seul .set() déclenche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1000);                 // le re-render sur les lecteurs de name()</a:t>
            </a:r>
            <a:endParaRPr lang="en-US" sz="880" dirty="0"/>
          </a:p>
        </p:txBody>
      </p:sp>
      <p:sp>
        <p:nvSpPr>
          <p:cNvPr id="7"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68/72</a:t>
            </a:r>
            <a:endParaRPr lang="en-US" sz="7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Annexe — Limiter ou supprimer Zone.js — Cas 1 — Limiter le re-render par composant avec OnPush</a:t>
            </a:r>
            <a:endParaRPr lang="en-US" sz="1500" dirty="0"/>
          </a:p>
        </p:txBody>
      </p:sp>
      <p:sp>
        <p:nvSpPr>
          <p:cNvPr id="5" name="Text 2"/>
          <p:cNvSpPr/>
          <p:nvPr/>
        </p:nvSpPr>
        <p:spPr>
          <a:xfrm>
            <a:off x="411480" y="932688"/>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changeDetection: ChangeDetectionStrategy.OnPush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11480" y="1709928"/>
          <a:ext cx="11368735" cy="2176272"/>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Déclencheur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Re-render ?</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Un input() signal reçoit une nouvelle valeur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Oui</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Un @Input() reçoit une nouvelle référence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Oui</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Un async pipe émet une valeur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Oui</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cdr.markForCheck() appelé manuellement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Oui</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Une propriété de classe classique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Non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Un @Input() ou un input()  reçoit le même objet muté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Non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7"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69/72</a:t>
            </a:r>
            <a:endParaRPr lang="en-US" sz="7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Annexe — Limiter ou supprimer Zone.js — Comment un composant est marqué dirty</a:t>
            </a:r>
            <a:endParaRPr lang="en-US" sz="18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3789578"/>
                <a:gridCol w="3789578"/>
                <a:gridCol w="3789578"/>
              </a:tblGrid>
              <a:tr h="310896">
                <a:tc>
                  <a:txBody>
                    <a:bodyPr/>
                    <a:lstStyle/>
                    <a:p>
                      <a:pPr indent="0" marL="0">
                        <a:buNone/>
                      </a:pPr>
                      <a:r>
                        <a:rPr lang="en-US" sz="1020" b="1" dirty="0">
                          <a:solidFill>
                            <a:srgbClr val="FFFFFF"/>
                          </a:solidFill>
                        </a:rPr>
                        <a:t>Déclencheur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Qui marque dirty ?</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Mécanisme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@Input() reçoit une nouvelle référence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(interne)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Comparaison par référence à chaque cycle Zone.js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input() signal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Angular (graphe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.set() invalide les vues qui lisent ce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async pipe émet une valeur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async pipe lui-même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Appelle cdr.markForCheck() à chaque émission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cdr.markForCheck()</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Le développeur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Marque le composant et tous ses ancêtres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Signal lu dans le template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(graphe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.set() cible directement les vues concernées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6" name="Text 2"/>
          <p:cNvSpPr/>
          <p:nvPr/>
        </p:nvSpPr>
        <p:spPr>
          <a:xfrm>
            <a:off x="411480" y="2962656"/>
            <a:ext cx="11368735" cy="125272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Zone.js + OnPush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Zone.js détecte un async → cycle global → Angular parcourt l'arbre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saute les composants non dirty → re-rend les dirty</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Signals + OnPush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.set() → Angular sait exactement quelles vues lisent ce 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marque ces vues dirty ; avec Zone.js, le cycle global peut encore exister</a:t>
            </a:r>
            <a:endParaRPr lang="en-US" sz="880" dirty="0"/>
          </a:p>
        </p:txBody>
      </p:sp>
      <p:sp>
        <p:nvSpPr>
          <p:cNvPr id="7"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70/72</a:t>
            </a:r>
            <a:endParaRPr lang="en-US" sz="7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Annexe — Limiter ou supprimer Zone.js — Cas 2 — Supprimer Zone.js avec le mode Zoneless en Angular 21</a:t>
            </a:r>
            <a:endParaRPr lang="en-US" sz="1500" dirty="0"/>
          </a:p>
        </p:txBody>
      </p:sp>
      <p:sp>
        <p:nvSpPr>
          <p:cNvPr id="5" name="Text 2"/>
          <p:cNvSpPr/>
          <p:nvPr/>
        </p:nvSpPr>
        <p:spPr>
          <a:xfrm>
            <a:off x="411480" y="932688"/>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provideZoneChangeDetection({ eventCoalescing: true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provideZonelessChangeDetection()</a:t>
            </a:r>
            <a:endParaRPr lang="en-US" sz="880" dirty="0"/>
          </a:p>
        </p:txBody>
      </p:sp>
      <p:sp>
        <p:nvSpPr>
          <p:cNvPr id="6" name="Text 3"/>
          <p:cNvSpPr/>
          <p:nvPr/>
        </p:nvSpPr>
        <p:spPr>
          <a:xfrm>
            <a:off x="411480" y="2020824"/>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"polyfills": ["zone.js"]</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"polyfills": []</a:t>
            </a:r>
            <a:endParaRPr lang="en-US" sz="880" dirty="0"/>
          </a:p>
        </p:txBody>
      </p:sp>
      <p:sp>
        <p:nvSpPr>
          <p:cNvPr id="7" name="Text 4"/>
          <p:cNvSpPr/>
          <p:nvPr/>
        </p:nvSpPr>
        <p:spPr>
          <a:xfrm>
            <a:off x="411480" y="3108960"/>
            <a:ext cx="11368735" cy="218541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Fragile en zoneless : propriété classique modifiée dans un callback async</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name = 'Alice';</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setTimeout(()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this.name = 'Bob';</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1000);</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Robuste en zoneless : le signal notifie Angular explicitement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name = signal('Alice');</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setTimeout(()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this.name.set('Bob');</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1000);</a:t>
            </a:r>
            <a:endParaRPr lang="en-US" sz="88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71/72</a:t>
            </a:r>
            <a:endParaRPr lang="en-US" sz="7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Annexe — Limiter ou supprimer Zone.js — Les 3 états d'une app Angular</a:t>
            </a:r>
            <a:endParaRPr lang="en-US" sz="1800" dirty="0"/>
          </a:p>
        </p:txBody>
      </p:sp>
      <p:sp>
        <p:nvSpPr>
          <p:cNvPr id="4" name="Text 2"/>
          <p:cNvSpPr/>
          <p:nvPr/>
        </p:nvSpPr>
        <p:spPr>
          <a:xfrm>
            <a:off x="411480" y="932688"/>
            <a:ext cx="11368735" cy="140817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Zone.js présent            Zone.js supprimé</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Sans OnPush   →   Re-render global       →    Les changements classiques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à chaque async              ne sont plus auto-détectés</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Avec OnPush   →   Cycle global lancé,    →   Mode Zoneless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Signals         seuls les composants        Seul .set() déclenche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dirty sont re-rendus        un re-render ciblé</a:t>
            </a:r>
            <a:endParaRPr lang="en-US" sz="88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72/72</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Dojo Angular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Angular 21 Signals - Support de presentation dojo</dc:title>
  <dc:subject>Angular 21 Signals</dc:subject>
  <dc:creator>Dojo Angular Signals</dc:creator>
  <cp:lastModifiedBy>Dojo Angular Signals</cp:lastModifiedBy>
  <cp:revision>1</cp:revision>
  <dcterms:created xsi:type="dcterms:W3CDTF">2026-06-03T15:56:51Z</dcterms:created>
  <dcterms:modified xsi:type="dcterms:W3CDTF">2026-06-03T15:56:51Z</dcterms:modified>
</cp:coreProperties>
</file>