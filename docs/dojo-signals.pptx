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signal est une valeur reactive lue avec (). Quand sa valeur change, Angular sait quelles lectures dependent de cette valeur.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Zone.js intercepte les evenements asynchrones du navigateur et previent Angular qu'un cycle de detection peut etre 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RxJS sert a modeliser des flux dans le temps : HTTP, route params, evenements, debounceTime, switchMap, combineLatest.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71800" cy="685800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502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520440" y="1417320"/>
            <a:ext cx="8122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02124"/>
                </a:solidFill>
              </a:rPr>
              <a:t>Angular 21 Signals — Dojo court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566160" y="2788920"/>
            <a:ext cx="8076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667085"/>
                </a:solidFill>
              </a:rPr>
              <a:t>Support de présentation dojo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566160" y="4160520"/>
            <a:ext cx="4114800" cy="31089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31"/>
                </a:solidFill>
              </a:rPr>
              <a:t>Angular 21 · Signals · Zone.js · RxJS interop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1/6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Signal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signal() cree une valeur mutable.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computed() cree une valeur derivee.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effect() observe des signals pour declencher un effet de bord.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Le template lit un signal avec monSignal().</a:t>
            </a:r>
            <a:endParaRPr lang="en-US" sz="1160" dirty="0"/>
          </a:p>
        </p:txBody>
      </p:sp>
      <p:sp>
        <p:nvSpPr>
          <p:cNvPr id="10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2/6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Zone.js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Zone.js declenche la detection apres un evenement async.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Zone.js ne dit pas quel etat applicatif a change.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Le dojo garde Zone.js pour montrer une migration progressive.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Les Signals rendent les dependances d'etat plus explicites.</a:t>
            </a:r>
            <a:endParaRPr lang="en-US" sz="1160" dirty="0"/>
          </a:p>
        </p:txBody>
      </p:sp>
      <p:sp>
        <p:nvSpPr>
          <p:cNvPr id="10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3/6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Rappels — RxJS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RxJS reste adapte aux flux asynchrones.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toSignal() expose la derniere valeur d'un Observable comme signal.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toObservable() expose un signal comme Observable.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273043"/>
                </a:solidFill>
              </a:rPr>
              <a:t>Le but est de placer clairement la frontiere entre flux RxJS et etat signal.</a:t>
            </a:r>
            <a:endParaRPr lang="en-US" sz="1160" dirty="0"/>
          </a:p>
        </p:txBody>
      </p:sp>
      <p:sp>
        <p:nvSpPr>
          <p:cNvPr id="10" name="Text 7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4/6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Structure des branches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27304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E4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5/6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19456"/>
            <a:ext cx="93570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Exercices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317175" y="246888"/>
            <a:ext cx="1463040" cy="219456"/>
          </a:xfrm>
          <a:prstGeom prst="rect">
            <a:avLst/>
          </a:prstGeom>
          <a:solidFill>
            <a:srgbClr val="FCE7EC"/>
          </a:solidFill>
          <a:ln>
            <a:solidFill>
              <a:srgbClr val="FCE7EC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D0031"/>
                </a:solidFill>
              </a:rPr>
              <a:t>Angular Signals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11480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76072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1 — signal()</a:t>
            </a:r>
            <a:endParaRPr lang="en-US" sz="820" dirty="0"/>
          </a:p>
        </p:txBody>
      </p:sp>
      <p:sp>
        <p:nvSpPr>
          <p:cNvPr id="8" name="Text 6"/>
          <p:cNvSpPr/>
          <p:nvPr/>
        </p:nvSpPr>
        <p:spPr>
          <a:xfrm>
            <a:off x="2039112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reactive mutable lue avec ().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576072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10" name="Text 8"/>
          <p:cNvSpPr/>
          <p:nvPr/>
        </p:nvSpPr>
        <p:spPr>
          <a:xfrm>
            <a:off x="2551176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l'etat adding en signal. Le template doit afficher le formulaire a partir de ce nouvel etat reactif.</a:t>
            </a:r>
            <a:endParaRPr lang="en-US" sz="680" dirty="0"/>
          </a:p>
        </p:txBody>
      </p:sp>
      <p:sp>
        <p:nvSpPr>
          <p:cNvPr id="11" name="Shape 9"/>
          <p:cNvSpPr/>
          <p:nvPr/>
        </p:nvSpPr>
        <p:spPr>
          <a:xfrm>
            <a:off x="411480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1480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76072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2 — computed()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2039112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Valeur derivee en lecture seule.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576072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16" name="Text 14"/>
          <p:cNvSpPr/>
          <p:nvPr/>
        </p:nvSpPr>
        <p:spPr>
          <a:xfrm>
            <a:off x="2551176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Transformer blockedAccountsCount en valeur derivee de la facade. La page accounts doit afficher ce compteur sans recalculer elle-meme la regle.</a:t>
            </a:r>
            <a:endParaRPr lang="en-US" sz="680" dirty="0"/>
          </a:p>
        </p:txBody>
      </p:sp>
      <p:sp>
        <p:nvSpPr>
          <p:cNvPr id="17" name="Shape 15"/>
          <p:cNvSpPr/>
          <p:nvPr/>
        </p:nvSpPr>
        <p:spPr>
          <a:xfrm>
            <a:off x="411480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3 — effect()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2039112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Effet de bord declenche par les signals lus.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576072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2" name="Text 20"/>
          <p:cNvSpPr/>
          <p:nvPr/>
        </p:nvSpPr>
        <p:spPr>
          <a:xfrm>
            <a:off x="2551176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le recalage imperatif de la page courante par une reaction automatique. Quand la liste change, la page selectionnee doit rester valide.</a:t>
            </a:r>
            <a:endParaRPr lang="en-US" sz="680" dirty="0"/>
          </a:p>
        </p:txBody>
      </p:sp>
      <p:sp>
        <p:nvSpPr>
          <p:cNvPr id="23" name="Shape 21"/>
          <p:cNvSpPr/>
          <p:nvPr/>
        </p:nvSpPr>
        <p:spPr>
          <a:xfrm>
            <a:off x="411480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1480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6072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4 — viewChild() + effect()</a:t>
            </a:r>
            <a:endParaRPr lang="en-US" sz="820" dirty="0"/>
          </a:p>
        </p:txBody>
      </p:sp>
      <p:sp>
        <p:nvSpPr>
          <p:cNvPr id="26" name="Text 24"/>
          <p:cNvSpPr/>
          <p:nvPr/>
        </p:nvSpPr>
        <p:spPr>
          <a:xfrm>
            <a:off x="2039112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Reference DOM exposee comme signal, puis effet DOM.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576072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28" name="Text 26"/>
          <p:cNvSpPr/>
          <p:nvPr/>
        </p:nvSpPr>
        <p:spPr>
          <a:xfrm>
            <a:off x="2551176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reference DOM classique du champ prenom par une reference signal, puis declencher le focus quand ce champ apparait.</a:t>
            </a:r>
            <a:endParaRPr lang="en-US" sz="680" dirty="0"/>
          </a:p>
        </p:txBody>
      </p:sp>
      <p:sp>
        <p:nvSpPr>
          <p:cNvPr id="29" name="Shape 27"/>
          <p:cNvSpPr/>
          <p:nvPr/>
        </p:nvSpPr>
        <p:spPr>
          <a:xfrm>
            <a:off x="6205576" y="932688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05576" y="932688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70168" y="10424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5 — input()</a:t>
            </a:r>
            <a:endParaRPr lang="en-US" sz="820" dirty="0"/>
          </a:p>
        </p:txBody>
      </p:sp>
      <p:sp>
        <p:nvSpPr>
          <p:cNvPr id="32" name="Text 30"/>
          <p:cNvSpPr/>
          <p:nvPr/>
        </p:nvSpPr>
        <p:spPr>
          <a:xfrm>
            <a:off x="7833208" y="1042416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Entree de composant exposee comme signal.</a:t>
            </a:r>
            <a:endParaRPr lang="en-US" sz="680" dirty="0"/>
          </a:p>
        </p:txBody>
      </p:sp>
      <p:sp>
        <p:nvSpPr>
          <p:cNvPr id="33" name="Text 31"/>
          <p:cNvSpPr/>
          <p:nvPr/>
        </p:nvSpPr>
        <p:spPr>
          <a:xfrm>
            <a:off x="6370168" y="1298448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accounts/components/account-card/account-card.component.ts</a:t>
            </a:r>
            <a:endParaRPr lang="en-US" sz="580" dirty="0"/>
          </a:p>
        </p:txBody>
      </p:sp>
      <p:sp>
        <p:nvSpPr>
          <p:cNvPr id="34" name="Text 32"/>
          <p:cNvSpPr/>
          <p:nvPr/>
        </p:nvSpPr>
        <p:spPr>
          <a:xfrm>
            <a:off x="8345272" y="1289304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Convertir showStatus en input signal. Le libelle de statut doit reagir correctement quand le parent choisit d'afficher ou masquer ce statut.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6205576" y="2203704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05576" y="2203704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70168" y="231343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6 — output()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7833208" y="2313432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Evenement emis par l'enfant vers le parent.</a:t>
            </a:r>
            <a:endParaRPr lang="en-US" sz="680" dirty="0"/>
          </a:p>
        </p:txBody>
      </p:sp>
      <p:sp>
        <p:nvSpPr>
          <p:cNvPr id="39" name="Text 37"/>
          <p:cNvSpPr/>
          <p:nvPr/>
        </p:nvSpPr>
        <p:spPr>
          <a:xfrm>
            <a:off x="6370168" y="2569464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accounts/components/account-list/account-list.component.ts</a:t>
            </a:r>
            <a:endParaRPr lang="en-US" sz="580" dirty="0"/>
          </a:p>
        </p:txBody>
      </p:sp>
      <p:sp>
        <p:nvSpPr>
          <p:cNvPr id="40" name="Text 38"/>
          <p:cNvSpPr/>
          <p:nvPr/>
        </p:nvSpPr>
        <p:spPr>
          <a:xfrm>
            <a:off x="8345272" y="2560320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sortie legacy selectedRequested par output(). La liste doit continuer a emettre la selection vers le parent.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6205576" y="3474720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05576" y="3474720"/>
            <a:ext cx="73152" cy="1170432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70168" y="358444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DD0031"/>
                </a:solidFill>
              </a:rPr>
              <a:t>7 — toSignal() / toObservable()</a:t>
            </a:r>
            <a:endParaRPr lang="en-US" sz="820" dirty="0"/>
          </a:p>
        </p:txBody>
      </p:sp>
      <p:sp>
        <p:nvSpPr>
          <p:cNvPr id="44" name="Text 42"/>
          <p:cNvSpPr/>
          <p:nvPr/>
        </p:nvSpPr>
        <p:spPr>
          <a:xfrm>
            <a:off x="7833208" y="3584448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Pont entre Observable RxJS et signal Angular.</a:t>
            </a:r>
            <a:endParaRPr lang="en-US" sz="680" dirty="0"/>
          </a:p>
        </p:txBody>
      </p:sp>
      <p:sp>
        <p:nvSpPr>
          <p:cNvPr id="45" name="Text 43"/>
          <p:cNvSpPr/>
          <p:nvPr/>
        </p:nvSpPr>
        <p:spPr>
          <a:xfrm>
            <a:off x="6370168" y="3840480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clients/pages/dashboard/dashboard.component.ts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clients/pages/clients/clients.component.ts</a:t>
            </a:r>
            <a:endParaRPr lang="en-US" sz="580" dirty="0"/>
          </a:p>
        </p:txBody>
      </p:sp>
      <p:sp>
        <p:nvSpPr>
          <p:cNvPr id="46" name="Text 44"/>
          <p:cNvSpPr/>
          <p:nvPr/>
        </p:nvSpPr>
        <p:spPr>
          <a:xfrm>
            <a:off x="8345272" y="3831336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Remplacer la souscription manuelle a la route par toSignal(), exposer le chargement dashboard comme signal, et identifier le pont inverse toObservable() pour la recherche debouncee.</a:t>
            </a:r>
            <a:endParaRPr lang="en-US" sz="680" dirty="0"/>
          </a:p>
        </p:txBody>
      </p:sp>
      <p:sp>
        <p:nvSpPr>
          <p:cNvPr id="47" name="Shape 45"/>
          <p:cNvSpPr/>
          <p:nvPr/>
        </p:nvSpPr>
        <p:spPr>
          <a:xfrm>
            <a:off x="6205576" y="4745736"/>
            <a:ext cx="5574640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05576" y="4745736"/>
            <a:ext cx="73152" cy="1170432"/>
          </a:xfrm>
          <a:prstGeom prst="rect">
            <a:avLst/>
          </a:prstGeom>
          <a:solidFill>
            <a:srgbClr val="1976D2"/>
          </a:solidFill>
          <a:ln w="12700">
            <a:solidFill>
              <a:srgbClr val="1976D2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70168" y="485546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1976D2"/>
                </a:solidFill>
              </a:rPr>
              <a:t>8 — computed() facade</a:t>
            </a:r>
            <a:endParaRPr lang="en-US" sz="820" dirty="0"/>
          </a:p>
        </p:txBody>
      </p:sp>
      <p:sp>
        <p:nvSpPr>
          <p:cNvPr id="50" name="Text 48"/>
          <p:cNvSpPr/>
          <p:nvPr/>
        </p:nvSpPr>
        <p:spPr>
          <a:xfrm>
            <a:off x="7833208" y="4855464"/>
            <a:ext cx="379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667085"/>
                </a:solidFill>
              </a:rPr>
              <a:t>Vue derivee de l'etat metier dans une facade.</a:t>
            </a:r>
            <a:endParaRPr lang="en-US" sz="680" dirty="0"/>
          </a:p>
        </p:txBody>
      </p:sp>
      <p:sp>
        <p:nvSpPr>
          <p:cNvPr id="51" name="Text 49"/>
          <p:cNvSpPr/>
          <p:nvPr/>
        </p:nvSpPr>
        <p:spPr>
          <a:xfrm>
            <a:off x="6370168" y="5111496"/>
            <a:ext cx="1874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accounts/services/accounts.facade.ts</a:t>
            </a:r>
            <a:endParaRPr lang="en-US" sz="580" dirty="0"/>
          </a:p>
          <a:p>
            <a:pPr indent="0" marL="0">
              <a:buNone/>
            </a:pPr>
            <a:r>
              <a:rPr lang="en-US" sz="580" dirty="0">
                <a:solidFill>
                  <a:srgbClr val="1976D2"/>
                </a:solidFill>
              </a:rPr>
              <a:t>accounts/pages/accounts/accounts.component.*</a:t>
            </a:r>
            <a:endParaRPr lang="en-US" sz="580" dirty="0"/>
          </a:p>
        </p:txBody>
      </p:sp>
      <p:sp>
        <p:nvSpPr>
          <p:cNvPr id="52" name="Text 50"/>
          <p:cNvSpPr/>
          <p:nvPr/>
        </p:nvSpPr>
        <p:spPr>
          <a:xfrm>
            <a:off x="8345272" y="5102352"/>
            <a:ext cx="3270352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680" dirty="0">
                <a:solidFill>
                  <a:srgbClr val="273043"/>
                </a:solidFill>
              </a:rPr>
              <a:t>Ajouter hasActiveFilter comme valeur derivee de la facade. Le message vide doit dependre de cette regle exposee par la facade.</a:t>
            </a:r>
            <a:endParaRPr lang="en-US" sz="680" dirty="0"/>
          </a:p>
        </p:txBody>
      </p:sp>
      <p:sp>
        <p:nvSpPr>
          <p:cNvPr id="53" name="Text 51"/>
          <p:cNvSpPr/>
          <p:nvPr/>
        </p:nvSpPr>
        <p:spPr>
          <a:xfrm>
            <a:off x="411480" y="6144768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i="1" dirty="0">
                <a:solidFill>
                  <a:srgbClr val="667085"/>
                </a:solidFill>
              </a:rPr>
              <a:t>Les tests ne sont pas l'objectif principal du dojo. S'ils echouent a cause de la migration demandee, les ajuster pour refleter le nouveau comportement.</a:t>
            </a:r>
            <a:endParaRPr lang="en-US" sz="720" dirty="0"/>
          </a:p>
        </p:txBody>
      </p:sp>
      <p:sp>
        <p:nvSpPr>
          <p:cNvPr id="54" name="Text 5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67085"/>
                </a:solidFill>
              </a:rPr>
              <a:t>6/6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2026-06-10T19:21:00Z</dcterms:created>
  <dcterms:modified xsi:type="dcterms:W3CDTF">2026-06-10T19:21:00Z</dcterms:modified>
</cp:coreProperties>
</file>