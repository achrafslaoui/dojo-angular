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Chaque branche d'exercice ajoute uniquement la correction de son exercice par rapport a la branche precedente.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971800" cy="6858000"/>
          </a:xfrm>
          <a:prstGeom prst="rect">
            <a:avLst/>
          </a:prstGeom>
          <a:solidFill>
            <a:srgbClr val="DD0031"/>
          </a:solidFill>
          <a:ln w="12700">
            <a:solidFill>
              <a:srgbClr val="DD003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50292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Dojo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520440" y="1417320"/>
            <a:ext cx="81226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202124"/>
                </a:solidFill>
              </a:rPr>
              <a:t>Angular 21 Signals — Dojo court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3566160" y="2788920"/>
            <a:ext cx="80768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667085"/>
                </a:solidFill>
              </a:rPr>
              <a:t>Support de présentation dojo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566160" y="4160520"/>
            <a:ext cx="4114800" cy="310896"/>
          </a:xfrm>
          <a:prstGeom prst="rect">
            <a:avLst/>
          </a:prstGeom>
          <a:solidFill>
            <a:srgbClr val="FCE7EC"/>
          </a:solidFill>
          <a:ln>
            <a:solidFill>
              <a:srgbClr val="FCE7EC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D0031"/>
                </a:solidFill>
              </a:rPr>
              <a:t>Angular 21 · Signals · Zone.js · RxJS interop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67085"/>
                </a:solidFill>
              </a:rPr>
              <a:t>1/6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DD0031"/>
          </a:solidFill>
          <a:ln w="12700">
            <a:solidFill>
              <a:srgbClr val="DD003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02124"/>
                </a:solidFill>
              </a:rPr>
              <a:t>Rappels — Signal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FCE7EC"/>
          </a:solidFill>
          <a:ln>
            <a:solidFill>
              <a:srgbClr val="FCE7EC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D0031"/>
                </a:solidFill>
              </a:rPr>
              <a:t>Angular Signals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11368735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960120"/>
            <a:ext cx="109728" cy="1207008"/>
          </a:xfrm>
          <a:prstGeom prst="rect">
            <a:avLst/>
          </a:prstGeom>
          <a:solidFill>
            <a:srgbClr val="DD0031"/>
          </a:solidFill>
          <a:ln w="12700">
            <a:solidFill>
              <a:srgbClr val="DD003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7512" y="1115568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D0031"/>
                </a:solidFill>
              </a:rPr>
              <a:t>Définition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892808" y="1078992"/>
            <a:ext cx="9631375" cy="7863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73043"/>
                </a:solidFill>
              </a:rPr>
              <a:t>Un signal est une valeur reactive lue avec (). Quand sa valeur change, Angular sait quelles lectures dependent de cette valeur.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11480" y="2788920"/>
            <a:ext cx="5547208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57784" y="2935224"/>
            <a:ext cx="347472" cy="228600"/>
          </a:xfrm>
          <a:prstGeom prst="rect">
            <a:avLst/>
          </a:prstGeom>
          <a:solidFill>
            <a:srgbClr val="FCE7EC"/>
          </a:solidFill>
          <a:ln>
            <a:solidFill>
              <a:srgbClr val="FCE7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D0031"/>
                </a:solidFill>
              </a:rPr>
              <a:t>01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033272" y="2953512"/>
            <a:ext cx="4742536" cy="8503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273043"/>
                </a:solidFill>
              </a:rPr>
              <a:t>signal() cree une valeur mutable.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33008" y="2788920"/>
            <a:ext cx="5547208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9312" y="2935224"/>
            <a:ext cx="347472" cy="228600"/>
          </a:xfrm>
          <a:prstGeom prst="rect">
            <a:avLst/>
          </a:prstGeom>
          <a:solidFill>
            <a:srgbClr val="E8F1FF"/>
          </a:solidFill>
          <a:ln>
            <a:solidFill>
              <a:srgbClr val="E8F1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976D2"/>
                </a:solidFill>
              </a:rPr>
              <a:t>02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6854800" y="2953512"/>
            <a:ext cx="4742536" cy="8503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273043"/>
                </a:solidFill>
              </a:rPr>
              <a:t>computed() cree une valeur derivee.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4142232"/>
            <a:ext cx="5547208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57784" y="4288536"/>
            <a:ext cx="347472" cy="228600"/>
          </a:xfrm>
          <a:prstGeom prst="rect">
            <a:avLst/>
          </a:prstGeom>
          <a:solidFill>
            <a:srgbClr val="EAF7F0"/>
          </a:solidFill>
          <a:ln>
            <a:solidFill>
              <a:srgbClr val="EAF7F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88038"/>
                </a:solidFill>
              </a:rPr>
              <a:t>03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33272" y="4306824"/>
            <a:ext cx="4742536" cy="8503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273043"/>
                </a:solidFill>
              </a:rPr>
              <a:t>effect() observe des signals pour declencher un effet de bord.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233008" y="4142232"/>
            <a:ext cx="5547208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79312" y="4288536"/>
            <a:ext cx="347472" cy="228600"/>
          </a:xfrm>
          <a:prstGeom prst="rect">
            <a:avLst/>
          </a:prstGeom>
          <a:solidFill>
            <a:srgbClr val="F0ECFF"/>
          </a:solidFill>
          <a:ln>
            <a:solidFill>
              <a:srgbClr val="F0EC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7B61FF"/>
                </a:solidFill>
              </a:rPr>
              <a:t>04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6854800" y="4306824"/>
            <a:ext cx="4742536" cy="8503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273043"/>
                </a:solidFill>
              </a:rPr>
              <a:t>Le template lit un signal avec monSignal().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67085"/>
                </a:solidFill>
              </a:rPr>
              <a:t>2/6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DD0031"/>
          </a:solidFill>
          <a:ln w="12700">
            <a:solidFill>
              <a:srgbClr val="DD003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02124"/>
                </a:solidFill>
              </a:rPr>
              <a:t>Rappels — Zone.js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FCE7EC"/>
          </a:solidFill>
          <a:ln>
            <a:solidFill>
              <a:srgbClr val="FCE7EC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D0031"/>
                </a:solidFill>
              </a:rPr>
              <a:t>Angular Signals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11368735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960120"/>
            <a:ext cx="109728" cy="1207008"/>
          </a:xfrm>
          <a:prstGeom prst="rect">
            <a:avLst/>
          </a:prstGeom>
          <a:solidFill>
            <a:srgbClr val="DD0031"/>
          </a:solidFill>
          <a:ln w="12700">
            <a:solidFill>
              <a:srgbClr val="DD003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7512" y="1115568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D0031"/>
                </a:solidFill>
              </a:rPr>
              <a:t>Définition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892808" y="1078992"/>
            <a:ext cx="9631375" cy="7863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73043"/>
                </a:solidFill>
              </a:rPr>
              <a:t>Zone.js intercepte les evenements asynchrones du navigateur et previent Angular qu'un cycle de detection peut etre lance.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11480" y="2788920"/>
            <a:ext cx="5547208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57784" y="2935224"/>
            <a:ext cx="347472" cy="228600"/>
          </a:xfrm>
          <a:prstGeom prst="rect">
            <a:avLst/>
          </a:prstGeom>
          <a:solidFill>
            <a:srgbClr val="FCE7EC"/>
          </a:solidFill>
          <a:ln>
            <a:solidFill>
              <a:srgbClr val="FCE7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D0031"/>
                </a:solidFill>
              </a:rPr>
              <a:t>01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033272" y="2953512"/>
            <a:ext cx="4742536" cy="8503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273043"/>
                </a:solidFill>
              </a:rPr>
              <a:t>Zone.js declenche la detection apres un evenement async.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33008" y="2788920"/>
            <a:ext cx="5547208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9312" y="2935224"/>
            <a:ext cx="347472" cy="228600"/>
          </a:xfrm>
          <a:prstGeom prst="rect">
            <a:avLst/>
          </a:prstGeom>
          <a:solidFill>
            <a:srgbClr val="E8F1FF"/>
          </a:solidFill>
          <a:ln>
            <a:solidFill>
              <a:srgbClr val="E8F1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976D2"/>
                </a:solidFill>
              </a:rPr>
              <a:t>02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6854800" y="2953512"/>
            <a:ext cx="4742536" cy="8503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273043"/>
                </a:solidFill>
              </a:rPr>
              <a:t>Zone.js ne dit pas quel etat applicatif a change.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4142232"/>
            <a:ext cx="5547208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57784" y="4288536"/>
            <a:ext cx="347472" cy="228600"/>
          </a:xfrm>
          <a:prstGeom prst="rect">
            <a:avLst/>
          </a:prstGeom>
          <a:solidFill>
            <a:srgbClr val="EAF7F0"/>
          </a:solidFill>
          <a:ln>
            <a:solidFill>
              <a:srgbClr val="EAF7F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88038"/>
                </a:solidFill>
              </a:rPr>
              <a:t>03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33272" y="4306824"/>
            <a:ext cx="4742536" cy="8503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273043"/>
                </a:solidFill>
              </a:rPr>
              <a:t>Le dojo garde Zone.js pour montrer une migration progressive.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233008" y="4142232"/>
            <a:ext cx="5547208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79312" y="4288536"/>
            <a:ext cx="347472" cy="228600"/>
          </a:xfrm>
          <a:prstGeom prst="rect">
            <a:avLst/>
          </a:prstGeom>
          <a:solidFill>
            <a:srgbClr val="F0ECFF"/>
          </a:solidFill>
          <a:ln>
            <a:solidFill>
              <a:srgbClr val="F0EC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7B61FF"/>
                </a:solidFill>
              </a:rPr>
              <a:t>04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6854800" y="4306824"/>
            <a:ext cx="4742536" cy="8503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273043"/>
                </a:solidFill>
              </a:rPr>
              <a:t>Les Signals rendent les dependances d'etat plus explicites.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67085"/>
                </a:solidFill>
              </a:rPr>
              <a:t>3/6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DD0031"/>
          </a:solidFill>
          <a:ln w="12700">
            <a:solidFill>
              <a:srgbClr val="DD003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02124"/>
                </a:solidFill>
              </a:rPr>
              <a:t>Rappels — RxJS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FCE7EC"/>
          </a:solidFill>
          <a:ln>
            <a:solidFill>
              <a:srgbClr val="FCE7EC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D0031"/>
                </a:solidFill>
              </a:rPr>
              <a:t>Angular Signals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11368735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960120"/>
            <a:ext cx="109728" cy="1207008"/>
          </a:xfrm>
          <a:prstGeom prst="rect">
            <a:avLst/>
          </a:prstGeom>
          <a:solidFill>
            <a:srgbClr val="DD0031"/>
          </a:solidFill>
          <a:ln w="12700">
            <a:solidFill>
              <a:srgbClr val="DD003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7512" y="1115568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D0031"/>
                </a:solidFill>
              </a:rPr>
              <a:t>Définition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892808" y="1078992"/>
            <a:ext cx="9631375" cy="7863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73043"/>
                </a:solidFill>
              </a:rPr>
              <a:t>RxJS sert a modeliser des flux dans le temps : HTTP, route params, evenements, debounceTime, switchMap, combineLatest.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11480" y="2788920"/>
            <a:ext cx="5547208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57784" y="2935224"/>
            <a:ext cx="347472" cy="228600"/>
          </a:xfrm>
          <a:prstGeom prst="rect">
            <a:avLst/>
          </a:prstGeom>
          <a:solidFill>
            <a:srgbClr val="FCE7EC"/>
          </a:solidFill>
          <a:ln>
            <a:solidFill>
              <a:srgbClr val="FCE7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D0031"/>
                </a:solidFill>
              </a:rPr>
              <a:t>01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033272" y="2953512"/>
            <a:ext cx="4742536" cy="8503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273043"/>
                </a:solidFill>
              </a:rPr>
              <a:t>RxJS reste adapte aux flux asynchrones.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33008" y="2788920"/>
            <a:ext cx="5547208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9312" y="2935224"/>
            <a:ext cx="347472" cy="228600"/>
          </a:xfrm>
          <a:prstGeom prst="rect">
            <a:avLst/>
          </a:prstGeom>
          <a:solidFill>
            <a:srgbClr val="E8F1FF"/>
          </a:solidFill>
          <a:ln>
            <a:solidFill>
              <a:srgbClr val="E8F1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976D2"/>
                </a:solidFill>
              </a:rPr>
              <a:t>02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6854800" y="2953512"/>
            <a:ext cx="4742536" cy="8503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273043"/>
                </a:solidFill>
              </a:rPr>
              <a:t>toSignal() expose la derniere valeur d'un Observable comme signal.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4142232"/>
            <a:ext cx="5547208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57784" y="4288536"/>
            <a:ext cx="347472" cy="228600"/>
          </a:xfrm>
          <a:prstGeom prst="rect">
            <a:avLst/>
          </a:prstGeom>
          <a:solidFill>
            <a:srgbClr val="EAF7F0"/>
          </a:solidFill>
          <a:ln>
            <a:solidFill>
              <a:srgbClr val="EAF7F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88038"/>
                </a:solidFill>
              </a:rPr>
              <a:t>03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33272" y="4306824"/>
            <a:ext cx="4742536" cy="8503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273043"/>
                </a:solidFill>
              </a:rPr>
              <a:t>toObservable() expose un signal comme Observable.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233008" y="4142232"/>
            <a:ext cx="5547208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79312" y="4288536"/>
            <a:ext cx="347472" cy="228600"/>
          </a:xfrm>
          <a:prstGeom prst="rect">
            <a:avLst/>
          </a:prstGeom>
          <a:solidFill>
            <a:srgbClr val="F0ECFF"/>
          </a:solidFill>
          <a:ln>
            <a:solidFill>
              <a:srgbClr val="F0EC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7B61FF"/>
                </a:solidFill>
              </a:rPr>
              <a:t>04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6854800" y="4306824"/>
            <a:ext cx="4742536" cy="8503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273043"/>
                </a:solidFill>
              </a:rPr>
              <a:t>Le but est de placer clairement la frontiere entre flux RxJS et etat signal.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67085"/>
                </a:solidFill>
              </a:rPr>
              <a:t>4/6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DD0031"/>
          </a:solidFill>
          <a:ln w="12700">
            <a:solidFill>
              <a:srgbClr val="DD003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02124"/>
                </a:solidFill>
              </a:rPr>
              <a:t>Structure des branches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FCE7EC"/>
          </a:solidFill>
          <a:ln>
            <a:solidFill>
              <a:srgbClr val="FCE7EC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D0031"/>
                </a:solidFill>
              </a:rPr>
              <a:t>Angular Signals</a:t>
            </a:r>
            <a:endParaRPr lang="en-US" sz="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932688"/>
          <a:ext cx="11368735" cy="1554480"/>
        </p:xfrm>
        <a:graphic>
          <a:graphicData uri="http://schemas.openxmlformats.org/drawingml/2006/table">
            <a:tbl>
              <a:tblPr/>
              <a:tblGrid>
                <a:gridCol w="5684368"/>
                <a:gridCol w="5684368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b="1" dirty="0">
                          <a:solidFill>
                            <a:srgbClr val="FFFFFF"/>
                          </a:solidFill>
                        </a:rPr>
                        <a:t>Branche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00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b="1" dirty="0">
                          <a:solidFill>
                            <a:srgbClr val="FFFFFF"/>
                          </a:solidFill>
                        </a:rPr>
                        <a:t>Role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003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273043"/>
                          </a:solidFill>
                        </a:rPr>
                        <a:t>main / init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273043"/>
                          </a:solidFill>
                        </a:rPr>
                        <a:t>base sans correction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273043"/>
                          </a:solidFill>
                        </a:rPr>
                        <a:t>exercice-1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273043"/>
                          </a:solidFill>
                        </a:rPr>
                        <a:t>correction exercice 1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273043"/>
                          </a:solidFill>
                        </a:rPr>
                        <a:t>exercice-2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273043"/>
                          </a:solidFill>
                        </a:rPr>
                        <a:t>corrections exercices 1 + 2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273043"/>
                          </a:solidFill>
                        </a:rPr>
                        <a:t>exercice-N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273043"/>
                          </a:solidFill>
                        </a:rPr>
                        <a:t>corrections cumulees jusqu'a N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67085"/>
                </a:solidFill>
              </a:rPr>
              <a:t>5/6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DD0031"/>
          </a:solidFill>
          <a:ln w="12700">
            <a:solidFill>
              <a:srgbClr val="DD003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02124"/>
                </a:solidFill>
              </a:rPr>
              <a:t>Exercices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FCE7EC"/>
          </a:solidFill>
          <a:ln>
            <a:solidFill>
              <a:srgbClr val="FCE7EC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D0031"/>
                </a:solidFill>
              </a:rPr>
              <a:t>Angular Signals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11480" y="932688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932688"/>
            <a:ext cx="73152" cy="1170432"/>
          </a:xfrm>
          <a:prstGeom prst="rect">
            <a:avLst/>
          </a:prstGeom>
          <a:solidFill>
            <a:srgbClr val="DD0031"/>
          </a:solidFill>
          <a:ln w="12700">
            <a:solidFill>
              <a:srgbClr val="DD003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76072" y="104241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DD0031"/>
                </a:solidFill>
              </a:rPr>
              <a:t>1 — signal()</a:t>
            </a:r>
            <a:endParaRPr lang="en-US" sz="820" dirty="0"/>
          </a:p>
        </p:txBody>
      </p:sp>
      <p:sp>
        <p:nvSpPr>
          <p:cNvPr id="8" name="Text 6"/>
          <p:cNvSpPr/>
          <p:nvPr/>
        </p:nvSpPr>
        <p:spPr>
          <a:xfrm>
            <a:off x="2039112" y="1042416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67085"/>
                </a:solidFill>
              </a:rPr>
              <a:t>Valeur reactive mutable lue avec ().</a:t>
            </a:r>
            <a:endParaRPr lang="en-US" sz="680" dirty="0"/>
          </a:p>
        </p:txBody>
      </p:sp>
      <p:sp>
        <p:nvSpPr>
          <p:cNvPr id="9" name="Text 7"/>
          <p:cNvSpPr/>
          <p:nvPr/>
        </p:nvSpPr>
        <p:spPr>
          <a:xfrm>
            <a:off x="576072" y="1298448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1976D2"/>
                </a:solidFill>
              </a:rPr>
              <a:t>clients/pages/clients/clients.component.ts</a:t>
            </a:r>
            <a:endParaRPr lang="en-US" sz="580" dirty="0"/>
          </a:p>
        </p:txBody>
      </p:sp>
      <p:sp>
        <p:nvSpPr>
          <p:cNvPr id="10" name="Text 8"/>
          <p:cNvSpPr/>
          <p:nvPr/>
        </p:nvSpPr>
        <p:spPr>
          <a:xfrm>
            <a:off x="2551176" y="1289304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73043"/>
                </a:solidFill>
              </a:rPr>
              <a:t>Convertir l'etat adding en signal. Le template doit afficher le formulaire a partir de ce nouvel etat reactif.</a:t>
            </a:r>
            <a:endParaRPr lang="en-US" sz="680" dirty="0"/>
          </a:p>
        </p:txBody>
      </p:sp>
      <p:sp>
        <p:nvSpPr>
          <p:cNvPr id="11" name="Shape 9"/>
          <p:cNvSpPr/>
          <p:nvPr/>
        </p:nvSpPr>
        <p:spPr>
          <a:xfrm>
            <a:off x="411480" y="2203704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1480" y="2203704"/>
            <a:ext cx="73152" cy="1170432"/>
          </a:xfrm>
          <a:prstGeom prst="rect">
            <a:avLst/>
          </a:prstGeom>
          <a:solidFill>
            <a:srgbClr val="1976D2"/>
          </a:solidFill>
          <a:ln w="12700">
            <a:solidFill>
              <a:srgbClr val="1976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76072" y="2313432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1976D2"/>
                </a:solidFill>
              </a:rPr>
              <a:t>2 — computed()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2039112" y="2313432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67085"/>
                </a:solidFill>
              </a:rPr>
              <a:t>Valeur derivee en lecture seule.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576072" y="2569464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1976D2"/>
                </a:solidFill>
              </a:rPr>
              <a:t>accounts/services/accounts.facade.ts</a:t>
            </a:r>
            <a:endParaRPr lang="en-US" sz="580" dirty="0"/>
          </a:p>
          <a:p>
            <a:pPr indent="0" marL="0">
              <a:buNone/>
            </a:pPr>
            <a:r>
              <a:rPr lang="en-US" sz="580" dirty="0">
                <a:solidFill>
                  <a:srgbClr val="1976D2"/>
                </a:solidFill>
              </a:rPr>
              <a:t>accounts/pages/accounts/accounts.component.*</a:t>
            </a:r>
            <a:endParaRPr lang="en-US" sz="580" dirty="0"/>
          </a:p>
        </p:txBody>
      </p:sp>
      <p:sp>
        <p:nvSpPr>
          <p:cNvPr id="16" name="Text 14"/>
          <p:cNvSpPr/>
          <p:nvPr/>
        </p:nvSpPr>
        <p:spPr>
          <a:xfrm>
            <a:off x="2551176" y="2560320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73043"/>
                </a:solidFill>
              </a:rPr>
              <a:t>Transformer blockedAccountsCount en valeur derivee de la facade. La page accounts doit afficher ce compteur sans recalculer elle-meme la regle.</a:t>
            </a:r>
            <a:endParaRPr lang="en-US" sz="680" dirty="0"/>
          </a:p>
        </p:txBody>
      </p:sp>
      <p:sp>
        <p:nvSpPr>
          <p:cNvPr id="17" name="Shape 15"/>
          <p:cNvSpPr/>
          <p:nvPr/>
        </p:nvSpPr>
        <p:spPr>
          <a:xfrm>
            <a:off x="411480" y="3474720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1480" y="3474720"/>
            <a:ext cx="73152" cy="1170432"/>
          </a:xfrm>
          <a:prstGeom prst="rect">
            <a:avLst/>
          </a:prstGeom>
          <a:solidFill>
            <a:srgbClr val="DD0031"/>
          </a:solidFill>
          <a:ln w="12700">
            <a:solidFill>
              <a:srgbClr val="DD003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6072" y="3584448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DD0031"/>
                </a:solidFill>
              </a:rPr>
              <a:t>3 — effect()</a:t>
            </a:r>
            <a:endParaRPr lang="en-US" sz="820" dirty="0"/>
          </a:p>
        </p:txBody>
      </p:sp>
      <p:sp>
        <p:nvSpPr>
          <p:cNvPr id="20" name="Text 18"/>
          <p:cNvSpPr/>
          <p:nvPr/>
        </p:nvSpPr>
        <p:spPr>
          <a:xfrm>
            <a:off x="2039112" y="3584448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67085"/>
                </a:solidFill>
              </a:rPr>
              <a:t>Effet de bord declenche par les signals lus.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576072" y="3840480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1976D2"/>
                </a:solidFill>
              </a:rPr>
              <a:t>clients/pages/clients/clients.component.ts</a:t>
            </a:r>
            <a:endParaRPr lang="en-US" sz="580" dirty="0"/>
          </a:p>
        </p:txBody>
      </p:sp>
      <p:sp>
        <p:nvSpPr>
          <p:cNvPr id="22" name="Text 20"/>
          <p:cNvSpPr/>
          <p:nvPr/>
        </p:nvSpPr>
        <p:spPr>
          <a:xfrm>
            <a:off x="2551176" y="3831336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73043"/>
                </a:solidFill>
              </a:rPr>
              <a:t>Remplacer le recalage imperatif de la page courante par une reaction automatique. Quand la liste change, la page selectionnee doit rester valide.</a:t>
            </a:r>
            <a:endParaRPr lang="en-US" sz="680" dirty="0"/>
          </a:p>
        </p:txBody>
      </p:sp>
      <p:sp>
        <p:nvSpPr>
          <p:cNvPr id="23" name="Shape 21"/>
          <p:cNvSpPr/>
          <p:nvPr/>
        </p:nvSpPr>
        <p:spPr>
          <a:xfrm>
            <a:off x="411480" y="4745736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11480" y="4745736"/>
            <a:ext cx="73152" cy="1170432"/>
          </a:xfrm>
          <a:prstGeom prst="rect">
            <a:avLst/>
          </a:prstGeom>
          <a:solidFill>
            <a:srgbClr val="1976D2"/>
          </a:solidFill>
          <a:ln w="12700">
            <a:solidFill>
              <a:srgbClr val="1976D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76072" y="4855464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1976D2"/>
                </a:solidFill>
              </a:rPr>
              <a:t>4 — viewChild() + effect()</a:t>
            </a:r>
            <a:endParaRPr lang="en-US" sz="820" dirty="0"/>
          </a:p>
        </p:txBody>
      </p:sp>
      <p:sp>
        <p:nvSpPr>
          <p:cNvPr id="26" name="Text 24"/>
          <p:cNvSpPr/>
          <p:nvPr/>
        </p:nvSpPr>
        <p:spPr>
          <a:xfrm>
            <a:off x="2039112" y="4855464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67085"/>
                </a:solidFill>
              </a:rPr>
              <a:t>Reference DOM exposee comme signal, puis effet DOM.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576072" y="5111496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1976D2"/>
                </a:solidFill>
              </a:rPr>
              <a:t>clients/pages/clients/clients.component.ts</a:t>
            </a:r>
            <a:endParaRPr lang="en-US" sz="580" dirty="0"/>
          </a:p>
        </p:txBody>
      </p:sp>
      <p:sp>
        <p:nvSpPr>
          <p:cNvPr id="28" name="Text 26"/>
          <p:cNvSpPr/>
          <p:nvPr/>
        </p:nvSpPr>
        <p:spPr>
          <a:xfrm>
            <a:off x="2551176" y="5102352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73043"/>
                </a:solidFill>
              </a:rPr>
              <a:t>Remplacer la reference DOM classique du champ prenom par une reference signal, puis declencher le focus quand ce champ apparait.</a:t>
            </a:r>
            <a:endParaRPr lang="en-US" sz="680" dirty="0"/>
          </a:p>
        </p:txBody>
      </p:sp>
      <p:sp>
        <p:nvSpPr>
          <p:cNvPr id="29" name="Shape 27"/>
          <p:cNvSpPr/>
          <p:nvPr/>
        </p:nvSpPr>
        <p:spPr>
          <a:xfrm>
            <a:off x="6205576" y="932688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05576" y="932688"/>
            <a:ext cx="73152" cy="1170432"/>
          </a:xfrm>
          <a:prstGeom prst="rect">
            <a:avLst/>
          </a:prstGeom>
          <a:solidFill>
            <a:srgbClr val="DD0031"/>
          </a:solidFill>
          <a:ln w="12700">
            <a:solidFill>
              <a:srgbClr val="DD003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370168" y="104241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DD0031"/>
                </a:solidFill>
              </a:rPr>
              <a:t>5 — input()</a:t>
            </a:r>
            <a:endParaRPr lang="en-US" sz="820" dirty="0"/>
          </a:p>
        </p:txBody>
      </p:sp>
      <p:sp>
        <p:nvSpPr>
          <p:cNvPr id="32" name="Text 30"/>
          <p:cNvSpPr/>
          <p:nvPr/>
        </p:nvSpPr>
        <p:spPr>
          <a:xfrm>
            <a:off x="7833208" y="1042416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67085"/>
                </a:solidFill>
              </a:rPr>
              <a:t>Entree de composant exposee comme signal.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6370168" y="1298448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1976D2"/>
                </a:solidFill>
              </a:rPr>
              <a:t>accounts/components/account-card/account-card.component.ts</a:t>
            </a:r>
            <a:endParaRPr lang="en-US" sz="580" dirty="0"/>
          </a:p>
        </p:txBody>
      </p:sp>
      <p:sp>
        <p:nvSpPr>
          <p:cNvPr id="34" name="Text 32"/>
          <p:cNvSpPr/>
          <p:nvPr/>
        </p:nvSpPr>
        <p:spPr>
          <a:xfrm>
            <a:off x="8345272" y="1289304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73043"/>
                </a:solidFill>
              </a:rPr>
              <a:t>Convertir showStatus en input signal. Le libelle de statut doit reagir correctement quand le parent choisit d'afficher ou masquer ce statut.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6205576" y="2203704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205576" y="2203704"/>
            <a:ext cx="73152" cy="1170432"/>
          </a:xfrm>
          <a:prstGeom prst="rect">
            <a:avLst/>
          </a:prstGeom>
          <a:solidFill>
            <a:srgbClr val="1976D2"/>
          </a:solidFill>
          <a:ln w="12700">
            <a:solidFill>
              <a:srgbClr val="1976D2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370168" y="2313432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1976D2"/>
                </a:solidFill>
              </a:rPr>
              <a:t>6 — output()</a:t>
            </a:r>
            <a:endParaRPr lang="en-US" sz="820" dirty="0"/>
          </a:p>
        </p:txBody>
      </p:sp>
      <p:sp>
        <p:nvSpPr>
          <p:cNvPr id="38" name="Text 36"/>
          <p:cNvSpPr/>
          <p:nvPr/>
        </p:nvSpPr>
        <p:spPr>
          <a:xfrm>
            <a:off x="7833208" y="2313432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67085"/>
                </a:solidFill>
              </a:rPr>
              <a:t>Evenement emis par l'enfant vers le parent.</a:t>
            </a:r>
            <a:endParaRPr lang="en-US" sz="680" dirty="0"/>
          </a:p>
        </p:txBody>
      </p:sp>
      <p:sp>
        <p:nvSpPr>
          <p:cNvPr id="39" name="Text 37"/>
          <p:cNvSpPr/>
          <p:nvPr/>
        </p:nvSpPr>
        <p:spPr>
          <a:xfrm>
            <a:off x="6370168" y="2569464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1976D2"/>
                </a:solidFill>
              </a:rPr>
              <a:t>accounts/components/account-list/account-list.component.ts</a:t>
            </a:r>
            <a:endParaRPr lang="en-US" sz="580" dirty="0"/>
          </a:p>
        </p:txBody>
      </p:sp>
      <p:sp>
        <p:nvSpPr>
          <p:cNvPr id="40" name="Text 38"/>
          <p:cNvSpPr/>
          <p:nvPr/>
        </p:nvSpPr>
        <p:spPr>
          <a:xfrm>
            <a:off x="8345272" y="2560320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73043"/>
                </a:solidFill>
              </a:rPr>
              <a:t>Remplacer la sortie legacy selectedRequested par output(). La liste doit continuer a emettre la selection vers le parent.</a:t>
            </a:r>
            <a:endParaRPr lang="en-US" sz="680" dirty="0"/>
          </a:p>
        </p:txBody>
      </p:sp>
      <p:sp>
        <p:nvSpPr>
          <p:cNvPr id="41" name="Shape 39"/>
          <p:cNvSpPr/>
          <p:nvPr/>
        </p:nvSpPr>
        <p:spPr>
          <a:xfrm>
            <a:off x="6205576" y="3474720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205576" y="3474720"/>
            <a:ext cx="73152" cy="1170432"/>
          </a:xfrm>
          <a:prstGeom prst="rect">
            <a:avLst/>
          </a:prstGeom>
          <a:solidFill>
            <a:srgbClr val="DD0031"/>
          </a:solidFill>
          <a:ln w="12700">
            <a:solidFill>
              <a:srgbClr val="DD003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70168" y="3584448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DD0031"/>
                </a:solidFill>
              </a:rPr>
              <a:t>7 — toSignal() / toObservable()</a:t>
            </a:r>
            <a:endParaRPr lang="en-US" sz="820" dirty="0"/>
          </a:p>
        </p:txBody>
      </p:sp>
      <p:sp>
        <p:nvSpPr>
          <p:cNvPr id="44" name="Text 42"/>
          <p:cNvSpPr/>
          <p:nvPr/>
        </p:nvSpPr>
        <p:spPr>
          <a:xfrm>
            <a:off x="7833208" y="3584448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67085"/>
                </a:solidFill>
              </a:rPr>
              <a:t>Pont entre Observable RxJS et signal Angular.</a:t>
            </a:r>
            <a:endParaRPr lang="en-US" sz="680" dirty="0"/>
          </a:p>
        </p:txBody>
      </p:sp>
      <p:sp>
        <p:nvSpPr>
          <p:cNvPr id="45" name="Text 43"/>
          <p:cNvSpPr/>
          <p:nvPr/>
        </p:nvSpPr>
        <p:spPr>
          <a:xfrm>
            <a:off x="6370168" y="3840480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1976D2"/>
                </a:solidFill>
              </a:rPr>
              <a:t>accounts/pages/accounts/accounts.component.ts</a:t>
            </a:r>
            <a:endParaRPr lang="en-US" sz="580" dirty="0"/>
          </a:p>
          <a:p>
            <a:pPr indent="0" marL="0">
              <a:buNone/>
            </a:pPr>
            <a:r>
              <a:rPr lang="en-US" sz="580" dirty="0">
                <a:solidFill>
                  <a:srgbClr val="1976D2"/>
                </a:solidFill>
              </a:rPr>
              <a:t>clients/pages/dashboard/dashboard.component.ts</a:t>
            </a:r>
            <a:endParaRPr lang="en-US" sz="580" dirty="0"/>
          </a:p>
          <a:p>
            <a:pPr indent="0" marL="0">
              <a:buNone/>
            </a:pPr>
            <a:r>
              <a:rPr lang="en-US" sz="580" dirty="0">
                <a:solidFill>
                  <a:srgbClr val="1976D2"/>
                </a:solidFill>
              </a:rPr>
              <a:t>clients/pages/clients/clients.component.ts</a:t>
            </a:r>
            <a:endParaRPr lang="en-US" sz="580" dirty="0"/>
          </a:p>
        </p:txBody>
      </p:sp>
      <p:sp>
        <p:nvSpPr>
          <p:cNvPr id="46" name="Text 44"/>
          <p:cNvSpPr/>
          <p:nvPr/>
        </p:nvSpPr>
        <p:spPr>
          <a:xfrm>
            <a:off x="8345272" y="3831336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73043"/>
                </a:solidFill>
              </a:rPr>
              <a:t>Remplacer la souscription manuelle a la route par toSignal(), exposer le chargement dashboard comme signal, et identifier le pont inverse toObservable() pour la recherche debouncee.</a:t>
            </a:r>
            <a:endParaRPr lang="en-US" sz="680" dirty="0"/>
          </a:p>
        </p:txBody>
      </p:sp>
      <p:sp>
        <p:nvSpPr>
          <p:cNvPr id="47" name="Shape 45"/>
          <p:cNvSpPr/>
          <p:nvPr/>
        </p:nvSpPr>
        <p:spPr>
          <a:xfrm>
            <a:off x="6205576" y="4745736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205576" y="4745736"/>
            <a:ext cx="73152" cy="1170432"/>
          </a:xfrm>
          <a:prstGeom prst="rect">
            <a:avLst/>
          </a:prstGeom>
          <a:solidFill>
            <a:srgbClr val="1976D2"/>
          </a:solidFill>
          <a:ln w="12700">
            <a:solidFill>
              <a:srgbClr val="1976D2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70168" y="4855464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1976D2"/>
                </a:solidFill>
              </a:rPr>
              <a:t>8 — computed() facade</a:t>
            </a:r>
            <a:endParaRPr lang="en-US" sz="820" dirty="0"/>
          </a:p>
        </p:txBody>
      </p:sp>
      <p:sp>
        <p:nvSpPr>
          <p:cNvPr id="50" name="Text 48"/>
          <p:cNvSpPr/>
          <p:nvPr/>
        </p:nvSpPr>
        <p:spPr>
          <a:xfrm>
            <a:off x="7833208" y="4855464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67085"/>
                </a:solidFill>
              </a:rPr>
              <a:t>Vue derivee de l'etat metier dans une facade.</a:t>
            </a:r>
            <a:endParaRPr lang="en-US" sz="680" dirty="0"/>
          </a:p>
        </p:txBody>
      </p:sp>
      <p:sp>
        <p:nvSpPr>
          <p:cNvPr id="51" name="Text 49"/>
          <p:cNvSpPr/>
          <p:nvPr/>
        </p:nvSpPr>
        <p:spPr>
          <a:xfrm>
            <a:off x="6370168" y="5111496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1976D2"/>
                </a:solidFill>
              </a:rPr>
              <a:t>accounts/services/accounts.facade.ts</a:t>
            </a:r>
            <a:endParaRPr lang="en-US" sz="580" dirty="0"/>
          </a:p>
          <a:p>
            <a:pPr indent="0" marL="0">
              <a:buNone/>
            </a:pPr>
            <a:r>
              <a:rPr lang="en-US" sz="580" dirty="0">
                <a:solidFill>
                  <a:srgbClr val="1976D2"/>
                </a:solidFill>
              </a:rPr>
              <a:t>accounts/pages/accounts/accounts.component.*</a:t>
            </a:r>
            <a:endParaRPr lang="en-US" sz="580" dirty="0"/>
          </a:p>
        </p:txBody>
      </p:sp>
      <p:sp>
        <p:nvSpPr>
          <p:cNvPr id="52" name="Text 50"/>
          <p:cNvSpPr/>
          <p:nvPr/>
        </p:nvSpPr>
        <p:spPr>
          <a:xfrm>
            <a:off x="8345272" y="5102352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73043"/>
                </a:solidFill>
              </a:rPr>
              <a:t>Ajouter hasActiveFilter comme valeur derivee de la facade. Le message vide doit dependre de cette regle exposee par la facade.</a:t>
            </a:r>
            <a:endParaRPr lang="en-US" sz="680" dirty="0"/>
          </a:p>
        </p:txBody>
      </p:sp>
      <p:sp>
        <p:nvSpPr>
          <p:cNvPr id="53" name="Shape 51"/>
          <p:cNvSpPr/>
          <p:nvPr/>
        </p:nvSpPr>
        <p:spPr>
          <a:xfrm>
            <a:off x="411480" y="5989320"/>
            <a:ext cx="11368735" cy="384048"/>
          </a:xfrm>
          <a:prstGeom prst="roundRect">
            <a:avLst>
              <a:gd name="adj" fmla="val 14286"/>
            </a:avLst>
          </a:prstGeom>
          <a:solidFill>
            <a:srgbClr val="EAF7F0"/>
          </a:solidFill>
          <a:ln w="12700">
            <a:solidFill>
              <a:srgbClr val="B7E4C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6072" y="6080760"/>
            <a:ext cx="11039551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273043"/>
                </a:solidFill>
              </a:rPr>
              <a:t>Rappel tests : les tests ne sont pas l'objectif principal du dojo. S'ils echouent a cause de la migration demandee, corriger les erreurs pour refleter le nouveau comportement.</a:t>
            </a:r>
            <a:endParaRPr lang="en-US" sz="780" dirty="0"/>
          </a:p>
        </p:txBody>
      </p:sp>
      <p:sp>
        <p:nvSpPr>
          <p:cNvPr id="55" name="Text 53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67085"/>
                </a:solidFill>
              </a:rPr>
              <a:t>6/6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Dojo Angular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Angular 21 Signals - Support de presentation dojo</dc:title>
  <dc:subject>Angular 21 Signals</dc:subject>
  <dc:creator>Dojo Angular Signals</dc:creator>
  <cp:lastModifiedBy>Dojo Angular Signals</cp:lastModifiedBy>
  <cp:revision>1</cp:revision>
  <dcterms:created xsi:type="dcterms:W3CDTF">2026-06-10T19:25:27Z</dcterms:created>
  <dcterms:modified xsi:type="dcterms:W3CDTF">2026-06-10T19:25:27Z</dcterms:modified>
</cp:coreProperties>
</file>