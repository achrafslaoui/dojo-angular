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 en zoneless : seuls les lecteurs directs sont mis a jour. async pipe : composant + parents verifies via markForCheck(), DOM mis a jour seulement si quelque chose a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table couvre les APIs utilisées ou citées dans ce support. Elle ne prétend pas lister toute l'API Angular.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exercices couvrent des primitives Angular avancées. Ils peuvent être traités en autonomie après les exercices socle (1 à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rxResource() applique le modèle resource à un Observable RxJS et expose value(), isLoading() et error().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Zoneless, afterEveryRender() ne se declenche que quand Angular a un rendu a effectuer — beaucoup plus previsible qu'en Zone.js.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71800" cy="685800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64592"/>
            <a:ext cx="109728" cy="6528816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02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BNP Paribas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0241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FF2EA"/>
                </a:solidFill>
              </a:rPr>
              <a:t>Angular Dojo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520440" y="1417320"/>
            <a:ext cx="8122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B2B2A"/>
                </a:solidFill>
              </a:rPr>
              <a:t>Angular 21 Signals — Dojo court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566160" y="2788920"/>
            <a:ext cx="8076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1716F"/>
                </a:solidFill>
              </a:rPr>
              <a:t>Support de présentation dojo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66160" y="4160520"/>
            <a:ext cx="4114800" cy="31089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Angular 21 · Signals · Zone.js · RxJS interop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1/17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CFEDE2"/>
          </a:solidFill>
          <a:ln w="12700">
            <a:solidFill>
              <a:srgbClr val="CFED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8A5B"/>
                </a:solidFill>
              </a:rPr>
              <a:t>Signal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A5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Un signal est une valeur reactive lue avec (). Quand sa valeur change, Angular sait quelles lectures dependent de cette valeur.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dépend de cette valeur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A5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Representer explicitement un etat reactive dans l'application.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Notifier Angular des lectures dependantes quand la valeur change.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2/17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A5B"/>
                </a:solidFill>
              </a:rPr>
              <a:t>Signal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Un signal se lit avec () et se modifie avec .set() ou .update().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computed() derive une valeur ; effect() declenche un effet de bord.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3/17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E8F2EF"/>
          </a:solidFill>
          <a:ln w="12700">
            <a:solidFill>
              <a:srgbClr val="E8F2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6B4F"/>
                </a:solidFill>
              </a:rPr>
              <a:t>Zone.js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B4F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Zone.js intercepte les evenements asynchrones du navigateur et previent Angular qu'un cycle de detection peut etre lance.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6B4F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déclenche la détection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B4F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Declencher la detection de changement apres une tache asynchrone.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Fournir le comportement historique d'Angular sans appels manuels de detection.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4/17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B4F"/>
                </a:solidFill>
              </a:rPr>
              <a:t>Zone.js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Zone.js ne modelise pas l'etat applicatif et ne sait pas quelle valeur a change.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Les Signals completent ce mecanisme en rendant les dependances d'etat explicites.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5/17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DFF2EA"/>
          </a:solidFill>
          <a:ln w="12700">
            <a:solidFill>
              <a:srgbClr val="DFF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A86B"/>
                </a:solidFill>
              </a:rPr>
              <a:t>RxJS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86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RxJS sert a modeliser des flux dans le temps : HTTP, route params, evenements, debounceTime, switchMap, combineLatest.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Où placer la frontière avec Signals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6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Modeliser et composer des donnees qui arrivent dans le temps.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Gerer les transformations asynchrones avec des operateurs comme switchMap ou debounceTime.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6/17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RxJS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toSignal() expose la derniere valeur d'un Observable comme signal.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toObservable() permet de repasser d'un signal vers un flux Observable.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7/17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Modes de détection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411480" y="932688"/>
            <a:ext cx="685800" cy="310896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48056" y="960120"/>
            <a:ext cx="61264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</a:rPr>
              <a:t>Déclencheur</a:t>
            </a:r>
            <a:endParaRPr lang="en-US" sz="780" dirty="0"/>
          </a:p>
        </p:txBody>
      </p:sp>
      <p:sp>
        <p:nvSpPr>
          <p:cNvPr id="8" name="Shape 5"/>
          <p:cNvSpPr/>
          <p:nvPr/>
        </p:nvSpPr>
        <p:spPr>
          <a:xfrm>
            <a:off x="1097280" y="932688"/>
            <a:ext cx="2240280" cy="310896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133856" y="960120"/>
            <a:ext cx="216712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</a:rPr>
              <a:t>Zone.js (défaut)</a:t>
            </a:r>
            <a:endParaRPr lang="en-US" sz="780" dirty="0"/>
          </a:p>
        </p:txBody>
      </p:sp>
      <p:sp>
        <p:nvSpPr>
          <p:cNvPr id="10" name="Shape 7"/>
          <p:cNvSpPr/>
          <p:nvPr/>
        </p:nvSpPr>
        <p:spPr>
          <a:xfrm>
            <a:off x="3337560" y="932688"/>
            <a:ext cx="2606040" cy="310896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74136" y="960120"/>
            <a:ext cx="253288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</a:rPr>
              <a:t>Zone.js + OnPush</a:t>
            </a:r>
            <a:endParaRPr lang="en-US" sz="780" dirty="0"/>
          </a:p>
        </p:txBody>
      </p:sp>
      <p:sp>
        <p:nvSpPr>
          <p:cNvPr id="12" name="Shape 9"/>
          <p:cNvSpPr/>
          <p:nvPr/>
        </p:nvSpPr>
        <p:spPr>
          <a:xfrm>
            <a:off x="5943600" y="932688"/>
            <a:ext cx="5836615" cy="310896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80176" y="960120"/>
            <a:ext cx="576346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</a:rPr>
              <a:t>Zoneless</a:t>
            </a:r>
            <a:endParaRPr lang="en-US" sz="780" dirty="0"/>
          </a:p>
        </p:txBody>
      </p:sp>
      <p:sp>
        <p:nvSpPr>
          <p:cNvPr id="14" name="Shape 11"/>
          <p:cNvSpPr/>
          <p:nvPr/>
        </p:nvSpPr>
        <p:spPr>
          <a:xfrm>
            <a:off x="411480" y="1243584"/>
            <a:ext cx="6858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8056" y="1271016"/>
            <a:ext cx="61264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Evenement async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097280" y="1243584"/>
            <a:ext cx="22402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33856" y="1271016"/>
            <a:ext cx="216712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Tout l'arbre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3337560" y="1243584"/>
            <a:ext cx="26060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374136" y="1271016"/>
            <a:ext cx="253288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Sous-arbre marked dirty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5943600" y="1243584"/>
            <a:ext cx="5836615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80176" y="1271016"/>
            <a:ext cx="576346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Aucun déclencheur automatique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411480" y="1554480"/>
            <a:ext cx="685800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48056" y="1581912"/>
            <a:ext cx="61264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@Input() change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1097280" y="1554480"/>
            <a:ext cx="2240280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33856" y="1581912"/>
            <a:ext cx="216712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✓</a:t>
            </a:r>
            <a:endParaRPr lang="en-US" sz="780" dirty="0"/>
          </a:p>
        </p:txBody>
      </p:sp>
      <p:sp>
        <p:nvSpPr>
          <p:cNvPr id="26" name="Shape 23"/>
          <p:cNvSpPr/>
          <p:nvPr/>
        </p:nvSpPr>
        <p:spPr>
          <a:xfrm>
            <a:off x="3337560" y="1554480"/>
            <a:ext cx="2606040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374136" y="1581912"/>
            <a:ext cx="253288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✓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5943600" y="1554480"/>
            <a:ext cx="5836615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80176" y="1581912"/>
            <a:ext cx="576346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Aucun effet — utiliser input()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411480" y="1865376"/>
            <a:ext cx="6858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48056" y="1892808"/>
            <a:ext cx="61264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input() / signal change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1097280" y="1865376"/>
            <a:ext cx="22402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133856" y="1892808"/>
            <a:ext cx="216712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✓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3337560" y="1865376"/>
            <a:ext cx="26060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3374136" y="1892808"/>
            <a:ext cx="253288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✓</a:t>
            </a:r>
            <a:endParaRPr lang="en-US" sz="780" dirty="0"/>
          </a:p>
        </p:txBody>
      </p:sp>
      <p:sp>
        <p:nvSpPr>
          <p:cNvPr id="36" name="Shape 33"/>
          <p:cNvSpPr/>
          <p:nvPr/>
        </p:nvSpPr>
        <p:spPr>
          <a:xfrm>
            <a:off x="5943600" y="1865376"/>
            <a:ext cx="5836615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980176" y="1892808"/>
            <a:ext cx="576346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✓</a:t>
            </a:r>
            <a:endParaRPr lang="en-US" sz="780" dirty="0"/>
          </a:p>
        </p:txBody>
      </p:sp>
      <p:sp>
        <p:nvSpPr>
          <p:cNvPr id="38" name="Shape 35"/>
          <p:cNvSpPr/>
          <p:nvPr/>
        </p:nvSpPr>
        <p:spPr>
          <a:xfrm>
            <a:off x="411480" y="2176272"/>
            <a:ext cx="685800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8056" y="2203704"/>
            <a:ext cx="61264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async pipe</a:t>
            </a:r>
            <a:endParaRPr lang="en-US" sz="780" dirty="0"/>
          </a:p>
        </p:txBody>
      </p:sp>
      <p:sp>
        <p:nvSpPr>
          <p:cNvPr id="40" name="Shape 37"/>
          <p:cNvSpPr/>
          <p:nvPr/>
        </p:nvSpPr>
        <p:spPr>
          <a:xfrm>
            <a:off x="1097280" y="2176272"/>
            <a:ext cx="2240280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133856" y="2203704"/>
            <a:ext cx="216712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✓</a:t>
            </a:r>
            <a:endParaRPr lang="en-US" sz="780" dirty="0"/>
          </a:p>
        </p:txBody>
      </p:sp>
      <p:sp>
        <p:nvSpPr>
          <p:cNvPr id="42" name="Shape 39"/>
          <p:cNvSpPr/>
          <p:nvPr/>
        </p:nvSpPr>
        <p:spPr>
          <a:xfrm>
            <a:off x="3337560" y="2176272"/>
            <a:ext cx="2606040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3374136" y="2203704"/>
            <a:ext cx="253288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✓</a:t>
            </a:r>
            <a:endParaRPr lang="en-US" sz="780" dirty="0"/>
          </a:p>
        </p:txBody>
      </p:sp>
      <p:sp>
        <p:nvSpPr>
          <p:cNvPr id="44" name="Shape 41"/>
          <p:cNvSpPr/>
          <p:nvPr/>
        </p:nvSpPr>
        <p:spPr>
          <a:xfrm>
            <a:off x="5943600" y="2176272"/>
            <a:ext cx="5836615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5980176" y="2203704"/>
            <a:ext cx="576346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63B38"/>
                </a:solidFill>
              </a:rPr>
              <a:t>Composant + parents verifies (markForCheck)</a:t>
            </a:r>
            <a:endParaRPr lang="en-US" sz="780" dirty="0"/>
          </a:p>
        </p:txBody>
      </p:sp>
      <p:sp>
        <p:nvSpPr>
          <p:cNvPr id="46" name="Text 43"/>
          <p:cNvSpPr/>
          <p:nvPr/>
        </p:nvSpPr>
        <p:spPr>
          <a:xfrm>
            <a:off x="411480" y="2651760"/>
            <a:ext cx="11368735" cy="786384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Zone.js (défaut)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ajouter OnPush sur chaque composant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→ migrer les états vers signal() / input()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→ provideZonelessChangeDetection() + retirer zone.js</a:t>
            </a:r>
            <a:endParaRPr lang="en-US" sz="880" dirty="0"/>
          </a:p>
        </p:txBody>
      </p:sp>
      <p:sp>
        <p:nvSpPr>
          <p:cNvPr id="47" name="Text 44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8/17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Structure des branches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87552"/>
            <a:ext cx="11368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B2A"/>
                </a:solidFill>
              </a:rPr>
              <a:t>Les branches sont cumulatives jusqu'a l'exercice 5. L'exercice 6 se fait en deux variantes paralleles : ex6 pour output(), ex6-model pour model().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828800" y="1572768"/>
            <a:ext cx="8534095" cy="4160520"/>
          </a:xfrm>
          <a:prstGeom prst="roundRect">
            <a:avLst>
              <a:gd name="adj" fmla="val 1758"/>
            </a:avLst>
          </a:prstGeom>
          <a:solidFill>
            <a:srgbClr val="15332F"/>
          </a:solidFill>
          <a:ln w="12700">
            <a:solidFill>
              <a:srgbClr val="004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23160" y="1847088"/>
            <a:ext cx="7345375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 : support de présentation et documentation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-&gt; ex1 -&gt; ex2 -&gt; ex3 -&gt; ex4 -&gt; ex5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|-&gt; ex6        output()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|-&gt; ex6-model  model()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apres restitution -&gt; ex7 -&gt; ex8 -&gt; ex9 -&gt; ex10 -&gt; ex11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11480" y="5989320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1716F"/>
                </a:solidFill>
              </a:rPr>
              <a:t>ex6-model n'est pas une etape apres ex6 : c'est une alternative pedagogique pour comparer output() et model().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9/17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APIs Signals et associées — Vue d'ensemble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411480" y="932688"/>
            <a:ext cx="1417320" cy="324343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48056" y="960120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b="1" dirty="0">
                <a:solidFill>
                  <a:srgbClr val="FFFFFF"/>
                </a:solidFill>
              </a:rPr>
              <a:t>API</a:t>
            </a:r>
            <a:endParaRPr lang="en-US" sz="740" dirty="0"/>
          </a:p>
        </p:txBody>
      </p:sp>
      <p:sp>
        <p:nvSpPr>
          <p:cNvPr id="8" name="Shape 5"/>
          <p:cNvSpPr/>
          <p:nvPr/>
        </p:nvSpPr>
        <p:spPr>
          <a:xfrm>
            <a:off x="1828800" y="932688"/>
            <a:ext cx="2834640" cy="324343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865376" y="960120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b="1" dirty="0">
                <a:solidFill>
                  <a:srgbClr val="FFFFFF"/>
                </a:solidFill>
              </a:rPr>
              <a:t>Role</a:t>
            </a:r>
            <a:endParaRPr lang="en-US" sz="740" dirty="0"/>
          </a:p>
        </p:txBody>
      </p:sp>
      <p:sp>
        <p:nvSpPr>
          <p:cNvPr id="10" name="Shape 7"/>
          <p:cNvSpPr/>
          <p:nvPr/>
        </p:nvSpPr>
        <p:spPr>
          <a:xfrm>
            <a:off x="4663440" y="932688"/>
            <a:ext cx="7116775" cy="324343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00016" y="960120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b="1" dirty="0">
                <a:solidFill>
                  <a:srgbClr val="FFFFFF"/>
                </a:solidFill>
              </a:rPr>
              <a:t>Exemple fichier</a:t>
            </a:r>
            <a:endParaRPr lang="en-US" sz="740" dirty="0"/>
          </a:p>
        </p:txBody>
      </p:sp>
      <p:sp>
        <p:nvSpPr>
          <p:cNvPr id="12" name="Shape 9"/>
          <p:cNvSpPr/>
          <p:nvPr/>
        </p:nvSpPr>
        <p:spPr>
          <a:xfrm>
            <a:off x="411480" y="1257031"/>
            <a:ext cx="141732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8056" y="1284463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signal()</a:t>
            </a:r>
            <a:endParaRPr lang="en-US" sz="740" dirty="0"/>
          </a:p>
        </p:txBody>
      </p:sp>
      <p:sp>
        <p:nvSpPr>
          <p:cNvPr id="14" name="Shape 11"/>
          <p:cNvSpPr/>
          <p:nvPr/>
        </p:nvSpPr>
        <p:spPr>
          <a:xfrm>
            <a:off x="1828800" y="1257031"/>
            <a:ext cx="283464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865376" y="1284463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Primitive Signal — etat mutable local. Se lit avec () et se modifie avec .set() ou .update().</a:t>
            </a:r>
            <a:endParaRPr lang="en-US" sz="740" dirty="0"/>
          </a:p>
        </p:txBody>
      </p:sp>
      <p:sp>
        <p:nvSpPr>
          <p:cNvPr id="16" name="Shape 13"/>
          <p:cNvSpPr/>
          <p:nvPr/>
        </p:nvSpPr>
        <p:spPr>
          <a:xfrm>
            <a:off x="4663440" y="1257031"/>
            <a:ext cx="7116775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00016" y="1284463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clients.component.ts</a:t>
            </a:r>
            <a:endParaRPr lang="en-US" sz="740" dirty="0"/>
          </a:p>
        </p:txBody>
      </p:sp>
      <p:sp>
        <p:nvSpPr>
          <p:cNvPr id="18" name="Shape 15"/>
          <p:cNvSpPr/>
          <p:nvPr/>
        </p:nvSpPr>
        <p:spPr>
          <a:xfrm>
            <a:off x="411480" y="1581374"/>
            <a:ext cx="141732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8056" y="1608806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computed()</a:t>
            </a:r>
            <a:endParaRPr lang="en-US" sz="740" dirty="0"/>
          </a:p>
        </p:txBody>
      </p:sp>
      <p:sp>
        <p:nvSpPr>
          <p:cNvPr id="20" name="Shape 17"/>
          <p:cNvSpPr/>
          <p:nvPr/>
        </p:nvSpPr>
        <p:spPr>
          <a:xfrm>
            <a:off x="1828800" y="1581374"/>
            <a:ext cx="283464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865376" y="1608806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Primitive Signal — valeur derivee pure, mise en cache, recalculee quand ses signaux lus changent.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4663440" y="1581374"/>
            <a:ext cx="7116775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00016" y="1608806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accounts.facade.ts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411480" y="1905717"/>
            <a:ext cx="141732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48056" y="1933149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effect()</a:t>
            </a:r>
            <a:endParaRPr lang="en-US" sz="740" dirty="0"/>
          </a:p>
        </p:txBody>
      </p:sp>
      <p:sp>
        <p:nvSpPr>
          <p:cNvPr id="26" name="Shape 23"/>
          <p:cNvSpPr/>
          <p:nvPr/>
        </p:nvSpPr>
        <p:spPr>
          <a:xfrm>
            <a:off x="1828800" y="1905717"/>
            <a:ext cx="283464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865376" y="1933149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Primitive Signal — effet de bord reactif. Sert a synchroniser DOM, titre, page courante, etc.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4663440" y="1905717"/>
            <a:ext cx="7116775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700016" y="1933149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clients.component.ts</a:t>
            </a:r>
            <a:endParaRPr lang="en-US" sz="740" dirty="0"/>
          </a:p>
        </p:txBody>
      </p:sp>
      <p:sp>
        <p:nvSpPr>
          <p:cNvPr id="30" name="Shape 27"/>
          <p:cNvSpPr/>
          <p:nvPr/>
        </p:nvSpPr>
        <p:spPr>
          <a:xfrm>
            <a:off x="411480" y="2230060"/>
            <a:ext cx="141732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48056" y="2257492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effect(onCleanup)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1828800" y="2230060"/>
            <a:ext cx="283464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865376" y="2257492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Option de effect() — libere une ressource avant reexecution ou destruction.</a:t>
            </a:r>
            <a:endParaRPr lang="en-US" sz="740" dirty="0"/>
          </a:p>
        </p:txBody>
      </p:sp>
      <p:sp>
        <p:nvSpPr>
          <p:cNvPr id="34" name="Shape 31"/>
          <p:cNvSpPr/>
          <p:nvPr/>
        </p:nvSpPr>
        <p:spPr>
          <a:xfrm>
            <a:off x="4663440" y="2230060"/>
            <a:ext cx="7116775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00016" y="2257492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signals-demo.component.ts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411480" y="2554403"/>
            <a:ext cx="141732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8056" y="2581835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viewChild()</a:t>
            </a:r>
            <a:endParaRPr lang="en-US" sz="740" dirty="0"/>
          </a:p>
        </p:txBody>
      </p:sp>
      <p:sp>
        <p:nvSpPr>
          <p:cNvPr id="38" name="Shape 35"/>
          <p:cNvSpPr/>
          <p:nvPr/>
        </p:nvSpPr>
        <p:spPr>
          <a:xfrm>
            <a:off x="1828800" y="2554403"/>
            <a:ext cx="283464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865376" y="2581835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API de requete de vue — reference DOM ou composant enfant exposee comme signal. Vaut undefined tant que la cible est absente.</a:t>
            </a:r>
            <a:endParaRPr lang="en-US" sz="740" dirty="0"/>
          </a:p>
        </p:txBody>
      </p:sp>
      <p:sp>
        <p:nvSpPr>
          <p:cNvPr id="40" name="Shape 37"/>
          <p:cNvSpPr/>
          <p:nvPr/>
        </p:nvSpPr>
        <p:spPr>
          <a:xfrm>
            <a:off x="4663440" y="2554403"/>
            <a:ext cx="7116775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700016" y="2581835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clients.component.ts</a:t>
            </a:r>
            <a:endParaRPr lang="en-US" sz="740" dirty="0"/>
          </a:p>
        </p:txBody>
      </p:sp>
      <p:sp>
        <p:nvSpPr>
          <p:cNvPr id="42" name="Shape 39"/>
          <p:cNvSpPr/>
          <p:nvPr/>
        </p:nvSpPr>
        <p:spPr>
          <a:xfrm>
            <a:off x="411480" y="2878746"/>
            <a:ext cx="141732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8056" y="2906178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viewChildren()</a:t>
            </a:r>
            <a:endParaRPr lang="en-US" sz="740" dirty="0"/>
          </a:p>
        </p:txBody>
      </p:sp>
      <p:sp>
        <p:nvSpPr>
          <p:cNvPr id="44" name="Shape 41"/>
          <p:cNvSpPr/>
          <p:nvPr/>
        </p:nvSpPr>
        <p:spPr>
          <a:xfrm>
            <a:off x="1828800" y="2878746"/>
            <a:ext cx="283464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865376" y="2906178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API de requete de vue — liste reactive de references rendues, mise a jour avec le template.</a:t>
            </a:r>
            <a:endParaRPr lang="en-US" sz="740" dirty="0"/>
          </a:p>
        </p:txBody>
      </p:sp>
      <p:sp>
        <p:nvSpPr>
          <p:cNvPr id="46" name="Shape 43"/>
          <p:cNvSpPr/>
          <p:nvPr/>
        </p:nvSpPr>
        <p:spPr>
          <a:xfrm>
            <a:off x="4663440" y="2878746"/>
            <a:ext cx="7116775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700016" y="2906178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signals-demo.component.ts</a:t>
            </a:r>
            <a:endParaRPr lang="en-US" sz="740" dirty="0"/>
          </a:p>
        </p:txBody>
      </p:sp>
      <p:sp>
        <p:nvSpPr>
          <p:cNvPr id="48" name="Shape 45"/>
          <p:cNvSpPr/>
          <p:nvPr/>
        </p:nvSpPr>
        <p:spPr>
          <a:xfrm>
            <a:off x="411480" y="3203089"/>
            <a:ext cx="141732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448056" y="3230521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input()</a:t>
            </a:r>
            <a:endParaRPr lang="en-US" sz="740" dirty="0"/>
          </a:p>
        </p:txBody>
      </p:sp>
      <p:sp>
        <p:nvSpPr>
          <p:cNvPr id="50" name="Shape 47"/>
          <p:cNvSpPr/>
          <p:nvPr/>
        </p:nvSpPr>
        <p:spPr>
          <a:xfrm>
            <a:off x="1828800" y="3203089"/>
            <a:ext cx="283464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865376" y="3230521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API composant — entree en lecture seule exposee comme signal, utilisable dans computed().</a:t>
            </a:r>
            <a:endParaRPr lang="en-US" sz="740" dirty="0"/>
          </a:p>
        </p:txBody>
      </p:sp>
      <p:sp>
        <p:nvSpPr>
          <p:cNvPr id="52" name="Shape 49"/>
          <p:cNvSpPr/>
          <p:nvPr/>
        </p:nvSpPr>
        <p:spPr>
          <a:xfrm>
            <a:off x="4663440" y="3203089"/>
            <a:ext cx="7116775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4700016" y="3230521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account-card.component.ts</a:t>
            </a:r>
            <a:endParaRPr lang="en-US" sz="740" dirty="0"/>
          </a:p>
        </p:txBody>
      </p:sp>
      <p:sp>
        <p:nvSpPr>
          <p:cNvPr id="54" name="Shape 51"/>
          <p:cNvSpPr/>
          <p:nvPr/>
        </p:nvSpPr>
        <p:spPr>
          <a:xfrm>
            <a:off x="411480" y="3527432"/>
            <a:ext cx="141732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48056" y="3554864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output()</a:t>
            </a:r>
            <a:endParaRPr lang="en-US" sz="740" dirty="0"/>
          </a:p>
        </p:txBody>
      </p:sp>
      <p:sp>
        <p:nvSpPr>
          <p:cNvPr id="56" name="Shape 53"/>
          <p:cNvSpPr/>
          <p:nvPr/>
        </p:nvSpPr>
        <p:spPr>
          <a:xfrm>
            <a:off x="1828800" y="3527432"/>
            <a:ext cx="283464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865376" y="3554864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API composant — evenement sortant vers le parent. Exprime une intention, pas un etat.</a:t>
            </a:r>
            <a:endParaRPr lang="en-US" sz="740" dirty="0"/>
          </a:p>
        </p:txBody>
      </p:sp>
      <p:sp>
        <p:nvSpPr>
          <p:cNvPr id="58" name="Shape 55"/>
          <p:cNvSpPr/>
          <p:nvPr/>
        </p:nvSpPr>
        <p:spPr>
          <a:xfrm>
            <a:off x="4663440" y="3527432"/>
            <a:ext cx="7116775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4700016" y="3554864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account-list.component.ts</a:t>
            </a:r>
            <a:endParaRPr lang="en-US" sz="740" dirty="0"/>
          </a:p>
        </p:txBody>
      </p:sp>
      <p:sp>
        <p:nvSpPr>
          <p:cNvPr id="60" name="Shape 57"/>
          <p:cNvSpPr/>
          <p:nvPr/>
        </p:nvSpPr>
        <p:spPr>
          <a:xfrm>
            <a:off x="411480" y="3851776"/>
            <a:ext cx="141732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48056" y="3879208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model()</a:t>
            </a:r>
            <a:endParaRPr lang="en-US" sz="740" dirty="0"/>
          </a:p>
        </p:txBody>
      </p:sp>
      <p:sp>
        <p:nvSpPr>
          <p:cNvPr id="62" name="Shape 59"/>
          <p:cNvSpPr/>
          <p:nvPr/>
        </p:nvSpPr>
        <p:spPr>
          <a:xfrm>
            <a:off x="1828800" y="3851776"/>
            <a:ext cx="283464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865376" y="3879208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API composant — valeur bidirectionnelle explicite : input + output pour selection, toggle, formulaire.</a:t>
            </a:r>
            <a:endParaRPr lang="en-US" sz="740" dirty="0"/>
          </a:p>
        </p:txBody>
      </p:sp>
      <p:sp>
        <p:nvSpPr>
          <p:cNvPr id="64" name="Shape 61"/>
          <p:cNvSpPr/>
          <p:nvPr/>
        </p:nvSpPr>
        <p:spPr>
          <a:xfrm>
            <a:off x="4663440" y="3851776"/>
            <a:ext cx="7116775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4700016" y="3879208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account-list.component.ts</a:t>
            </a:r>
            <a:endParaRPr lang="en-US" sz="740" dirty="0"/>
          </a:p>
        </p:txBody>
      </p:sp>
      <p:sp>
        <p:nvSpPr>
          <p:cNvPr id="66" name="Shape 63"/>
          <p:cNvSpPr/>
          <p:nvPr/>
        </p:nvSpPr>
        <p:spPr>
          <a:xfrm>
            <a:off x="411480" y="4176119"/>
            <a:ext cx="141732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448056" y="4203551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linkedSignal()</a:t>
            </a:r>
            <a:endParaRPr lang="en-US" sz="740" dirty="0"/>
          </a:p>
        </p:txBody>
      </p:sp>
      <p:sp>
        <p:nvSpPr>
          <p:cNvPr id="68" name="Shape 65"/>
          <p:cNvSpPr/>
          <p:nvPr/>
        </p:nvSpPr>
        <p:spPr>
          <a:xfrm>
            <a:off x="1828800" y="4176119"/>
            <a:ext cx="283464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1865376" y="4203551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Primitive Signal — signal writable initialise depuis une source et modifiable localement.</a:t>
            </a:r>
            <a:endParaRPr lang="en-US" sz="740" dirty="0"/>
          </a:p>
        </p:txBody>
      </p:sp>
      <p:sp>
        <p:nvSpPr>
          <p:cNvPr id="70" name="Shape 67"/>
          <p:cNvSpPr/>
          <p:nvPr/>
        </p:nvSpPr>
        <p:spPr>
          <a:xfrm>
            <a:off x="4663440" y="4176119"/>
            <a:ext cx="7116775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4700016" y="4203551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accounts.component.ts</a:t>
            </a:r>
            <a:endParaRPr lang="en-US" sz="740" dirty="0"/>
          </a:p>
        </p:txBody>
      </p:sp>
      <p:sp>
        <p:nvSpPr>
          <p:cNvPr id="72" name="Shape 69"/>
          <p:cNvSpPr/>
          <p:nvPr/>
        </p:nvSpPr>
        <p:spPr>
          <a:xfrm>
            <a:off x="411480" y="4500462"/>
            <a:ext cx="141732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448056" y="4527894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toSignal()</a:t>
            </a:r>
            <a:endParaRPr lang="en-US" sz="740" dirty="0"/>
          </a:p>
        </p:txBody>
      </p:sp>
      <p:sp>
        <p:nvSpPr>
          <p:cNvPr id="74" name="Shape 71"/>
          <p:cNvSpPr/>
          <p:nvPr/>
        </p:nvSpPr>
        <p:spPr>
          <a:xfrm>
            <a:off x="1828800" y="4500462"/>
            <a:ext cx="283464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1865376" y="4527894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API interop RxJS — consomme la derniere valeur d'un Observable sous forme de signal.</a:t>
            </a:r>
            <a:endParaRPr lang="en-US" sz="740" dirty="0"/>
          </a:p>
        </p:txBody>
      </p:sp>
      <p:sp>
        <p:nvSpPr>
          <p:cNvPr id="76" name="Shape 73"/>
          <p:cNvSpPr/>
          <p:nvPr/>
        </p:nvSpPr>
        <p:spPr>
          <a:xfrm>
            <a:off x="4663440" y="4500462"/>
            <a:ext cx="7116775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4700016" y="4527894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accounts.component.ts</a:t>
            </a:r>
            <a:endParaRPr lang="en-US" sz="740" dirty="0"/>
          </a:p>
        </p:txBody>
      </p:sp>
      <p:sp>
        <p:nvSpPr>
          <p:cNvPr id="78" name="Shape 75"/>
          <p:cNvSpPr/>
          <p:nvPr/>
        </p:nvSpPr>
        <p:spPr>
          <a:xfrm>
            <a:off x="411480" y="4824805"/>
            <a:ext cx="141732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448056" y="4852237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toObservable()</a:t>
            </a:r>
            <a:endParaRPr lang="en-US" sz="740" dirty="0"/>
          </a:p>
        </p:txBody>
      </p:sp>
      <p:sp>
        <p:nvSpPr>
          <p:cNvPr id="80" name="Shape 77"/>
          <p:cNvSpPr/>
          <p:nvPr/>
        </p:nvSpPr>
        <p:spPr>
          <a:xfrm>
            <a:off x="1828800" y="4824805"/>
            <a:ext cx="283464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1865376" y="4852237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API interop RxJS — expose un signal en Observable pour utiliser les operateurs RxJS.</a:t>
            </a:r>
            <a:endParaRPr lang="en-US" sz="740" dirty="0"/>
          </a:p>
        </p:txBody>
      </p:sp>
      <p:sp>
        <p:nvSpPr>
          <p:cNvPr id="82" name="Shape 79"/>
          <p:cNvSpPr/>
          <p:nvPr/>
        </p:nvSpPr>
        <p:spPr>
          <a:xfrm>
            <a:off x="4663440" y="4824805"/>
            <a:ext cx="7116775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4700016" y="4852237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clients.component.ts</a:t>
            </a:r>
            <a:endParaRPr lang="en-US" sz="740" dirty="0"/>
          </a:p>
        </p:txBody>
      </p:sp>
      <p:sp>
        <p:nvSpPr>
          <p:cNvPr id="84" name="Shape 81"/>
          <p:cNvSpPr/>
          <p:nvPr/>
        </p:nvSpPr>
        <p:spPr>
          <a:xfrm>
            <a:off x="411480" y="5149148"/>
            <a:ext cx="141732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448056" y="5176580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afterNextRender()</a:t>
            </a:r>
            <a:endParaRPr lang="en-US" sz="740" dirty="0"/>
          </a:p>
        </p:txBody>
      </p:sp>
      <p:sp>
        <p:nvSpPr>
          <p:cNvPr id="86" name="Shape 83"/>
          <p:cNvSpPr/>
          <p:nvPr/>
        </p:nvSpPr>
        <p:spPr>
          <a:xfrm>
            <a:off x="1828800" y="5149148"/>
            <a:ext cx="283464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1865376" y="5176580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Hook de rendu — callback one-shot apres le prochain rendu DOM. Utile pour scroll ou focus post-action.</a:t>
            </a:r>
            <a:endParaRPr lang="en-US" sz="740" dirty="0"/>
          </a:p>
        </p:txBody>
      </p:sp>
      <p:sp>
        <p:nvSpPr>
          <p:cNvPr id="88" name="Shape 85"/>
          <p:cNvSpPr/>
          <p:nvPr/>
        </p:nvSpPr>
        <p:spPr>
          <a:xfrm>
            <a:off x="4663440" y="5149148"/>
            <a:ext cx="7116775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89" name="Text 86"/>
          <p:cNvSpPr/>
          <p:nvPr/>
        </p:nvSpPr>
        <p:spPr>
          <a:xfrm>
            <a:off x="4700016" y="5176580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clients.component.ts</a:t>
            </a:r>
            <a:endParaRPr lang="en-US" sz="740" dirty="0"/>
          </a:p>
        </p:txBody>
      </p:sp>
      <p:sp>
        <p:nvSpPr>
          <p:cNvPr id="90" name="Shape 87"/>
          <p:cNvSpPr/>
          <p:nvPr/>
        </p:nvSpPr>
        <p:spPr>
          <a:xfrm>
            <a:off x="411480" y="5473491"/>
            <a:ext cx="141732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448056" y="5500923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afterEveryRender()</a:t>
            </a:r>
            <a:endParaRPr lang="en-US" sz="740" dirty="0"/>
          </a:p>
        </p:txBody>
      </p:sp>
      <p:sp>
        <p:nvSpPr>
          <p:cNvPr id="92" name="Shape 89"/>
          <p:cNvSpPr/>
          <p:nvPr/>
        </p:nvSpPr>
        <p:spPr>
          <a:xfrm>
            <a:off x="1828800" y="5473491"/>
            <a:ext cx="283464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93" name="Text 90"/>
          <p:cNvSpPr/>
          <p:nvPr/>
        </p:nvSpPr>
        <p:spPr>
          <a:xfrm>
            <a:off x="1865376" y="5500923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Hook de rendu — callback recurrent apres chaque rendu Angular. Utile pour mesures DOM continues.</a:t>
            </a:r>
            <a:endParaRPr lang="en-US" sz="740" dirty="0"/>
          </a:p>
        </p:txBody>
      </p:sp>
      <p:sp>
        <p:nvSpPr>
          <p:cNvPr id="94" name="Shape 91"/>
          <p:cNvSpPr/>
          <p:nvPr/>
        </p:nvSpPr>
        <p:spPr>
          <a:xfrm>
            <a:off x="4663440" y="5473491"/>
            <a:ext cx="7116775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4700016" y="5500923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signals-demo.component.ts</a:t>
            </a:r>
            <a:endParaRPr lang="en-US" sz="740" dirty="0"/>
          </a:p>
        </p:txBody>
      </p:sp>
      <p:sp>
        <p:nvSpPr>
          <p:cNvPr id="96" name="Shape 93"/>
          <p:cNvSpPr/>
          <p:nvPr/>
        </p:nvSpPr>
        <p:spPr>
          <a:xfrm>
            <a:off x="411480" y="5797834"/>
            <a:ext cx="141732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448056" y="5825266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untracked()</a:t>
            </a:r>
            <a:endParaRPr lang="en-US" sz="740" dirty="0"/>
          </a:p>
        </p:txBody>
      </p:sp>
      <p:sp>
        <p:nvSpPr>
          <p:cNvPr id="98" name="Shape 95"/>
          <p:cNvSpPr/>
          <p:nvPr/>
        </p:nvSpPr>
        <p:spPr>
          <a:xfrm>
            <a:off x="1828800" y="5797834"/>
            <a:ext cx="2834640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1865376" y="5825266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Utilitaire Signal — lit un signal sans l'ajouter aux dependances d'un effect() ou computed().</a:t>
            </a:r>
            <a:endParaRPr lang="en-US" sz="740" dirty="0"/>
          </a:p>
        </p:txBody>
      </p:sp>
      <p:sp>
        <p:nvSpPr>
          <p:cNvPr id="100" name="Shape 97"/>
          <p:cNvSpPr/>
          <p:nvPr/>
        </p:nvSpPr>
        <p:spPr>
          <a:xfrm>
            <a:off x="4663440" y="5797834"/>
            <a:ext cx="7116775" cy="324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1" name="Text 98"/>
          <p:cNvSpPr/>
          <p:nvPr/>
        </p:nvSpPr>
        <p:spPr>
          <a:xfrm>
            <a:off x="4700016" y="5825266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clients.component.ts</a:t>
            </a:r>
            <a:endParaRPr lang="en-US" sz="740" dirty="0"/>
          </a:p>
        </p:txBody>
      </p:sp>
      <p:sp>
        <p:nvSpPr>
          <p:cNvPr id="102" name="Shape 99"/>
          <p:cNvSpPr/>
          <p:nvPr/>
        </p:nvSpPr>
        <p:spPr>
          <a:xfrm>
            <a:off x="411480" y="6122177"/>
            <a:ext cx="141732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3" name="Text 100"/>
          <p:cNvSpPr/>
          <p:nvPr/>
        </p:nvSpPr>
        <p:spPr>
          <a:xfrm>
            <a:off x="448056" y="6149609"/>
            <a:ext cx="134416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signal.asReadonly()</a:t>
            </a:r>
            <a:endParaRPr lang="en-US" sz="740" dirty="0"/>
          </a:p>
        </p:txBody>
      </p:sp>
      <p:sp>
        <p:nvSpPr>
          <p:cNvPr id="104" name="Shape 101"/>
          <p:cNvSpPr/>
          <p:nvPr/>
        </p:nvSpPr>
        <p:spPr>
          <a:xfrm>
            <a:off x="1828800" y="6122177"/>
            <a:ext cx="2834640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5" name="Text 102"/>
          <p:cNvSpPr/>
          <p:nvPr/>
        </p:nvSpPr>
        <p:spPr>
          <a:xfrm>
            <a:off x="1865376" y="6149609"/>
            <a:ext cx="2761488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Methode de signal writable — expose un etat interne sans donner acces au setter public.</a:t>
            </a:r>
            <a:endParaRPr lang="en-US" sz="740" dirty="0"/>
          </a:p>
        </p:txBody>
      </p:sp>
      <p:sp>
        <p:nvSpPr>
          <p:cNvPr id="106" name="Shape 103"/>
          <p:cNvSpPr/>
          <p:nvPr/>
        </p:nvSpPr>
        <p:spPr>
          <a:xfrm>
            <a:off x="4663440" y="6122177"/>
            <a:ext cx="7116775" cy="324343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7" name="Text 104"/>
          <p:cNvSpPr/>
          <p:nvPr/>
        </p:nvSpPr>
        <p:spPr>
          <a:xfrm>
            <a:off x="4700016" y="6149609"/>
            <a:ext cx="7043623" cy="26947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63B38"/>
                </a:solidFill>
              </a:rPr>
              <a:t>accounts.facade.ts</a:t>
            </a:r>
            <a:endParaRPr lang="en-US" sz="740" dirty="0"/>
          </a:p>
        </p:txBody>
      </p:sp>
      <p:sp>
        <p:nvSpPr>
          <p:cNvPr id="108" name="Text 10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10/17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Exercices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1 — signal()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Primitive Signal — valeur reactive mutable lue avec ().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l'etat adding en signal. Le template doit afficher le formulaire a partir de ce nouvel etat reactif.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2 — computed()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Primitive Signal — valeur derivee en lecture seule.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Transformer blockedAccountsCount en valeur derivee de la facade. La page accounts doit afficher ce compteur sans recalculer elle-meme la regle.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3 — effect() + untracked()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Primitive Signal + utilitaire — effet de bord declenche par les signals lus, avec lecture non suivie.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le recalage imperatif de la page courante par une reaction automatique. Lire la page courante avec untracked() pour ne pas l'ajouter aux dependances de l'effet.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4 — viewChild() + effect()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API de requete de vue + primitive Signal — reference DOM exposee comme signal, puis effet DOM.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reference DOM classique du champ prenom par une reference signal, puis declencher le focus quand ce champ apparait.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6205576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5576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0168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5 — input()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7833208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API composant — entree exposee comme signal.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370168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accounts/components/account-card/account-card.component.ts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8345272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showStatus en input signal. Le libelle de statut doit reagir correctement quand le parent choisit d'afficher ou masquer ce statut.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6205576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05576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70168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6A — output()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7833208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API composant — evenement sortant vers le parent. Pas un Observable.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370168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account-list.component.ts</a:t>
            </a:r>
            <a:endParaRPr lang="en-US" sz="580" dirty="0"/>
          </a:p>
        </p:txBody>
      </p:sp>
      <p:sp>
        <p:nvSpPr>
          <p:cNvPr id="40" name="Text 38"/>
          <p:cNvSpPr/>
          <p:nvPr/>
        </p:nvSpPr>
        <p:spPr>
          <a:xfrm>
            <a:off x="8345272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Variante output() : remplacer selectedRequested EventEmitter par output().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205576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05576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70168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6B — model()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7833208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API composant — valeur bidirectionnelle input+output. Two-way binding signal.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370168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account-list.component.ts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accounts.component.ts</a:t>
            </a:r>
            <a:endParaRPr lang="en-US" sz="580" dirty="0"/>
          </a:p>
        </p:txBody>
      </p:sp>
      <p:sp>
        <p:nvSpPr>
          <p:cNvPr id="46" name="Text 44"/>
          <p:cNvSpPr/>
          <p:nvPr/>
        </p:nvSpPr>
        <p:spPr>
          <a:xfrm>
            <a:off x="8345272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Variante model() : remplacer editingAccountId input + editRequested + cancelRequested par un seul model(). L'enfant controle l'etat d'edition directement.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6205576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05576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70168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7 — linkedSignal()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7833208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Primitive Signal — signal mutable qui se reinitialise quand sa source change.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370168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accounts/pages/accounts/accounts.component.ts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8345272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editAccount par un linkedSignal() derive du signal source. La valeur doit se remettre a zero quand le compte selectionne change.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11/17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Exercices — Aller plus loin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8 — toSignal() / toObservable()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API interop RxJS — pont entre Observable RxJS et signal Angular.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clients/pages/dashboard/dashboard.component.ts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souscription manuelle a la route par toSignal(), exposer le chargement dashboard comme signal, et identifier le pont inverse toObservable() pour la recherche debouncee.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9 — afterNextRender() / afterEveryRender()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Hook de rendu — post-rendu DOM one-shot ou recurrent.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Ajouter la reference au viewport, puis scroller en haut de liste avec afterNextRender() apres l'ajout d'un client.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10 — computed() facade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Primitive Signal — vue derivee de l'etat metier dans une facade.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Ajouter hasActiveFilter comme valeur derivee de la facade. Le message vide doit dependre de cette regle exposee par la facade.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12/17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01168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Extension avancée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13/17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API hors exercice — rxResource()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63B38"/>
                </a:solidFill>
              </a:rPr>
              <a:t>En Angular 21.2, l'API est encore marquée experimental.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63B38"/>
                </a:solidFill>
              </a:rPr>
              <a:t>Elle reste hors exercices et hors convention de production pour ce dojo.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63B38"/>
                </a:solidFill>
              </a:rPr>
              <a:t>Dans ce support, on garde toSignal() + RxJS pour les chargements HTTP.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14/17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effect() — onCleanup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684368" cy="310896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056" y="960120"/>
            <a:ext cx="5611216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</a:rPr>
              <a:t>Sans onCleanup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6095848" y="932688"/>
            <a:ext cx="5684368" cy="310896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2424" y="960120"/>
            <a:ext cx="5611216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</a:rPr>
              <a:t>Avec onCleanup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411480" y="1243584"/>
            <a:ext cx="568436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271016"/>
            <a:ext cx="5611216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Chaque re-exécution crée une ressource sans supprimer la précédente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6095848" y="1243584"/>
            <a:ext cx="568436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32424" y="1271016"/>
            <a:ext cx="5611216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La ressource est libérée avant la prochaine exécution</a:t>
            </a:r>
            <a:endParaRPr lang="en-US" sz="1020" dirty="0"/>
          </a:p>
        </p:txBody>
      </p:sp>
      <p:sp>
        <p:nvSpPr>
          <p:cNvPr id="13" name="Text 11"/>
          <p:cNvSpPr/>
          <p:nvPr/>
        </p:nvSpPr>
        <p:spPr>
          <a:xfrm>
            <a:off x="411480" y="1719072"/>
            <a:ext cx="11368735" cy="786384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effect((onCleanup) =&gt; {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id = setInterval(() =&gt; console.log(this.search()), 1000);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onCleanup(() =&gt; clearInterval(id));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15/17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afterNextRender() vs afterEveryRender()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411480" y="932688"/>
            <a:ext cx="1417320" cy="310896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48056" y="960120"/>
            <a:ext cx="134416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1828800" y="932688"/>
            <a:ext cx="2834640" cy="310896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865376" y="960120"/>
            <a:ext cx="276148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</a:rPr>
              <a:t>afterNextRender()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4663440" y="932688"/>
            <a:ext cx="7116775" cy="310896"/>
          </a:xfrm>
          <a:prstGeom prst="rect">
            <a:avLst/>
          </a:prstGeom>
          <a:solidFill>
            <a:srgbClr val="008A5B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00016" y="960120"/>
            <a:ext cx="704362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</a:rPr>
              <a:t>afterEveryRender()</a:t>
            </a:r>
            <a:endParaRPr lang="en-US" sz="1020" dirty="0"/>
          </a:p>
        </p:txBody>
      </p:sp>
      <p:sp>
        <p:nvSpPr>
          <p:cNvPr id="12" name="Shape 9"/>
          <p:cNvSpPr/>
          <p:nvPr/>
        </p:nvSpPr>
        <p:spPr>
          <a:xfrm>
            <a:off x="411480" y="1243584"/>
            <a:ext cx="14173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8056" y="1271016"/>
            <a:ext cx="134416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Frequence</a:t>
            </a:r>
            <a:endParaRPr lang="en-US" sz="1020" dirty="0"/>
          </a:p>
        </p:txBody>
      </p:sp>
      <p:sp>
        <p:nvSpPr>
          <p:cNvPr id="14" name="Shape 11"/>
          <p:cNvSpPr/>
          <p:nvPr/>
        </p:nvSpPr>
        <p:spPr>
          <a:xfrm>
            <a:off x="1828800" y="1243584"/>
            <a:ext cx="28346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865376" y="1271016"/>
            <a:ext cx="276148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Une seule fois apres le prochain rendu</a:t>
            </a:r>
            <a:endParaRPr lang="en-US" sz="1020" dirty="0"/>
          </a:p>
        </p:txBody>
      </p:sp>
      <p:sp>
        <p:nvSpPr>
          <p:cNvPr id="16" name="Shape 13"/>
          <p:cNvSpPr/>
          <p:nvPr/>
        </p:nvSpPr>
        <p:spPr>
          <a:xfrm>
            <a:off x="4663440" y="1243584"/>
            <a:ext cx="7116775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00016" y="1271016"/>
            <a:ext cx="704362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Apres chaque cycle de rendu</a:t>
            </a:r>
            <a:endParaRPr lang="en-US" sz="1020" dirty="0"/>
          </a:p>
        </p:txBody>
      </p:sp>
      <p:sp>
        <p:nvSpPr>
          <p:cNvPr id="18" name="Shape 15"/>
          <p:cNvSpPr/>
          <p:nvPr/>
        </p:nvSpPr>
        <p:spPr>
          <a:xfrm>
            <a:off x="411480" y="1554480"/>
            <a:ext cx="1417320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8056" y="1581912"/>
            <a:ext cx="134416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Usage typique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1828800" y="1554480"/>
            <a:ext cx="2834640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865376" y="1581912"/>
            <a:ext cx="276148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Scroll one-shot, init librairie tierce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4663440" y="1554480"/>
            <a:ext cx="7116775" cy="310896"/>
          </a:xfrm>
          <a:prstGeom prst="rect">
            <a:avLst/>
          </a:prstGeom>
          <a:solidFill>
            <a:srgbClr val="F3F8F6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00016" y="1581912"/>
            <a:ext cx="704362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Mesures DOM continues, animations</a:t>
            </a:r>
            <a:endParaRPr lang="en-US" sz="1020" dirty="0"/>
          </a:p>
        </p:txBody>
      </p:sp>
      <p:sp>
        <p:nvSpPr>
          <p:cNvPr id="24" name="Shape 21"/>
          <p:cNvSpPr/>
          <p:nvPr/>
        </p:nvSpPr>
        <p:spPr>
          <a:xfrm>
            <a:off x="411480" y="1865376"/>
            <a:ext cx="14173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48056" y="1892808"/>
            <a:ext cx="134416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Risque</a:t>
            </a:r>
            <a:endParaRPr lang="en-US" sz="1020" dirty="0"/>
          </a:p>
        </p:txBody>
      </p:sp>
      <p:sp>
        <p:nvSpPr>
          <p:cNvPr id="26" name="Shape 23"/>
          <p:cNvSpPr/>
          <p:nvPr/>
        </p:nvSpPr>
        <p:spPr>
          <a:xfrm>
            <a:off x="1828800" y="1865376"/>
            <a:ext cx="28346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865376" y="1892808"/>
            <a:ext cx="2761488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Aucun surcout apres execution</a:t>
            </a:r>
            <a:endParaRPr lang="en-US" sz="1020" dirty="0"/>
          </a:p>
        </p:txBody>
      </p:sp>
      <p:sp>
        <p:nvSpPr>
          <p:cNvPr id="28" name="Shape 25"/>
          <p:cNvSpPr/>
          <p:nvPr/>
        </p:nvSpPr>
        <p:spPr>
          <a:xfrm>
            <a:off x="4663440" y="1865376"/>
            <a:ext cx="7116775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700016" y="1892808"/>
            <a:ext cx="704362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63B38"/>
                </a:solidFill>
              </a:rPr>
              <a:t>Couteux si le rendu est frequent</a:t>
            </a:r>
            <a:endParaRPr lang="en-US" sz="1020" dirty="0"/>
          </a:p>
        </p:txBody>
      </p:sp>
      <p:sp>
        <p:nvSpPr>
          <p:cNvPr id="30" name="Text 27"/>
          <p:cNvSpPr/>
          <p:nvPr/>
        </p:nvSpPr>
        <p:spPr>
          <a:xfrm>
            <a:off x="411480" y="2340864"/>
            <a:ext cx="11368735" cy="941832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one-shot : scroll apres un ajout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afterNextRender(() =&gt; viewport.scrollToIndex(0), { injector });</a:t>
            </a:r>
            <a:endParaRPr lang="en-US" sz="880" dirty="0"/>
          </a:p>
          <a:p>
            <a:pPr indent="0" marL="0">
              <a:buNone/>
            </a:pP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recurrent : mesure la hauteur a chaque rendu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afterEveryRender(() =&gt; { this.height.set(el.nativeElement.offsetHeight); });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16/17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 tests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3977640" cy="5074920"/>
          </a:xfrm>
          <a:prstGeom prst="roundRect">
            <a:avLst>
              <a:gd name="adj" fmla="val 1839"/>
            </a:avLst>
          </a:prstGeom>
          <a:solidFill>
            <a:srgbClr val="DFF2EA"/>
          </a:solidFill>
          <a:ln w="12700">
            <a:solidFill>
              <a:srgbClr val="B7E4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984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À lancer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47088"/>
            <a:ext cx="3246120" cy="658368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B2A"/>
                </a:solidFill>
              </a:rPr>
              <a:t>But : verifier que la migration ne casse pas le comportement existant.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01768" y="1243584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58968" y="1188720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Avant de commencer un exercice, lancer les tests pour connaitre l'etat de depart.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231136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2487168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58968" y="2432304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 la fin de l'exercice, relancer les tests pour verifier la migration.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3474720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01768" y="3730752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58968" y="3675888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une erreur apparait, identifier si elle vient du changement realise.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4718304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4974336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58968" y="4919472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besoin, corriger le code ou le test pour refleter le comportement attendu.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17/17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BNP Paribas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2026-06-11T07:57:06Z</dcterms:created>
  <dcterms:modified xsi:type="dcterms:W3CDTF">2026-06-11T07:57:06Z</dcterms:modified>
</cp:coreProperties>
</file>