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dojo se déroule en Angular 21. Le projet garde volontairement zone.js et OnPush pour montrer une migration progressive vers Signals, sans basculer toute l'application en zoneless dès le départ.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Zone.js aide Angular à savoir qu'un événement asynchrone a eu lieu. Il patche les APIs du navigateur (setTimeout, Promise, addEventListener, XMLHttpRequest, etc.) puis prévient Angular qu'un cycle de détection doit être lancé.
Zone.js ne modélise pas l'état de l'application : il sert surtout à déclencher la détection de changement.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Le problème résolu par Signals : rendre l'état local explicite et permettre à Angular de savoir précisément quelles vues ou valeurs dérivées dépendent de cet état.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projet montre volontairement deux patterns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ClientsComponent et DashboardComponent montrent les bases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AccountsFacade et MovementsFacade montrent l'étape avancée :
L'asymétrie est intentionnelle : on commence simple dans un composant,
puis on extrait vers une facade quand l'état devient plus riche ou partagé.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Quand la valeur change, Angular sait précisément quelles dépendances invalider : les valeurs dérivées sont recalculées si nécessaire et les vues concernées sont mises à jour.
signal() crée un signal mutable. computed() crée un signal dérivé en lecture seule. effect() observe des signals, mais n'est pas un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computed est une valeur dérivée mémorisée. Le calcul ne se relance que si
une dépendance lue a changé depuis la dernière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effect() exécute un effet de bord quand les signals lus dans son corps changent.
Il s'exécute automatiquement, sans appel explicite.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viewChild() expose une référence DOM comme un signal. Retourne undefined quand
l'élément est absent du DOM, ElementRef quand il est présent.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clé : @Input() dans un computed() ne crée pas de dépendance réelle.
input() dans un computed() est une dépendance réelle.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déclare une entrée de composant sous forme de signal. La valeur passée
par le parent devient une dépendance réelle dans les computed() et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déclare un événement sortant du composant. L'enfant émet une intention,
le parent décide quoi faire. Ce n'est pas un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RxJS sert à modéliser et composer des flux de données dans le temps : HTTP, WebSocket, événements, debounceTime, switchMap, combineLatest, etc.
RxJS ne remplace pas Zone.js. RxJS organise les flux asynchrones ; Zone.js déclenche la détection de changement ; Signals rend l'état et ses dépendances explicites.
toSignal() ne remplace pas RxJS : il permet de consommer la dernière valeur d'un Observable sous forme de signal dans un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toSignal() convertit un Observable en signal (dernière valeur émise, abonnement géré automatiquement).
toObservable() expose un signal comme Observable pour brancher des opérateurs RxJS.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Exposer une règle métier dérivée dans la facade sous forme de computed() plutôt que
de calculer en ligne dans le template ou le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Zone.js remplace les APIs async natives du navigateur par ses propres versions pour intercepter chaque appel et prévenir Angular qu'un changement a peut-être eu lieu.
Quand le callback async se termine, Zone.js dit à Angular : "quelque chose a peut-être changé". Angular lance alors un cycle de détection global. Avec OnPush, les composants non marqués dirty sont sautés, ce qui limite déjà le travail.
Zone.js espionne les APIs pour deviner qu'un changement a eu lieu.
Signals annonce explicitement le changement.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OnPush dit à Angular : ignore ce composant pendant un cycle de détection sauf si une raison explicite existe.
OnPush ne supprime pas Zone.js. Zone.js continue de déclencher des cycles globaux —
OnPush fait juste que ce composant est sauté s'il n'est pas marqué dirty.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Dirty = Angular doit réévaluer ce composant lors du prochain cycle de détection.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n'est pas l'objectif de ce dojo, mais c'est la suite logique une fois l'état principal piloté par Signals.
1. app.config.ts :
2. angular.json :
En zoneless, Signals ne sont pas obligatoires partout, mais chaque changement doit passer par un déclencheur connu d'Angular : signal().set(), input(), événement template, async pipe, markForCheck(), router/forms,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DD0031"/>
        </a:solidFill>
      </p:bgPr>
    </p:bg>
    <p:spTree>
      <p:nvGrpSpPr>
        <p:cNvPr id="1" name=""/>
        <p:cNvGrpSpPr/>
        <p:nvPr/>
      </p:nvGrpSpPr>
      <p:grpSpPr>
        <a:xfrm>
          <a:off x="0" y="0"/>
          <a:ext cx="0" cy="0"/>
          <a:chOff x="0" y="0"/>
          <a:chExt cx="0" cy="0"/>
        </a:xfrm>
      </p:grpSpPr>
      <p:sp>
        <p:nvSpPr>
          <p:cNvPr id="2" name="Text 0"/>
          <p:cNvSpPr/>
          <p:nvPr/>
        </p:nvSpPr>
        <p:spPr>
          <a:xfrm>
            <a:off x="594360" y="1508760"/>
            <a:ext cx="11002975" cy="1280160"/>
          </a:xfrm>
          <a:prstGeom prst="rect">
            <a:avLst/>
          </a:prstGeom>
          <a:noFill/>
          <a:ln/>
        </p:spPr>
        <p:txBody>
          <a:bodyPr wrap="square" rtlCol="0" anchor="ctr">
            <a:normAutofit/>
          </a:bodyPr>
          <a:lstStyle/>
          <a:p>
            <a:pPr algn="ctr" indent="0" marL="0">
              <a:buNone/>
            </a:pPr>
            <a:r>
              <a:rPr lang="en-US" sz="4400" b="1" dirty="0">
                <a:solidFill>
                  <a:srgbClr val="FFFFFF"/>
                </a:solidFill>
              </a:rPr>
              <a:t>Angular 21 Signals — Support de présentation dojo</a:t>
            </a:r>
            <a:endParaRPr lang="en-US" sz="4400" dirty="0"/>
          </a:p>
        </p:txBody>
      </p:sp>
      <p:sp>
        <p:nvSpPr>
          <p:cNvPr id="3" name="Text 1"/>
          <p:cNvSpPr/>
          <p:nvPr/>
        </p:nvSpPr>
        <p:spPr>
          <a:xfrm>
            <a:off x="594360" y="3063240"/>
            <a:ext cx="11002975" cy="411480"/>
          </a:xfrm>
          <a:prstGeom prst="rect">
            <a:avLst/>
          </a:prstGeom>
          <a:noFill/>
          <a:ln/>
        </p:spPr>
        <p:txBody>
          <a:bodyPr wrap="square" rtlCol="0" anchor="ctr"/>
          <a:lstStyle/>
          <a:p>
            <a:pPr algn="ctr" indent="0" marL="0">
              <a:buNone/>
            </a:pPr>
            <a:r>
              <a:rPr lang="en-US" sz="2200" dirty="0">
                <a:solidFill>
                  <a:srgbClr val="FFD5DC"/>
                </a:solidFill>
              </a:rPr>
              <a:t>Support de présentation dojo</a:t>
            </a:r>
            <a:endParaRPr lang="en-US" sz="2200" dirty="0"/>
          </a:p>
        </p:txBody>
      </p:sp>
      <p:sp>
        <p:nvSpPr>
          <p:cNvPr id="4" name="Text 2"/>
          <p:cNvSpPr/>
          <p:nvPr/>
        </p:nvSpPr>
        <p:spPr>
          <a:xfrm>
            <a:off x="594360" y="4892040"/>
            <a:ext cx="11002975" cy="320040"/>
          </a:xfrm>
          <a:prstGeom prst="rect">
            <a:avLst/>
          </a:prstGeom>
          <a:noFill/>
          <a:ln/>
        </p:spPr>
        <p:txBody>
          <a:bodyPr wrap="square" rtlCol="0" anchor="ctr"/>
          <a:lstStyle/>
          <a:p>
            <a:pPr algn="ctr" indent="0" marL="0">
              <a:buNone/>
            </a:pPr>
            <a:r>
              <a:rPr lang="en-US" sz="1300" dirty="0">
                <a:solidFill>
                  <a:srgbClr val="FFD5DC"/>
                </a:solidFill>
              </a:rPr>
              <a:t>Angular 21 · Signals · Zone.js · RxJS interop</a:t>
            </a:r>
            <a:endParaRPr lang="en-US" sz="130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1/61</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Avant de commencer</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Zone.js et Signals</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2/61</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Avant de commencer — Zone.js et Signals — Rappel Zone.js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librairie qui intercepte les APIs async du navigateur.</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prévenir Angular qu'un cycle de détection doit être lancé.</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Limite : ne décrit pas l'état, il déclenche seulement la vérification.</a:t>
            </a:r>
            <a:endParaRPr lang="en-US" sz="116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3/61</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Avant de commencer — Zone.js et Signals — Définition de Signal et problème résolu</a:t>
            </a:r>
            <a:endParaRPr lang="en-US" sz="15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valeur réactive lue avec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mémoriser les lecteurs dépendants.</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Problème résolu : état explicite et mises à jour plus ciblées.</a:t>
            </a:r>
            <a:endParaRPr lang="en-US" sz="1160" dirty="0"/>
          </a:p>
        </p:txBody>
      </p:sp>
      <p:sp>
        <p:nvSpPr>
          <p:cNvPr id="8" name="Text 5"/>
          <p:cNvSpPr/>
          <p:nvPr/>
        </p:nvSpPr>
        <p:spPr>
          <a:xfrm>
            <a:off x="411480" y="1865376"/>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Zone.js : un événement async se produit → Angular lance la détection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Signals : une valeur change             → Angular connaît les lecteurs dépendants</a:t>
            </a:r>
            <a:endParaRPr lang="en-US" sz="880" dirty="0"/>
          </a:p>
        </p:txBody>
      </p:sp>
      <p:sp>
        <p:nvSpPr>
          <p:cNvPr id="9" name="Text 6"/>
          <p:cNvSpPr/>
          <p:nvPr/>
        </p:nvSpPr>
        <p:spPr>
          <a:xfrm>
            <a:off x="411480" y="251460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Signals résout : l'état réactif local synchrone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Zone.js résout : le déclenchement automatique de la détection après async</a:t>
            </a:r>
            <a:endParaRPr lang="en-US" sz="880" dirty="0"/>
          </a:p>
        </p:txBody>
      </p:sp>
      <p:sp>
        <p:nvSpPr>
          <p:cNvPr id="10"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4/61</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201168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Intention d'architecture du dojo</a:t>
            </a:r>
            <a:endParaRPr lang="en-US" sz="3800" dirty="0"/>
          </a:p>
        </p:txBody>
      </p:sp>
      <p:sp>
        <p:nvSpPr>
          <p:cNvPr id="4" name="Text 1"/>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5/61</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Intention d'architecture du dojo — 1. Signals directement dans les composants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signal() pour l'état local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computed() pour les valeurs dérivées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effect() pour les effets de bord simples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lecture directe dans le template avec signal().</a:t>
            </a:r>
            <a:endParaRPr lang="en-US" sz="116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6/61</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Intention d'architecture du dojo — 2. Signals extraits dans une facade</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état partagé entre plusieurs composants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logique métier encapsulée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exposition en lecture seule avec asReadonly()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orchestration API + notifications + confirmations.</a:t>
            </a:r>
            <a:endParaRPr lang="en-US" sz="116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7/61</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1</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signal()</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8/61</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9/61</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Convertir la propriété adding = false en signal.</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 = 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 = false;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this.adding.set(true);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this.adding.set(false); }</a:t>
            </a:r>
            <a:endParaRPr lang="en-US" sz="880" dirty="0"/>
          </a:p>
        </p:txBody>
      </p:sp>
      <p:sp>
        <p:nvSpPr>
          <p:cNvPr id="6" name="Text 4"/>
          <p:cNvSpPr/>
          <p:nvPr/>
        </p:nvSpPr>
        <p:spPr>
          <a:xfrm>
            <a:off x="411480" y="307238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remplacer adding par adding().</a:t>
            </a:r>
            <a:endParaRPr lang="en-US" sz="1220" dirty="0"/>
          </a:p>
        </p:txBody>
      </p:sp>
      <p:sp>
        <p:nvSpPr>
          <p:cNvPr id="7" name="Text 5"/>
          <p:cNvSpPr/>
          <p:nvPr/>
        </p:nvSpPr>
        <p:spPr>
          <a:xfrm>
            <a:off x="411480" y="350215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10/61</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Définition</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this.adding.set(true);            // écrire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this.adding.update(v =&gt; !v);      // mettre à jour depuis la valeur courante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lire (template ou TS)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11/61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vs Zone.js</a:t>
            </a:r>
            <a:endParaRPr lang="en-US" sz="1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Zone.js + propriété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Angular re-rend tout le composant à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 seulement les lecteurs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Détection déclenchée par Zone.js après chaque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Détection déclenchée par .set()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Rien à déclarer — Zone.js devine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Déclarer signal() — Angular sait exactement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12/61</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Quand utiliser signal() — et quand rester ailleurs</a:t>
            </a:r>
            <a:endParaRPr lang="en-US" sz="1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 booléen, texte, page courante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computed() — pas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Valeur issue d'une route ou d'un appel HTTP</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État partagé entre composants via service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facade Signals ou store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13/61</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2</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14/61</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15/61</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le getter blockedAccountsCount en computed() dans la facade, puis exposer le signal dans le composant.</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return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30723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 return this.accountsFacade.blockedAccountsCount;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this.accountsFacade.blockedAccountsCount;</a:t>
            </a:r>
            <a:endParaRPr lang="en-US" sz="880" dirty="0"/>
          </a:p>
        </p:txBody>
      </p:sp>
      <p:sp>
        <p:nvSpPr>
          <p:cNvPr id="7" name="Text 5"/>
          <p:cNvSpPr/>
          <p:nvPr/>
        </p:nvSpPr>
        <p:spPr>
          <a:xfrm>
            <a:off x="411480" y="41605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 blockedAccountsCount }} → {{ blockedAccountsCount() }}</a:t>
            </a:r>
            <a:endParaRPr lang="en-US" sz="1220" dirty="0"/>
          </a:p>
        </p:txBody>
      </p:sp>
      <p:sp>
        <p:nvSpPr>
          <p:cNvPr id="8" name="Text 6"/>
          <p:cNvSpPr/>
          <p:nvPr/>
        </p:nvSpPr>
        <p:spPr>
          <a:xfrm>
            <a:off x="411480" y="45902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16/61</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Définition</a:t>
            </a:r>
            <a:endParaRPr lang="en-US" sz="1800" dirty="0"/>
          </a:p>
        </p:txBody>
      </p:sp>
      <p:sp>
        <p:nvSpPr>
          <p:cNvPr id="5" name="Text 2"/>
          <p:cNvSpPr/>
          <p:nvPr/>
        </p:nvSpPr>
        <p:spPr>
          <a:xfrm>
            <a:off x="411480" y="93268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blockedAccountsCount()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17/61</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vs Zone.js</a:t>
            </a:r>
            <a:endParaRPr lang="en-US" sz="1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Getter +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Recalculé à chaque cycle de détection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Recalculé seulement si une dépendance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Angular ignore si la valeur a changé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Angular mémorise et invalide le cache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Règle dans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Règle dans la facade, partageable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18/61</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Quand utiliser computed() — et quand rester ailleurs</a:t>
            </a:r>
            <a:endParaRPr lang="en-US" sz="1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Total, compteur, libellé dérivé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Règle qui dépend du temps (debounce,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Flux asynchrone — computed() est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Calcul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puis 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(appel HTTP, log, focus)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 — pas 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19/61</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 viewChild()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20/61</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 viewChild()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21/61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 viewChild()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Partie 1 : remplacer l'appel impératif this.clampCurrentPage() par un effect() dans le constructeur.</a:t>
            </a:r>
            <a:endParaRPr lang="en-US" sz="1220" dirty="0"/>
          </a:p>
        </p:txBody>
      </p:sp>
      <p:sp>
        <p:nvSpPr>
          <p:cNvPr id="5" name="Text 3"/>
          <p:cNvSpPr/>
          <p:nvPr/>
        </p:nvSpPr>
        <p:spPr>
          <a:xfrm>
            <a:off x="411480" y="1362456"/>
            <a:ext cx="11368735" cy="18745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Ajouter dans le constructeur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const clamped = this.pageSlice().page;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if (clamped !== this.page()) this.page.set(clamped);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dans deleteClient()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this.clampCurrentPage(); // ← retirer cette ligne</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la méthode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clampCurrentPage(): void { ... }</a:t>
            </a:r>
            <a:endParaRPr lang="en-US" sz="880" dirty="0"/>
          </a:p>
        </p:txBody>
      </p:sp>
      <p:sp>
        <p:nvSpPr>
          <p:cNvPr id="6" name="Text 4"/>
          <p:cNvSpPr/>
          <p:nvPr/>
        </p:nvSpPr>
        <p:spPr>
          <a:xfrm>
            <a:off x="411480" y="338328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Partie 2 : conditionner le focus sur adding() dans l'effet viewChild existant.</a:t>
            </a:r>
            <a:endParaRPr lang="en-US" sz="1220" dirty="0"/>
          </a:p>
        </p:txBody>
      </p:sp>
      <p:sp>
        <p:nvSpPr>
          <p:cNvPr id="7" name="Text 5"/>
          <p:cNvSpPr/>
          <p:nvPr/>
        </p:nvSpPr>
        <p:spPr>
          <a:xfrm>
            <a:off x="411480" y="381304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 this.firstNameInput()?.nativeElement.focus();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 if (this.adding()) this.firstNameInput()?.nativeElement.focus(); });</a:t>
            </a:r>
            <a:endParaRPr lang="en-US" sz="880" dirty="0"/>
          </a:p>
        </p:txBody>
      </p:sp>
      <p:sp>
        <p:nvSpPr>
          <p:cNvPr id="8" name="Text 6"/>
          <p:cNvSpPr/>
          <p:nvPr/>
        </p:nvSpPr>
        <p:spPr>
          <a:xfrm>
            <a:off x="411480" y="4901184"/>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22/61</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 viewChild()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23/61</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 viewChild() — Définition viewChild()</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firstNameInput = viewChild&lt;ElementRef&gt;('firstNameRef');</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24/61</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 viewChild() — vs Zone.js</a:t>
            </a:r>
            <a:endParaRPr lang="en-US" sz="1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Appel impératif après mutation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On doit penser à appeler la méthode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Déclenché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Logique dispersée dans plusieurs méthodes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Logique centralisée dans l'effet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Bug si on oublie l'appel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Moins de risque — l'effet observe les dépendances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25/61</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3 — effect() + viewChild() — Quand utiliser effect() — et quand rester ailleurs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Titre du document, focus, scroll après changement d'état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Correction d'un état cohérent (clamping, reset)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Chargement HTTP déclenché par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Possible avec effect(), mais à encadrer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computed() — pas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Effet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ou toSignal() selon le cas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26/61</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27/61</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input()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src/app/features/accounts/components/account-card/account-card.component.ts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28/61</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input() — Consigne</a:t>
            </a:r>
            <a:endParaRPr lang="en-US" sz="1800" dirty="0"/>
          </a:p>
        </p:txBody>
      </p:sp>
      <p:sp>
        <p:nvSpPr>
          <p:cNvPr id="5"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@Input() showStatus = true en showStatus = input(true) et retirer Input des imports.</a:t>
            </a:r>
            <a:endParaRPr lang="en-US" sz="1220" dirty="0"/>
          </a:p>
        </p:txBody>
      </p:sp>
      <p:sp>
        <p:nvSpPr>
          <p:cNvPr id="6" name="Text 3"/>
          <p:cNvSpPr/>
          <p:nvPr/>
        </p:nvSpPr>
        <p:spPr>
          <a:xfrm>
            <a:off x="411480" y="1362456"/>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@Input() showStatus = 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p:txBody>
      </p:sp>
      <p:sp>
        <p:nvSpPr>
          <p:cNvPr id="7" name="Text 4"/>
          <p:cNvSpPr/>
          <p:nvPr/>
        </p:nvSpPr>
        <p:spPr>
          <a:xfrm>
            <a:off x="411480" y="27614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src/app/features/accounts/components/account-card/account-card.component.spec.ts</a:t>
            </a:r>
            <a:endParaRPr lang="en-US" sz="88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29/61</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input()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              // avec valeur par défaut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account = input.required&lt;Account&gt;();   // requis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30/61</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input() — vs Zone.js</a:t>
            </a:r>
            <a:endParaRPr lang="en-US" sz="18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@Input()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Propriété TS mise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 mis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Lu dans computed() sans créer de dépendance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Lu dans computed() → dépendance réelle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Re-render seulement si la valeur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31/61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input() — Quand utiliser input() — et quand rester ailleurs</a:t>
            </a:r>
            <a:endParaRPr lang="en-US" sz="18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Entrée lue dans un computed() ou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Entrée requise sans valeur par défaut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input.required&lt;T&gt;()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legacy dans un composant non migré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 acceptable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parent ↔ enfant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(disponible en Angular 21)</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32/61</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5</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output()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33/61</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output()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src/app/features/accounts/components/account-list/account-list.component.ts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34/61</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output() — Consigne</a:t>
            </a:r>
            <a:endParaRPr lang="en-US" sz="1800" dirty="0"/>
          </a:p>
        </p:txBody>
      </p:sp>
      <p:sp>
        <p:nvSpPr>
          <p:cNvPr id="4" name="Text 2"/>
          <p:cNvSpPr/>
          <p:nvPr/>
        </p:nvSpPr>
        <p:spPr>
          <a:xfrm>
            <a:off x="411480" y="93268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@Output() selectedRequested = new EventEmitter&lt;Account&gt;() en output(). Retirer EventEmitter et Output des imports.</a:t>
            </a:r>
            <a:endParaRPr lang="en-US" sz="1220" dirty="0"/>
          </a:p>
        </p:txBody>
      </p:sp>
      <p:sp>
        <p:nvSpPr>
          <p:cNvPr id="5" name="Text 3"/>
          <p:cNvSpPr/>
          <p:nvPr/>
        </p:nvSpPr>
        <p:spPr>
          <a:xfrm>
            <a:off x="411480" y="14721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@Output() selectedRequested = new EventEmitter&lt;Account&gt;();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a:t>
            </a:r>
            <a:endParaRPr lang="en-US" sz="880" dirty="0"/>
          </a:p>
        </p:txBody>
      </p:sp>
      <p:sp>
        <p:nvSpPr>
          <p:cNvPr id="6" name="Text 4"/>
          <p:cNvSpPr/>
          <p:nvPr/>
        </p:nvSpPr>
        <p:spPr>
          <a:xfrm>
            <a:off x="411480" y="25603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L'émission dans l'effect() reste identique : this.selectedRequested.emit(account).</a:t>
            </a:r>
            <a:endParaRPr lang="en-US" sz="1220" dirty="0"/>
          </a:p>
        </p:txBody>
      </p:sp>
      <p:sp>
        <p:nvSpPr>
          <p:cNvPr id="7" name="Text 5"/>
          <p:cNvSpPr/>
          <p:nvPr/>
        </p:nvSpPr>
        <p:spPr>
          <a:xfrm>
            <a:off x="411480" y="29900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35/61</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output()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this.selectedRequested.emit(account);        // émettre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(selectedRequested)="startEdit($event)"      // écouter dans le parent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36/61</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output() — vs Zone.js</a:t>
            </a:r>
            <a:endParaRPr lang="en-US" sz="18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@Output() + EventEmitter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Hérite historiquement d'un mécanisme de flux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Pas d'Observable interne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Souvent détourné comme flux applicatif</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Contrat pensé pour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l'émission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notifie directement le parent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37/61</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output() — Quand utiliser output() — et quand rester ailleurs</a:t>
            </a:r>
            <a:endParaRPr lang="en-US" sz="18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Événement vers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Événement global ou cross-composant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Service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Flux avec opérateurs temporels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dédié, pas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entrée + sortie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(disponible en Angular 21)</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38/61</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Rappel RxJS — Avant toSignal()</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RxJS    : un flux émet dans le temps → on compose/transforme ce flux</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toSignal: Observable → Signal        → on lit la dernière valeur avec ()</a:t>
            </a:r>
            <a:endParaRPr lang="en-US" sz="880" dirty="0"/>
          </a:p>
        </p:txBody>
      </p:sp>
      <p:sp>
        <p:nvSpPr>
          <p:cNvPr id="6" name="Text 3"/>
          <p:cNvSpPr/>
          <p:nvPr/>
        </p:nvSpPr>
        <p:spPr>
          <a:xfrm>
            <a:off x="411480" y="1581912"/>
            <a:ext cx="11368735" cy="109728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this.route.paramMap.pipe(map(params =&gt; params.get('id'))),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clientId() // lecture côté composant/template</a:t>
            </a:r>
            <a:endParaRPr lang="en-US" sz="88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39/61</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6</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toSignal() + toObservable()</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40/61</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toSignal() + toObservable() — Fichiers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Partie 1 — src/app/features/accounts/pages/accounts/accounts.component.ts</a:t>
            </a:r>
            <a:endParaRPr lang="en-US" sz="1220" dirty="0"/>
          </a:p>
        </p:txBody>
      </p:sp>
      <p:sp>
        <p:nvSpPr>
          <p:cNvPr id="5" name="Text 3"/>
          <p:cNvSpPr/>
          <p:nvPr/>
        </p:nvSpPr>
        <p:spPr>
          <a:xfrm>
            <a:off x="411480" y="1362456"/>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Partie 2 — src/app/features/clients/pages/dashboard/dashboard.component.ts</a:t>
            </a:r>
            <a:endParaRPr lang="en-US" sz="1220" dirty="0"/>
          </a:p>
        </p:txBody>
      </p:sp>
      <p:sp>
        <p:nvSpPr>
          <p:cNvPr id="6" name="Text 4"/>
          <p:cNvSpPr/>
          <p:nvPr/>
        </p:nvSpPr>
        <p:spPr>
          <a:xfrm>
            <a:off x="411480" y="179222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Partie 3 — src/app/features/clients/pages/clients/clients.component.ts (lecture seule — démo)</a:t>
            </a:r>
            <a:endParaRPr lang="en-US" sz="122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41/61</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toSignal() + toObservable()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Partie 1 : remplacer la souscription manuelle à paramMap par toSignal().</a:t>
            </a:r>
            <a:endParaRPr lang="en-US" sz="1220" dirty="0"/>
          </a:p>
        </p:txBody>
      </p:sp>
      <p:sp>
        <p:nvSpPr>
          <p:cNvPr id="5" name="Text 3"/>
          <p:cNvSpPr/>
          <p:nvPr/>
        </p:nvSpPr>
        <p:spPr>
          <a:xfrm>
            <a:off x="411480" y="1362456"/>
            <a:ext cx="11368735" cy="249631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souscription manuelle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signal&lt;string | null&gt;(null);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this.clientId$.pipe(takeUntilDestroyed(this.destroyRef))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.subscribe(id =&gt; { this.clientId.set(id); this.accountsFacade.load(id);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 =&gt; p.get('id'))),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effect(() =&gt; { this.accountsFacade.load(this.clientId());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4005072"/>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Partie 2 : remplacer firstValueFrom() + états manuels par toSignal() + pipe RxJS.</a:t>
            </a:r>
            <a:endParaRPr lang="en-US" sz="1220" dirty="0"/>
          </a:p>
        </p:txBody>
      </p:sp>
      <p:sp>
        <p:nvSpPr>
          <p:cNvPr id="7" name="Text 5"/>
          <p:cNvSpPr/>
          <p:nvPr/>
        </p:nvSpPr>
        <p:spPr>
          <a:xfrm>
            <a:off x="411480" y="4434840"/>
            <a:ext cx="11368735" cy="171907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clientsQuery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this.clientsApi.getAll().pipe(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map(clients =&gt; ({ clients, loading: false,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catchError(err =&gt; of({ clients: [], loading: false, error: err.message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startWith({ clients: [], loading: true,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 clients: [], loading: true, error: null }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loading = computed(() =&gt; this.clientsQuery().loading);</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error   = computed(() =&gt; this.clientsQuery().error);</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42/61</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toSignal() + toObservable() — Consigne (suite 2)</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Partie 3 : lire et expliquer debouncedSearch$ dans ClientsComponent (pas de modification).</a:t>
            </a:r>
            <a:endParaRPr lang="en-US" sz="1220" dirty="0"/>
          </a:p>
        </p:txBody>
      </p:sp>
      <p:sp>
        <p:nvSpPr>
          <p:cNvPr id="5" name="Text 3"/>
          <p:cNvSpPr/>
          <p:nvPr/>
        </p:nvSpPr>
        <p:spPr>
          <a:xfrm>
            <a:off x="411480" y="1362456"/>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src/app/features/clients/pages/dashboard/dashboard.component.spec.ts</a:t>
            </a:r>
            <a:endParaRPr lang="en-US" sz="880" dirty="0"/>
          </a:p>
        </p:txBody>
      </p:sp>
      <p:sp>
        <p:nvSpPr>
          <p:cNvPr id="6"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43/61</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toSignal() + toObservable() — Définition</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Signal → Observable pour opérateurs RxJS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debouncedSearch$ = toObservable(this.search).pipe(debounceTime(300));</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44/61</a:t>
            </a:r>
            <a:endParaRPr lang="en-US" sz="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toSignal() + toObservable() — vs Zone.js</a:t>
            </a:r>
            <a:endParaRPr lang="en-US" sz="18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Observable + .subscribe()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takeUntilDestroyed requis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Abonnement géré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Copie manuelle dans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crée et alimente le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détecte l'émission, re-rend tout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re-rend seulement les dépendants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45/61</a:t>
            </a:r>
            <a:endParaRPr lang="en-US" sz="7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toSignal() + toObservable() — vs RxJS</a:t>
            </a:r>
            <a:endParaRPr lang="en-US" sz="18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32688"/>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BehaviorSubject exposé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Source mutable, .next() depuis plusieurs endroits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Alimenté uniquement par l'Observable source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Adapté à l'état partagé entre services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Adapté à 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46/61</a:t>
            </a:r>
            <a:endParaRPr lang="en-US" sz="7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6 — toSignal() + toObservable() — Quand utiliser toSignal() / toObservable() — et quand rester en RxJS pur</a:t>
            </a:r>
            <a:endParaRPr lang="en-US" sz="15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176272"/>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Lire paramMap ou queryParamMap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Observable HTTP one-shot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 pipe(map, catchError, startWith)</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Debounce, distinctUntilChanged sur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toObservable() + pipe()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Flux continu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RxJS pur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Combiner deux flux avec temporalité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combineLatest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Requête POST / PUT /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firstValueFrom() dans une méthode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47/61</a:t>
            </a:r>
            <a:endParaRPr lang="en-US" sz="7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Refactoring facade avec 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48/61</a:t>
            </a:r>
            <a:endParaRPr lang="en-US" sz="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Refactoring facade avec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49/61</a:t>
            </a:r>
            <a:endParaRPr lang="en-US" sz="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Refactoring facade avec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Ajouter hasActiveFilter comme computed() dans la facade, l'exposer dans le composant, l'utiliser dans le template.</a:t>
            </a:r>
            <a:endParaRPr lang="en-US" sz="1220" dirty="0"/>
          </a:p>
        </p:txBody>
      </p:sp>
      <p:sp>
        <p:nvSpPr>
          <p:cNvPr id="5" name="Text 3"/>
          <p:cNvSpPr/>
          <p:nvPr/>
        </p:nvSpPr>
        <p:spPr>
          <a:xfrm>
            <a:off x="411480" y="1362456"/>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accounts.facade.ts — ajouter après typeFilter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this.search().trim().length &gt; 0 || this.typeFilter() !== 'all'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2295144"/>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AccountsComponent — exposer le signal de la 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this.accountsFacade.hasActiveFilter;</a:t>
            </a:r>
            <a:endParaRPr lang="en-US" sz="880" dirty="0"/>
          </a:p>
        </p:txBody>
      </p:sp>
      <p:sp>
        <p:nvSpPr>
          <p:cNvPr id="7" name="Text 5"/>
          <p:cNvSpPr/>
          <p:nvPr/>
        </p:nvSpPr>
        <p:spPr>
          <a:xfrm>
            <a:off x="411480" y="294436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&lt;!-- accounts.component.html — remplacer le message vide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hasActiveFilter() ? 'Aucun compte ne correspond aux filtres.' : 'Aucun compte trouvé.' }}</a:t>
            </a:r>
            <a:endParaRPr lang="en-US" sz="880" dirty="0"/>
          </a:p>
        </p:txBody>
      </p:sp>
      <p:sp>
        <p:nvSpPr>
          <p:cNvPr id="8" name="Text 6"/>
          <p:cNvSpPr/>
          <p:nvPr/>
        </p:nvSpPr>
        <p:spPr>
          <a:xfrm>
            <a:off x="411480" y="359359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50/61</a:t>
            </a:r>
            <a:endParaRPr lang="en-US" sz="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Refactoring facade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51/61</a:t>
            </a:r>
            <a:endParaRPr lang="en-US" sz="7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Refactoring facade avec computed() — vs Zone.js / vs RxJS</a:t>
            </a:r>
            <a:endParaRPr lang="en-US" sz="18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Règle dans le template ou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 dans la facade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Logique inline, intention illisible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Nom qui exprime l'intention métier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Dupliquée si plusieurs composants en ont besoin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Partageable depuis la facade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Non testable directement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Testable unitairement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Recalculée à chaque cycle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Mémorisée, recalculée seulement si nécessaire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52/61</a:t>
            </a:r>
            <a:endParaRPr lang="en-US" sz="7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a:t>
            </a:r>
            <a:endParaRPr lang="en-US" sz="18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Utiliser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Utiliser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impliquant le temps (debounceTime,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dérivée d'autres états locaux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Combinaison de plusieurs sources (combineLatest, merge)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 sortie de composant réactive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continue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déclenché par un 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Commande async (POST, PUT,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Multicasting (shareReplay, share)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53/61</a:t>
            </a:r>
            <a:endParaRPr lang="en-US" sz="7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 — Zone d'intersection — utiliser les deux</a:t>
            </a:r>
            <a:endParaRPr lang="en-US" sz="1800" dirty="0"/>
          </a:p>
        </p:txBody>
      </p:sp>
      <p:sp>
        <p:nvSpPr>
          <p:cNvPr id="4"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 → toObservable() → pipe(debounceTime)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Observable HTTP         → pipe(map, catchError, startWith) → toSignal()</a:t>
            </a:r>
            <a:endParaRPr lang="en-US" sz="88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54/61</a:t>
            </a:r>
            <a:endParaRPr lang="en-US" sz="7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Fin de dojo</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Limiter ou supprimer Zone.js</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55/61</a:t>
            </a:r>
            <a:endParaRPr lang="en-US" sz="7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Fin de dojo — Limiter ou supprimer Zone.js — Ce que fait Zone.js</a:t>
            </a:r>
            <a:endParaRPr lang="en-US" sz="1800" dirty="0"/>
          </a:p>
        </p:txBody>
      </p:sp>
      <p:sp>
        <p:nvSpPr>
          <p:cNvPr id="5" name="Text 2"/>
          <p:cNvSpPr/>
          <p:nvPr/>
        </p:nvSpPr>
        <p:spPr>
          <a:xfrm>
            <a:off x="411480" y="932688"/>
            <a:ext cx="11368735" cy="109728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Zone.js remplace silencieusement au démarrage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window.setTimeout       → version Zone.js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window.Promise          → version Zone.js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window.fetch            → version Zone.js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window.addEventListener → version Zone.js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XMLHttpRequest          → version Zone.js</a:t>
            </a:r>
            <a:endParaRPr lang="en-US" sz="880" dirty="0"/>
          </a:p>
        </p:txBody>
      </p:sp>
      <p:sp>
        <p:nvSpPr>
          <p:cNvPr id="6" name="Text 3"/>
          <p:cNvSpPr/>
          <p:nvPr/>
        </p:nvSpPr>
        <p:spPr>
          <a:xfrm>
            <a:off x="411480" y="2176272"/>
            <a:ext cx="11368735" cy="234086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Zone.js seul — Angular lance un cycle après le setTimeout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setTimeout(()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this.name = 'Alice';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1000);</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Signals + Zone.js encore présent (cas de ce projet, OnPush)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setTimeout(()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this.name.set('Alice'); // Zone.js déclenche encore un cycle,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1000);                 // mais seuls les lecteurs de name() sont re-rendus</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Signals + Zoneless (possible en Angular 21)</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setTimeout(()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this.name.set('Alice'); // setTimeout non patché — seul .set() déclenche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1000);                 // le re-render sur les lecteurs de name()</a:t>
            </a:r>
            <a:endParaRPr lang="en-US" sz="88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56/61</a:t>
            </a:r>
            <a:endParaRPr lang="en-US" sz="7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Fin de dojo — Limiter ou supprimer Zone.js — Cas 1 — Limiter le re-render par composant avec OnPush</a:t>
            </a:r>
            <a:endParaRPr lang="en-US" sz="15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changeDetection: ChangeDetectionStrategy.OnPush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11480" y="1709928"/>
          <a:ext cx="11368735" cy="2176272"/>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Déclencheur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Re-render ?</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Un input() signal reçoit une nouvelle valeur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Oui</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Un @Input() reçoit une nouvelle référence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Oui</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Un async pipe émet une valeur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Oui</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cdr.markForCheck() appelé manuellement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Oui</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Une propriété de classe classique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Non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Un @Input() ou un input()  reçoit le même objet muté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Non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7"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57/61</a:t>
            </a:r>
            <a:endParaRPr lang="en-US" sz="7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Fin de dojo — Limiter ou supprimer Zone.js — Comment un composant est marqué dirty</a:t>
            </a:r>
            <a:endParaRPr lang="en-US" sz="15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3789578"/>
                <a:gridCol w="3789578"/>
                <a:gridCol w="3789578"/>
              </a:tblGrid>
              <a:tr h="310896">
                <a:tc>
                  <a:txBody>
                    <a:bodyPr/>
                    <a:lstStyle/>
                    <a:p>
                      <a:pPr indent="0" marL="0">
                        <a:buNone/>
                      </a:pPr>
                      <a:r>
                        <a:rPr lang="en-US" sz="1020" b="1" dirty="0">
                          <a:solidFill>
                            <a:srgbClr val="FFFFFF"/>
                          </a:solidFill>
                        </a:rPr>
                        <a:t>Déclencheur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Qui marque dirty ?</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Mécanisme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@Input() reçoit une nouvelle référence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(interne)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Comparaison par référence à chaque cycle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input() signal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Angular (graphe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.set() invalide les vues qui lisent ce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async pipe émet une valeur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async pipe lui-même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Appelle cdr.markForCheck() à chaque émission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cdr.markForCheck()</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Le développeur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Marque le composant et tous ses ancêtres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Signal lu dans le template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(graphe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.set() cible directement les vues concernées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6" name="Text 2"/>
          <p:cNvSpPr/>
          <p:nvPr/>
        </p:nvSpPr>
        <p:spPr>
          <a:xfrm>
            <a:off x="411480" y="2962656"/>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Zone.js + OnPush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Zone.js détecte un async → cycle global → Angular parcourt l'arbre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saute les composants non dirty → re-rend les dirty</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Signals + OnPush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.set() → Angular sait exactement quelles vues lisent ce 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marque ces vues dirty ; avec Zone.js, le cycle global peut encore exister</a:t>
            </a:r>
            <a:endParaRPr lang="en-US" sz="880" dirty="0"/>
          </a:p>
        </p:txBody>
      </p:sp>
      <p:sp>
        <p:nvSpPr>
          <p:cNvPr id="7"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58/61</a:t>
            </a:r>
            <a:endParaRPr lang="en-US" sz="7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Fin de dojo — Limiter ou supprimer Zone.js — Cas 2 — Supprimer Zone.js avec le mode Zoneless en Angular 21</a:t>
            </a:r>
            <a:endParaRPr lang="en-US" sz="1500" dirty="0"/>
          </a:p>
        </p:txBody>
      </p:sp>
      <p:sp>
        <p:nvSpPr>
          <p:cNvPr id="5" name="Text 2"/>
          <p:cNvSpPr/>
          <p:nvPr/>
        </p:nvSpPr>
        <p:spPr>
          <a:xfrm>
            <a:off x="411480" y="93268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provideZoneChangeDetection({ eventCoalescing: true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provideZonelessChangeDetection()</a:t>
            </a:r>
            <a:endParaRPr lang="en-US" sz="880" dirty="0"/>
          </a:p>
        </p:txBody>
      </p:sp>
      <p:sp>
        <p:nvSpPr>
          <p:cNvPr id="6" name="Text 3"/>
          <p:cNvSpPr/>
          <p:nvPr/>
        </p:nvSpPr>
        <p:spPr>
          <a:xfrm>
            <a:off x="411480" y="202082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"polyfills": ["zone.js"]</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"polyfills": []</a:t>
            </a:r>
            <a:endParaRPr lang="en-US" sz="880" dirty="0"/>
          </a:p>
        </p:txBody>
      </p:sp>
      <p:sp>
        <p:nvSpPr>
          <p:cNvPr id="7" name="Text 4"/>
          <p:cNvSpPr/>
          <p:nvPr/>
        </p:nvSpPr>
        <p:spPr>
          <a:xfrm>
            <a:off x="411480" y="3108960"/>
            <a:ext cx="11368735" cy="218541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Fragile en zoneless : propriété classique modifiée dans un callback async</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name = 'Alice';</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setTimeout(()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this.name = 'Bob';</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1000);</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Robuste en zoneless : le signal notifie Angular explicitement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name = signal('Alice');</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setTimeout(()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this.name.set('Bob');</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1000);</a:t>
            </a:r>
            <a:endParaRPr lang="en-US" sz="88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59/61</a:t>
            </a:r>
            <a:endParaRPr lang="en-US" sz="7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Fin de dojo — Limiter ou supprimer Zone.js — Les 3 états d'une app Angular</a:t>
            </a:r>
            <a:endParaRPr lang="en-US" sz="1800" dirty="0"/>
          </a:p>
        </p:txBody>
      </p:sp>
      <p:sp>
        <p:nvSpPr>
          <p:cNvPr id="4" name="Text 2"/>
          <p:cNvSpPr/>
          <p:nvPr/>
        </p:nvSpPr>
        <p:spPr>
          <a:xfrm>
            <a:off x="411480" y="932688"/>
            <a:ext cx="11368735" cy="140817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Zone.js présent            Zone.js supprimé</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Sans OnPush   →   Re-render global       →    Les changements classiques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à chaque async              ne sont plus auto-détectés</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Avec OnPush   →   Cycle global lancé,    →   Mode Zoneless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Signals         seuls les composants        Seul .set() déclenche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dirty sont re-rendus        un re-render ciblé</a:t>
            </a:r>
            <a:endParaRPr lang="en-US" sz="88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60/61</a:t>
            </a:r>
            <a:endParaRPr lang="en-US" sz="7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Règles à retenir pendant le dojo</a:t>
            </a:r>
            <a:endParaRPr lang="en-US" sz="1800" dirty="0"/>
          </a:p>
        </p:txBody>
      </p:sp>
      <p:sp>
        <p:nvSpPr>
          <p:cNvPr id="4" name="Text 2"/>
          <p:cNvSpPr/>
          <p:nvPr/>
        </p:nvSpPr>
        <p:spPr>
          <a:xfrm>
            <a:off x="411480" y="932688"/>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1. computed()   ne fait jamais d'appel HTTP — calcul pur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2. effect()     n'expose jamais de valeur    — effets de bord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3. L'enfant émet une INTENTION, le parent exécute l'ACTION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4. Ne pas bridger signal ↔ RxJS systématiquement — rester dans un seul monde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5. Zone.js peut coexister — migrer progressivement, pas tout d'un coup</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6. input() dans un computed() = dépendance réelle / @Input() dans computed() = non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7. toSignal() gère le désabonnement — ne pas ajouter takeUntilDestroyed en plus</a:t>
            </a:r>
            <a:endParaRPr lang="en-US" sz="88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61/61</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Dojo Angular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Angular 21 Signals - Support de presentation dojo</dc:title>
  <dc:subject>Angular 21 Signals</dc:subject>
  <dc:creator>Dojo Angular Signals</dc:creator>
  <cp:lastModifiedBy>Dojo Angular Signals</cp:lastModifiedBy>
  <cp:revision>1</cp:revision>
  <dcterms:created xsi:type="dcterms:W3CDTF">2026-06-02T07:30:41Z</dcterms:created>
  <dcterms:modified xsi:type="dcterms:W3CDTF">2026-06-02T07:30:41Z</dcterms:modified>
</cp:coreProperties>
</file>