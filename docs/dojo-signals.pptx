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en zoneless : seuls les lecteurs directs sont mis a jour. async pipe : composant + parents verifies via markForCheck(), DOM mis a jour seulement si quelque chose a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table couvre les APIs utilisées ou citées dans ce support. Elle ne prétend pas lister toute l'API Angular.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exercices couvrent des primitives Angular avancées. Ils peuvent être traités en autonomie après les exercices socle (1 à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Zoneless, afterEveryRender() ne se declenche que quand Angular a un rendu a effectuer — beaucoup plus previsible qu'en Zone.js.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64592"/>
            <a:ext cx="109728" cy="652881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02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BNP Paribas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0241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F2EA"/>
                </a:solidFill>
              </a:rPr>
              <a:t>Angular Dojo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B2B2A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1716F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1/16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CFEDE2"/>
          </a:solidFill>
          <a:ln w="12700">
            <a:solidFill>
              <a:srgbClr val="CFE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8A5B"/>
                </a:solidFill>
              </a:rPr>
              <a:t>Signal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A5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Un signal est une valeur reactive lue avec (). Quand sa valeur change, Angular sait quelles lectures dependent de cette valeur.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dépend de cette valeur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5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Representer explicitement un etat reactive dans l'application.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Notifier Angular des lectures dependantes quand la valeur change.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2/16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A5B"/>
                </a:solidFill>
              </a:rPr>
              <a:t>Signal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Un signal se lit avec () et se modifie avec .set() ou .update().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computed() derive une valeur ; effect() declenche un effet de bord.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3/16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E8F2EF"/>
          </a:solidFill>
          <a:ln w="12700">
            <a:solidFill>
              <a:srgbClr val="E8F2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6B4F"/>
                </a:solidFill>
              </a:rPr>
              <a:t>Zone.js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B4F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Zone.js intercepte les evenements asynchrones du navigateur et previent Angular qu'un cycle de detection peut etre lance.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B4F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déclenche la détection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B4F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Declencher la detection de changement apres une tache asynchrone.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Fournir le comportement historique d'Angular sans appels manuels de detection.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4/16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B4F"/>
                </a:solidFill>
              </a:rPr>
              <a:t>Zone.js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Zone.js ne modelise pas l'etat applicatif et ne sait pas quelle valeur a change.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Les Signals completent ce mecanisme en rendant les dependances d'etat explicites.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5/16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DFF2EA"/>
          </a:solidFill>
          <a:ln w="12700">
            <a:solidFill>
              <a:srgbClr val="DFF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A86B"/>
                </a:solidFill>
              </a:rPr>
              <a:t>RxJS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6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RxJS sert a modeliser des flux dans le temps : HTTP, route params, evenements, debounceTime, switchMap, combineLatest.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Où placer la frontière avec Signals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6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Modeliser et composer des donnees qui arrivent dans le temps.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Gerer les transformations asynchrones avec des operateurs comme switchMap ou debounceTime.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6/16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RxJS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toSignal() expose la derniere valeur d'un Observable comme signal.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toObservable() permet de repasser d'un signal vers un flux Observable.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7/16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Modes de détection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411480" y="932688"/>
            <a:ext cx="685800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48056" y="960120"/>
            <a:ext cx="61264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Déclencheur</a:t>
            </a:r>
            <a:endParaRPr lang="en-US" sz="780" dirty="0"/>
          </a:p>
        </p:txBody>
      </p:sp>
      <p:sp>
        <p:nvSpPr>
          <p:cNvPr id="8" name="Shape 5"/>
          <p:cNvSpPr/>
          <p:nvPr/>
        </p:nvSpPr>
        <p:spPr>
          <a:xfrm>
            <a:off x="1097280" y="932688"/>
            <a:ext cx="2240280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33856" y="960120"/>
            <a:ext cx="216712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Zone.js (défaut)</a:t>
            </a:r>
            <a:endParaRPr lang="en-US" sz="780" dirty="0"/>
          </a:p>
        </p:txBody>
      </p:sp>
      <p:sp>
        <p:nvSpPr>
          <p:cNvPr id="10" name="Shape 7"/>
          <p:cNvSpPr/>
          <p:nvPr/>
        </p:nvSpPr>
        <p:spPr>
          <a:xfrm>
            <a:off x="3337560" y="932688"/>
            <a:ext cx="2606040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74136" y="960120"/>
            <a:ext cx="25328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Zone.js + OnPush</a:t>
            </a:r>
            <a:endParaRPr lang="en-US" sz="780" dirty="0"/>
          </a:p>
        </p:txBody>
      </p:sp>
      <p:sp>
        <p:nvSpPr>
          <p:cNvPr id="12" name="Shape 9"/>
          <p:cNvSpPr/>
          <p:nvPr/>
        </p:nvSpPr>
        <p:spPr>
          <a:xfrm>
            <a:off x="5943600" y="932688"/>
            <a:ext cx="5836615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80176" y="960120"/>
            <a:ext cx="576346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Zoneless</a:t>
            </a:r>
            <a:endParaRPr lang="en-US" sz="780" dirty="0"/>
          </a:p>
        </p:txBody>
      </p:sp>
      <p:sp>
        <p:nvSpPr>
          <p:cNvPr id="14" name="Shape 11"/>
          <p:cNvSpPr/>
          <p:nvPr/>
        </p:nvSpPr>
        <p:spPr>
          <a:xfrm>
            <a:off x="411480" y="1243584"/>
            <a:ext cx="6858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8056" y="1271016"/>
            <a:ext cx="61264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Evenement async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097280" y="1243584"/>
            <a:ext cx="22402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33856" y="1271016"/>
            <a:ext cx="216712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Tout l'arbre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3337560" y="1243584"/>
            <a:ext cx="26060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374136" y="1271016"/>
            <a:ext cx="25328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Sous-arbre marked dirty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5943600" y="1243584"/>
            <a:ext cx="5836615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80176" y="1271016"/>
            <a:ext cx="576346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Aucun déclencheur automatique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411480" y="1554480"/>
            <a:ext cx="68580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8056" y="1581912"/>
            <a:ext cx="61264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@Input() change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1097280" y="1554480"/>
            <a:ext cx="224028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33856" y="1581912"/>
            <a:ext cx="216712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3337560" y="1554480"/>
            <a:ext cx="260604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374136" y="1581912"/>
            <a:ext cx="25328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5943600" y="1554480"/>
            <a:ext cx="5836615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80176" y="1581912"/>
            <a:ext cx="576346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Aucun effet — utiliser input()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411480" y="1865376"/>
            <a:ext cx="6858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48056" y="1892808"/>
            <a:ext cx="61264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input() / signal change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1097280" y="1865376"/>
            <a:ext cx="22402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133856" y="1892808"/>
            <a:ext cx="216712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3337560" y="1865376"/>
            <a:ext cx="26060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374136" y="1892808"/>
            <a:ext cx="25328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36" name="Shape 33"/>
          <p:cNvSpPr/>
          <p:nvPr/>
        </p:nvSpPr>
        <p:spPr>
          <a:xfrm>
            <a:off x="5943600" y="1865376"/>
            <a:ext cx="5836615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980176" y="1892808"/>
            <a:ext cx="576346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38" name="Shape 35"/>
          <p:cNvSpPr/>
          <p:nvPr/>
        </p:nvSpPr>
        <p:spPr>
          <a:xfrm>
            <a:off x="411480" y="2176272"/>
            <a:ext cx="68580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8056" y="2203704"/>
            <a:ext cx="61264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async pipe</a:t>
            </a:r>
            <a:endParaRPr lang="en-US" sz="780" dirty="0"/>
          </a:p>
        </p:txBody>
      </p:sp>
      <p:sp>
        <p:nvSpPr>
          <p:cNvPr id="40" name="Shape 37"/>
          <p:cNvSpPr/>
          <p:nvPr/>
        </p:nvSpPr>
        <p:spPr>
          <a:xfrm>
            <a:off x="1097280" y="2176272"/>
            <a:ext cx="224028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133856" y="2203704"/>
            <a:ext cx="216712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42" name="Shape 39"/>
          <p:cNvSpPr/>
          <p:nvPr/>
        </p:nvSpPr>
        <p:spPr>
          <a:xfrm>
            <a:off x="3337560" y="2176272"/>
            <a:ext cx="260604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3374136" y="2203704"/>
            <a:ext cx="25328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44" name="Shape 41"/>
          <p:cNvSpPr/>
          <p:nvPr/>
        </p:nvSpPr>
        <p:spPr>
          <a:xfrm>
            <a:off x="5943600" y="2176272"/>
            <a:ext cx="5836615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980176" y="2203704"/>
            <a:ext cx="576346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Composant + parents verifies (markForCheck)</a:t>
            </a:r>
            <a:endParaRPr lang="en-US" sz="780" dirty="0"/>
          </a:p>
        </p:txBody>
      </p:sp>
      <p:sp>
        <p:nvSpPr>
          <p:cNvPr id="46" name="Text 43"/>
          <p:cNvSpPr/>
          <p:nvPr/>
        </p:nvSpPr>
        <p:spPr>
          <a:xfrm>
            <a:off x="411480" y="2651760"/>
            <a:ext cx="11368735" cy="78638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Zone.js (défaut)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ajouter OnPush sur chaque composant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→ migrer les états vers signal() / input()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→ provideZonelessChangeDetection() + retirer zone.js</a:t>
            </a:r>
            <a:endParaRPr lang="en-US" sz="880" dirty="0"/>
          </a:p>
        </p:txBody>
      </p:sp>
      <p:sp>
        <p:nvSpPr>
          <p:cNvPr id="47" name="Text 4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8/16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87552"/>
            <a:ext cx="11368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B2A"/>
                </a:solidFill>
              </a:rPr>
              <a:t>Les branches sont cumulatives jusqu'a l'exercice 5. L'exercice 6 se fait en deux variantes paralleles : ex6 pour output(), ex6-model pour model().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828800" y="1572768"/>
            <a:ext cx="8534095" cy="4160520"/>
          </a:xfrm>
          <a:prstGeom prst="roundRect">
            <a:avLst>
              <a:gd name="adj" fmla="val 1758"/>
            </a:avLst>
          </a:prstGeom>
          <a:solidFill>
            <a:srgbClr val="15332F"/>
          </a:solidFill>
          <a:ln w="12700">
            <a:solidFill>
              <a:srgbClr val="004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1847088"/>
            <a:ext cx="7345375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: support de présentation et documentation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-&gt; ex1 -&gt; ex2 -&gt; ex3 -&gt; ex4 -&gt; ex5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|-&gt; ex6        output()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|-&gt; ex6-model  model()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apres restitution -&gt; ex7 -&gt; ex8 -&gt; ex9 -&gt; ex10 -&gt; ex11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11480" y="5989320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1716F"/>
                </a:solidFill>
              </a:rPr>
              <a:t>ex6-model n'est pas une etape apres ex6 : c'est une alternative pedagogique pour comparer output() et model().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9/16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APIs Signals et associées — Vue d'ensemble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411480" y="932688"/>
            <a:ext cx="1417320" cy="324343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48056" y="960120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FFFFFF"/>
                </a:solidFill>
              </a:rPr>
              <a:t>API</a:t>
            </a:r>
            <a:endParaRPr lang="en-US" sz="740" dirty="0"/>
          </a:p>
        </p:txBody>
      </p:sp>
      <p:sp>
        <p:nvSpPr>
          <p:cNvPr id="8" name="Shape 5"/>
          <p:cNvSpPr/>
          <p:nvPr/>
        </p:nvSpPr>
        <p:spPr>
          <a:xfrm>
            <a:off x="1828800" y="932688"/>
            <a:ext cx="2834640" cy="324343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865376" y="960120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FFFFFF"/>
                </a:solidFill>
              </a:rPr>
              <a:t>Role</a:t>
            </a:r>
            <a:endParaRPr lang="en-US" sz="740" dirty="0"/>
          </a:p>
        </p:txBody>
      </p:sp>
      <p:sp>
        <p:nvSpPr>
          <p:cNvPr id="10" name="Shape 7"/>
          <p:cNvSpPr/>
          <p:nvPr/>
        </p:nvSpPr>
        <p:spPr>
          <a:xfrm>
            <a:off x="4663440" y="932688"/>
            <a:ext cx="7116775" cy="324343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00016" y="960120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FFFFFF"/>
                </a:solidFill>
              </a:rPr>
              <a:t>Exemple fichier</a:t>
            </a:r>
            <a:endParaRPr lang="en-US" sz="740" dirty="0"/>
          </a:p>
        </p:txBody>
      </p:sp>
      <p:sp>
        <p:nvSpPr>
          <p:cNvPr id="12" name="Shape 9"/>
          <p:cNvSpPr/>
          <p:nvPr/>
        </p:nvSpPr>
        <p:spPr>
          <a:xfrm>
            <a:off x="411480" y="1257031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8056" y="1284463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signal()</a:t>
            </a:r>
            <a:endParaRPr lang="en-US" sz="740" dirty="0"/>
          </a:p>
        </p:txBody>
      </p:sp>
      <p:sp>
        <p:nvSpPr>
          <p:cNvPr id="14" name="Shape 11"/>
          <p:cNvSpPr/>
          <p:nvPr/>
        </p:nvSpPr>
        <p:spPr>
          <a:xfrm>
            <a:off x="1828800" y="1257031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865376" y="1284463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Primitive Signal — etat mutable local. Se lit avec () et se modifie avec .set() ou .update().</a:t>
            </a:r>
            <a:endParaRPr lang="en-US" sz="740" dirty="0"/>
          </a:p>
        </p:txBody>
      </p:sp>
      <p:sp>
        <p:nvSpPr>
          <p:cNvPr id="16" name="Shape 13"/>
          <p:cNvSpPr/>
          <p:nvPr/>
        </p:nvSpPr>
        <p:spPr>
          <a:xfrm>
            <a:off x="4663440" y="1257031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00016" y="1284463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clients.component.ts</a:t>
            </a:r>
            <a:endParaRPr lang="en-US" sz="740" dirty="0"/>
          </a:p>
        </p:txBody>
      </p:sp>
      <p:sp>
        <p:nvSpPr>
          <p:cNvPr id="18" name="Shape 15"/>
          <p:cNvSpPr/>
          <p:nvPr/>
        </p:nvSpPr>
        <p:spPr>
          <a:xfrm>
            <a:off x="411480" y="1581374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8056" y="1608806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computed()</a:t>
            </a:r>
            <a:endParaRPr lang="en-US" sz="740" dirty="0"/>
          </a:p>
        </p:txBody>
      </p:sp>
      <p:sp>
        <p:nvSpPr>
          <p:cNvPr id="20" name="Shape 17"/>
          <p:cNvSpPr/>
          <p:nvPr/>
        </p:nvSpPr>
        <p:spPr>
          <a:xfrm>
            <a:off x="1828800" y="1581374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865376" y="1608806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Primitive Signal — valeur derivee pure, mise en cache, recalculee quand ses signaux lus changent.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4663440" y="1581374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00016" y="1608806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accounts.facade.ts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411480" y="1905717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48056" y="1933149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effect()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1828800" y="1905717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865376" y="1933149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Primitive Signal — effet de bord reactif. Sert a synchroniser DOM, titre, page courante, etc.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4663440" y="1905717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00016" y="1933149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clients.component.ts</a:t>
            </a:r>
            <a:endParaRPr lang="en-US" sz="740" dirty="0"/>
          </a:p>
        </p:txBody>
      </p:sp>
      <p:sp>
        <p:nvSpPr>
          <p:cNvPr id="30" name="Shape 27"/>
          <p:cNvSpPr/>
          <p:nvPr/>
        </p:nvSpPr>
        <p:spPr>
          <a:xfrm>
            <a:off x="411480" y="2230060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48056" y="2257492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effect(onCleanup)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1828800" y="2230060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865376" y="2257492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Option de effect() — libere une ressource avant reexecution ou destruction.</a:t>
            </a:r>
            <a:endParaRPr lang="en-US" sz="740" dirty="0"/>
          </a:p>
        </p:txBody>
      </p:sp>
      <p:sp>
        <p:nvSpPr>
          <p:cNvPr id="34" name="Shape 31"/>
          <p:cNvSpPr/>
          <p:nvPr/>
        </p:nvSpPr>
        <p:spPr>
          <a:xfrm>
            <a:off x="4663440" y="2230060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00016" y="2257492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signals-demo.component.ts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411480" y="2554403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8056" y="2581835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viewChild()</a:t>
            </a:r>
            <a:endParaRPr lang="en-US" sz="740" dirty="0"/>
          </a:p>
        </p:txBody>
      </p:sp>
      <p:sp>
        <p:nvSpPr>
          <p:cNvPr id="38" name="Shape 35"/>
          <p:cNvSpPr/>
          <p:nvPr/>
        </p:nvSpPr>
        <p:spPr>
          <a:xfrm>
            <a:off x="1828800" y="2554403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865376" y="2581835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de requete de vue — reference DOM ou composant enfant exposee comme signal. Vaut undefined tant que la cible est absente.</a:t>
            </a:r>
            <a:endParaRPr lang="en-US" sz="740" dirty="0"/>
          </a:p>
        </p:txBody>
      </p:sp>
      <p:sp>
        <p:nvSpPr>
          <p:cNvPr id="40" name="Shape 37"/>
          <p:cNvSpPr/>
          <p:nvPr/>
        </p:nvSpPr>
        <p:spPr>
          <a:xfrm>
            <a:off x="4663440" y="2554403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700016" y="2581835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clients.component.ts</a:t>
            </a:r>
            <a:endParaRPr lang="en-US" sz="740" dirty="0"/>
          </a:p>
        </p:txBody>
      </p:sp>
      <p:sp>
        <p:nvSpPr>
          <p:cNvPr id="42" name="Shape 39"/>
          <p:cNvSpPr/>
          <p:nvPr/>
        </p:nvSpPr>
        <p:spPr>
          <a:xfrm>
            <a:off x="411480" y="2878746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8056" y="2906178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viewChildren()</a:t>
            </a:r>
            <a:endParaRPr lang="en-US" sz="740" dirty="0"/>
          </a:p>
        </p:txBody>
      </p:sp>
      <p:sp>
        <p:nvSpPr>
          <p:cNvPr id="44" name="Shape 41"/>
          <p:cNvSpPr/>
          <p:nvPr/>
        </p:nvSpPr>
        <p:spPr>
          <a:xfrm>
            <a:off x="1828800" y="2878746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865376" y="2906178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de requete de vue — liste reactive de references rendues, mise a jour avec le template.</a:t>
            </a:r>
            <a:endParaRPr lang="en-US" sz="740" dirty="0"/>
          </a:p>
        </p:txBody>
      </p:sp>
      <p:sp>
        <p:nvSpPr>
          <p:cNvPr id="46" name="Shape 43"/>
          <p:cNvSpPr/>
          <p:nvPr/>
        </p:nvSpPr>
        <p:spPr>
          <a:xfrm>
            <a:off x="4663440" y="2878746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700016" y="2906178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signals-demo.component.ts</a:t>
            </a:r>
            <a:endParaRPr lang="en-US" sz="740" dirty="0"/>
          </a:p>
        </p:txBody>
      </p:sp>
      <p:sp>
        <p:nvSpPr>
          <p:cNvPr id="48" name="Shape 45"/>
          <p:cNvSpPr/>
          <p:nvPr/>
        </p:nvSpPr>
        <p:spPr>
          <a:xfrm>
            <a:off x="411480" y="3203089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448056" y="3230521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input()</a:t>
            </a:r>
            <a:endParaRPr lang="en-US" sz="740" dirty="0"/>
          </a:p>
        </p:txBody>
      </p:sp>
      <p:sp>
        <p:nvSpPr>
          <p:cNvPr id="50" name="Shape 47"/>
          <p:cNvSpPr/>
          <p:nvPr/>
        </p:nvSpPr>
        <p:spPr>
          <a:xfrm>
            <a:off x="1828800" y="3203089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865376" y="3230521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composant — entree en lecture seule exposee comme signal, utilisable dans computed().</a:t>
            </a:r>
            <a:endParaRPr lang="en-US" sz="740" dirty="0"/>
          </a:p>
        </p:txBody>
      </p:sp>
      <p:sp>
        <p:nvSpPr>
          <p:cNvPr id="52" name="Shape 49"/>
          <p:cNvSpPr/>
          <p:nvPr/>
        </p:nvSpPr>
        <p:spPr>
          <a:xfrm>
            <a:off x="4663440" y="3203089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700016" y="3230521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account-card.component.ts</a:t>
            </a:r>
            <a:endParaRPr lang="en-US" sz="740" dirty="0"/>
          </a:p>
        </p:txBody>
      </p:sp>
      <p:sp>
        <p:nvSpPr>
          <p:cNvPr id="54" name="Shape 51"/>
          <p:cNvSpPr/>
          <p:nvPr/>
        </p:nvSpPr>
        <p:spPr>
          <a:xfrm>
            <a:off x="411480" y="3527432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48056" y="3554864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output()</a:t>
            </a:r>
            <a:endParaRPr lang="en-US" sz="740" dirty="0"/>
          </a:p>
        </p:txBody>
      </p:sp>
      <p:sp>
        <p:nvSpPr>
          <p:cNvPr id="56" name="Shape 53"/>
          <p:cNvSpPr/>
          <p:nvPr/>
        </p:nvSpPr>
        <p:spPr>
          <a:xfrm>
            <a:off x="1828800" y="3527432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865376" y="3554864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composant — evenement sortant vers le parent. Exprime une intention, pas un etat.</a:t>
            </a:r>
            <a:endParaRPr lang="en-US" sz="740" dirty="0"/>
          </a:p>
        </p:txBody>
      </p:sp>
      <p:sp>
        <p:nvSpPr>
          <p:cNvPr id="58" name="Shape 55"/>
          <p:cNvSpPr/>
          <p:nvPr/>
        </p:nvSpPr>
        <p:spPr>
          <a:xfrm>
            <a:off x="4663440" y="3527432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4700016" y="3554864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account-list.component.ts</a:t>
            </a:r>
            <a:endParaRPr lang="en-US" sz="740" dirty="0"/>
          </a:p>
        </p:txBody>
      </p:sp>
      <p:sp>
        <p:nvSpPr>
          <p:cNvPr id="60" name="Shape 57"/>
          <p:cNvSpPr/>
          <p:nvPr/>
        </p:nvSpPr>
        <p:spPr>
          <a:xfrm>
            <a:off x="411480" y="3851776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48056" y="3879208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model()</a:t>
            </a:r>
            <a:endParaRPr lang="en-US" sz="740" dirty="0"/>
          </a:p>
        </p:txBody>
      </p:sp>
      <p:sp>
        <p:nvSpPr>
          <p:cNvPr id="62" name="Shape 59"/>
          <p:cNvSpPr/>
          <p:nvPr/>
        </p:nvSpPr>
        <p:spPr>
          <a:xfrm>
            <a:off x="1828800" y="3851776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865376" y="3879208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composant — valeur bidirectionnelle explicite : input + output pour selection, toggle, formulaire.</a:t>
            </a:r>
            <a:endParaRPr lang="en-US" sz="740" dirty="0"/>
          </a:p>
        </p:txBody>
      </p:sp>
      <p:sp>
        <p:nvSpPr>
          <p:cNvPr id="64" name="Shape 61"/>
          <p:cNvSpPr/>
          <p:nvPr/>
        </p:nvSpPr>
        <p:spPr>
          <a:xfrm>
            <a:off x="4663440" y="3851776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4700016" y="3879208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account-list.component.ts</a:t>
            </a:r>
            <a:endParaRPr lang="en-US" sz="740" dirty="0"/>
          </a:p>
        </p:txBody>
      </p:sp>
      <p:sp>
        <p:nvSpPr>
          <p:cNvPr id="66" name="Shape 63"/>
          <p:cNvSpPr/>
          <p:nvPr/>
        </p:nvSpPr>
        <p:spPr>
          <a:xfrm>
            <a:off x="411480" y="4176119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448056" y="4203551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linkedSignal()</a:t>
            </a:r>
            <a:endParaRPr lang="en-US" sz="740" dirty="0"/>
          </a:p>
        </p:txBody>
      </p:sp>
      <p:sp>
        <p:nvSpPr>
          <p:cNvPr id="68" name="Shape 65"/>
          <p:cNvSpPr/>
          <p:nvPr/>
        </p:nvSpPr>
        <p:spPr>
          <a:xfrm>
            <a:off x="1828800" y="4176119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1865376" y="4203551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Primitive Signal — signal writable initialise depuis une source et modifiable localement.</a:t>
            </a:r>
            <a:endParaRPr lang="en-US" sz="740" dirty="0"/>
          </a:p>
        </p:txBody>
      </p:sp>
      <p:sp>
        <p:nvSpPr>
          <p:cNvPr id="70" name="Shape 67"/>
          <p:cNvSpPr/>
          <p:nvPr/>
        </p:nvSpPr>
        <p:spPr>
          <a:xfrm>
            <a:off x="4663440" y="4176119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4700016" y="4203551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accounts.component.ts</a:t>
            </a:r>
            <a:endParaRPr lang="en-US" sz="740" dirty="0"/>
          </a:p>
        </p:txBody>
      </p:sp>
      <p:sp>
        <p:nvSpPr>
          <p:cNvPr id="72" name="Shape 69"/>
          <p:cNvSpPr/>
          <p:nvPr/>
        </p:nvSpPr>
        <p:spPr>
          <a:xfrm>
            <a:off x="411480" y="4500462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448056" y="4527894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toSignal()</a:t>
            </a:r>
            <a:endParaRPr lang="en-US" sz="740" dirty="0"/>
          </a:p>
        </p:txBody>
      </p:sp>
      <p:sp>
        <p:nvSpPr>
          <p:cNvPr id="74" name="Shape 71"/>
          <p:cNvSpPr/>
          <p:nvPr/>
        </p:nvSpPr>
        <p:spPr>
          <a:xfrm>
            <a:off x="1828800" y="4500462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1865376" y="4527894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interop RxJS — consomme la derniere valeur d'un Observable sous forme de signal.</a:t>
            </a:r>
            <a:endParaRPr lang="en-US" sz="740" dirty="0"/>
          </a:p>
        </p:txBody>
      </p:sp>
      <p:sp>
        <p:nvSpPr>
          <p:cNvPr id="76" name="Shape 73"/>
          <p:cNvSpPr/>
          <p:nvPr/>
        </p:nvSpPr>
        <p:spPr>
          <a:xfrm>
            <a:off x="4663440" y="4500462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4700016" y="4527894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accounts.component.ts</a:t>
            </a:r>
            <a:endParaRPr lang="en-US" sz="740" dirty="0"/>
          </a:p>
        </p:txBody>
      </p:sp>
      <p:sp>
        <p:nvSpPr>
          <p:cNvPr id="78" name="Shape 75"/>
          <p:cNvSpPr/>
          <p:nvPr/>
        </p:nvSpPr>
        <p:spPr>
          <a:xfrm>
            <a:off x="411480" y="4824805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448056" y="4852237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toObservable()</a:t>
            </a:r>
            <a:endParaRPr lang="en-US" sz="740" dirty="0"/>
          </a:p>
        </p:txBody>
      </p:sp>
      <p:sp>
        <p:nvSpPr>
          <p:cNvPr id="80" name="Shape 77"/>
          <p:cNvSpPr/>
          <p:nvPr/>
        </p:nvSpPr>
        <p:spPr>
          <a:xfrm>
            <a:off x="1828800" y="4824805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1865376" y="4852237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interop RxJS — expose un signal en Observable pour utiliser les operateurs RxJS.</a:t>
            </a:r>
            <a:endParaRPr lang="en-US" sz="740" dirty="0"/>
          </a:p>
        </p:txBody>
      </p:sp>
      <p:sp>
        <p:nvSpPr>
          <p:cNvPr id="82" name="Shape 79"/>
          <p:cNvSpPr/>
          <p:nvPr/>
        </p:nvSpPr>
        <p:spPr>
          <a:xfrm>
            <a:off x="4663440" y="4824805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4700016" y="4852237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clients.component.ts</a:t>
            </a:r>
            <a:endParaRPr lang="en-US" sz="740" dirty="0"/>
          </a:p>
        </p:txBody>
      </p:sp>
      <p:sp>
        <p:nvSpPr>
          <p:cNvPr id="84" name="Shape 81"/>
          <p:cNvSpPr/>
          <p:nvPr/>
        </p:nvSpPr>
        <p:spPr>
          <a:xfrm>
            <a:off x="411480" y="5149148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448056" y="5176580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afterNextRender()</a:t>
            </a:r>
            <a:endParaRPr lang="en-US" sz="740" dirty="0"/>
          </a:p>
        </p:txBody>
      </p:sp>
      <p:sp>
        <p:nvSpPr>
          <p:cNvPr id="86" name="Shape 83"/>
          <p:cNvSpPr/>
          <p:nvPr/>
        </p:nvSpPr>
        <p:spPr>
          <a:xfrm>
            <a:off x="1828800" y="5149148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1865376" y="5176580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Hook de rendu — callback one-shot apres le prochain rendu DOM. Utile pour scroll ou focus post-action.</a:t>
            </a:r>
            <a:endParaRPr lang="en-US" sz="740" dirty="0"/>
          </a:p>
        </p:txBody>
      </p:sp>
      <p:sp>
        <p:nvSpPr>
          <p:cNvPr id="88" name="Shape 85"/>
          <p:cNvSpPr/>
          <p:nvPr/>
        </p:nvSpPr>
        <p:spPr>
          <a:xfrm>
            <a:off x="4663440" y="5149148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4700016" y="5176580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clients.component.ts</a:t>
            </a:r>
            <a:endParaRPr lang="en-US" sz="740" dirty="0"/>
          </a:p>
        </p:txBody>
      </p:sp>
      <p:sp>
        <p:nvSpPr>
          <p:cNvPr id="90" name="Shape 87"/>
          <p:cNvSpPr/>
          <p:nvPr/>
        </p:nvSpPr>
        <p:spPr>
          <a:xfrm>
            <a:off x="411480" y="5473491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448056" y="5500923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afterEveryRender()</a:t>
            </a:r>
            <a:endParaRPr lang="en-US" sz="740" dirty="0"/>
          </a:p>
        </p:txBody>
      </p:sp>
      <p:sp>
        <p:nvSpPr>
          <p:cNvPr id="92" name="Shape 89"/>
          <p:cNvSpPr/>
          <p:nvPr/>
        </p:nvSpPr>
        <p:spPr>
          <a:xfrm>
            <a:off x="1828800" y="5473491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1865376" y="5500923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Hook de rendu — callback recurrent apres chaque rendu Angular. Utile pour mesures DOM continues.</a:t>
            </a:r>
            <a:endParaRPr lang="en-US" sz="740" dirty="0"/>
          </a:p>
        </p:txBody>
      </p:sp>
      <p:sp>
        <p:nvSpPr>
          <p:cNvPr id="94" name="Shape 91"/>
          <p:cNvSpPr/>
          <p:nvPr/>
        </p:nvSpPr>
        <p:spPr>
          <a:xfrm>
            <a:off x="4663440" y="5473491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4700016" y="5500923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signals-demo.component.ts</a:t>
            </a:r>
            <a:endParaRPr lang="en-US" sz="740" dirty="0"/>
          </a:p>
        </p:txBody>
      </p:sp>
      <p:sp>
        <p:nvSpPr>
          <p:cNvPr id="96" name="Shape 93"/>
          <p:cNvSpPr/>
          <p:nvPr/>
        </p:nvSpPr>
        <p:spPr>
          <a:xfrm>
            <a:off x="411480" y="5797834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448056" y="5825266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untracked()</a:t>
            </a:r>
            <a:endParaRPr lang="en-US" sz="740" dirty="0"/>
          </a:p>
        </p:txBody>
      </p:sp>
      <p:sp>
        <p:nvSpPr>
          <p:cNvPr id="98" name="Shape 95"/>
          <p:cNvSpPr/>
          <p:nvPr/>
        </p:nvSpPr>
        <p:spPr>
          <a:xfrm>
            <a:off x="1828800" y="5797834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1865376" y="5825266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Utilitaire Signal — lit un signal sans l'ajouter aux dependances d'un effect() ou computed().</a:t>
            </a:r>
            <a:endParaRPr lang="en-US" sz="740" dirty="0"/>
          </a:p>
        </p:txBody>
      </p:sp>
      <p:sp>
        <p:nvSpPr>
          <p:cNvPr id="100" name="Shape 97"/>
          <p:cNvSpPr/>
          <p:nvPr/>
        </p:nvSpPr>
        <p:spPr>
          <a:xfrm>
            <a:off x="4663440" y="5797834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4700016" y="5825266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clients.component.ts</a:t>
            </a:r>
            <a:endParaRPr lang="en-US" sz="740" dirty="0"/>
          </a:p>
        </p:txBody>
      </p:sp>
      <p:sp>
        <p:nvSpPr>
          <p:cNvPr id="102" name="Shape 99"/>
          <p:cNvSpPr/>
          <p:nvPr/>
        </p:nvSpPr>
        <p:spPr>
          <a:xfrm>
            <a:off x="411480" y="6122177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448056" y="6149609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signal.asReadonly()</a:t>
            </a:r>
            <a:endParaRPr lang="en-US" sz="740" dirty="0"/>
          </a:p>
        </p:txBody>
      </p:sp>
      <p:sp>
        <p:nvSpPr>
          <p:cNvPr id="104" name="Shape 101"/>
          <p:cNvSpPr/>
          <p:nvPr/>
        </p:nvSpPr>
        <p:spPr>
          <a:xfrm>
            <a:off x="1828800" y="6122177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865376" y="6149609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Methode de signal writable — expose un etat interne sans donner acces au setter public.</a:t>
            </a:r>
            <a:endParaRPr lang="en-US" sz="740" dirty="0"/>
          </a:p>
        </p:txBody>
      </p:sp>
      <p:sp>
        <p:nvSpPr>
          <p:cNvPr id="106" name="Shape 103"/>
          <p:cNvSpPr/>
          <p:nvPr/>
        </p:nvSpPr>
        <p:spPr>
          <a:xfrm>
            <a:off x="4663440" y="6122177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7" name="Text 104"/>
          <p:cNvSpPr/>
          <p:nvPr/>
        </p:nvSpPr>
        <p:spPr>
          <a:xfrm>
            <a:off x="4700016" y="6149609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accounts.facade.ts</a:t>
            </a:r>
            <a:endParaRPr lang="en-US" sz="740" dirty="0"/>
          </a:p>
        </p:txBody>
      </p:sp>
      <p:sp>
        <p:nvSpPr>
          <p:cNvPr id="108" name="Text 10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10/16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Primitive Signal — 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Primitive Signal — 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3 — effect() + untracked()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Primitive Signal + utilitaire — effet de bord declenche par les signals lus, avec lecture non suivie.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recalage imperatif de la page courante par une reaction automatique. Lire la page courante avec untracked() pour ne pas l'ajouter aux dependances de l'effet.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API de requete de vue + primitive Signal — 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API composant — entree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6A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API composant — evenement sortant vers le parent. Pas un Observable.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Variante output() : remplacer selectedRequested EventEmitter par output().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6B — model()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API composant — valeur bidirectionnelle input+output. Two-way binding signal.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account-list.component.ts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Variante model() : remplacer editingAccountId input + editRequested + cancelRequested par un seul model(). L'enfant controle l'etat d'edition directement.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7 — linkedSignal()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Primitive Signal — signal mutable qui se reinitialise quand sa source change.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editAccount par un linkedSignal() derive du signal source. La valeur doit se remettre a zero quand le compte selectionne change.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11/16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 — Aller plus loin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8 — toSignal() / toObservable()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API interop RxJS — pont entre Observable RxJS et signal Angular.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9 — afterNextRender() / afterRender()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Hook de rendu — post-rendu DOM one-shot ou recurrent.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la reference au viewport, puis scroller en haut de liste avec afterNextRender() apres l'ajout d'un client.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10 — computed() facade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Primitive Signal — vue derivee de l'etat metier dans une facade.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12/16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01168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Extension avancée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13/16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effect() — onCleanup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684368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056" y="960120"/>
            <a:ext cx="5611216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Sans onCleanup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6095848" y="932688"/>
            <a:ext cx="5684368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2424" y="960120"/>
            <a:ext cx="5611216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Avec onCleanup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411480" y="1243584"/>
            <a:ext cx="568436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271016"/>
            <a:ext cx="5611216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Chaque re-exécution crée une ressource sans supprimer la précédente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6095848" y="1243584"/>
            <a:ext cx="568436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32424" y="1271016"/>
            <a:ext cx="5611216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La ressource est libérée avant la prochaine exécution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411480" y="1719072"/>
            <a:ext cx="11368735" cy="78638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effect((onCleanup) =&gt; {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setInterval(() =&gt; console.log(this.search()), 1000);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onCleanup(() =&gt; clearInterval(id));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14/16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afterNextRender() vs afterEveryRender()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411480" y="932688"/>
            <a:ext cx="1417320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48056" y="960120"/>
            <a:ext cx="134416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1828800" y="932688"/>
            <a:ext cx="2834640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865376" y="960120"/>
            <a:ext cx="27614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afterNextRender()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4663440" y="932688"/>
            <a:ext cx="7116775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00016" y="960120"/>
            <a:ext cx="704362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afterEveryRender()</a:t>
            </a:r>
            <a:endParaRPr lang="en-US" sz="1020" dirty="0"/>
          </a:p>
        </p:txBody>
      </p:sp>
      <p:sp>
        <p:nvSpPr>
          <p:cNvPr id="12" name="Shape 9"/>
          <p:cNvSpPr/>
          <p:nvPr/>
        </p:nvSpPr>
        <p:spPr>
          <a:xfrm>
            <a:off x="411480" y="1243584"/>
            <a:ext cx="14173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8056" y="1271016"/>
            <a:ext cx="134416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Frequence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1828800" y="1243584"/>
            <a:ext cx="28346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865376" y="1271016"/>
            <a:ext cx="27614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Une seule fois apres le prochain rendu</a:t>
            </a:r>
            <a:endParaRPr lang="en-US" sz="1020" dirty="0"/>
          </a:p>
        </p:txBody>
      </p:sp>
      <p:sp>
        <p:nvSpPr>
          <p:cNvPr id="16" name="Shape 13"/>
          <p:cNvSpPr/>
          <p:nvPr/>
        </p:nvSpPr>
        <p:spPr>
          <a:xfrm>
            <a:off x="4663440" y="1243584"/>
            <a:ext cx="7116775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00016" y="1271016"/>
            <a:ext cx="704362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Apres chaque cycle de rendu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411480" y="1554480"/>
            <a:ext cx="141732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8056" y="1581912"/>
            <a:ext cx="134416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Usage typique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1828800" y="1554480"/>
            <a:ext cx="283464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865376" y="1581912"/>
            <a:ext cx="27614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Scroll one-shot, init librairie tierce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4663440" y="1554480"/>
            <a:ext cx="7116775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00016" y="1581912"/>
            <a:ext cx="704362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Mesures DOM continues, animations</a:t>
            </a:r>
            <a:endParaRPr lang="en-US" sz="1020" dirty="0"/>
          </a:p>
        </p:txBody>
      </p:sp>
      <p:sp>
        <p:nvSpPr>
          <p:cNvPr id="24" name="Shape 21"/>
          <p:cNvSpPr/>
          <p:nvPr/>
        </p:nvSpPr>
        <p:spPr>
          <a:xfrm>
            <a:off x="411480" y="1865376"/>
            <a:ext cx="14173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48056" y="1892808"/>
            <a:ext cx="134416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Risque</a:t>
            </a:r>
            <a:endParaRPr lang="en-US" sz="1020" dirty="0"/>
          </a:p>
        </p:txBody>
      </p:sp>
      <p:sp>
        <p:nvSpPr>
          <p:cNvPr id="26" name="Shape 23"/>
          <p:cNvSpPr/>
          <p:nvPr/>
        </p:nvSpPr>
        <p:spPr>
          <a:xfrm>
            <a:off x="1828800" y="1865376"/>
            <a:ext cx="28346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865376" y="1892808"/>
            <a:ext cx="27614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Aucun surcout apres execution</a:t>
            </a:r>
            <a:endParaRPr lang="en-US" sz="1020" dirty="0"/>
          </a:p>
        </p:txBody>
      </p:sp>
      <p:sp>
        <p:nvSpPr>
          <p:cNvPr id="28" name="Shape 25"/>
          <p:cNvSpPr/>
          <p:nvPr/>
        </p:nvSpPr>
        <p:spPr>
          <a:xfrm>
            <a:off x="4663440" y="1865376"/>
            <a:ext cx="7116775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00016" y="1892808"/>
            <a:ext cx="704362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Couteux si le rendu est frequent</a:t>
            </a:r>
            <a:endParaRPr lang="en-US" sz="1020" dirty="0"/>
          </a:p>
        </p:txBody>
      </p:sp>
      <p:sp>
        <p:nvSpPr>
          <p:cNvPr id="30" name="Text 27"/>
          <p:cNvSpPr/>
          <p:nvPr/>
        </p:nvSpPr>
        <p:spPr>
          <a:xfrm>
            <a:off x="411480" y="2340864"/>
            <a:ext cx="11368735" cy="941832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one-shot : scroll apres un ajout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afterNextRender(() =&gt; viewport.scrollToIndex(0), { injector });</a:t>
            </a:r>
            <a:endParaRPr lang="en-US" sz="880" dirty="0"/>
          </a:p>
          <a:p>
            <a:pPr indent="0" marL="0">
              <a:buNone/>
            </a:pP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recurrent : mesure la hauteur a chaque rendu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afterEveryRender(() =&gt; { this.height.set(el.nativeElement.offsetHeight); });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15/16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DFF2EA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B2A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16/16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BNP Paribas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2026-06-11T16:25:30Z</dcterms:created>
  <dcterms:modified xsi:type="dcterms:W3CDTF">2026-06-11T16:25:30Z</dcterms:modified>
</cp:coreProperties>
</file>