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main contient les docs. init reprend la base fonctionnelle sans docs.
Chaque branche d'exercice ajoute uniquement la correction de son exercice par rapport a la branche precedente.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3F8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971800" cy="6858000"/>
          </a:xfrm>
          <a:prstGeom prst="rect">
            <a:avLst/>
          </a:prstGeom>
          <a:solidFill>
            <a:srgbClr val="008A5B"/>
          </a:solidFill>
          <a:ln w="12700">
            <a:solidFill>
              <a:srgbClr val="008A5B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164592" y="164592"/>
            <a:ext cx="109728" cy="6528816"/>
          </a:xfrm>
          <a:prstGeom prst="rect">
            <a:avLst/>
          </a:prstGeom>
          <a:solidFill>
            <a:srgbClr val="00A86B"/>
          </a:solidFill>
          <a:ln w="12700">
            <a:solidFill>
              <a:srgbClr val="00A86B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02920" y="502920"/>
            <a:ext cx="20116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</a:rPr>
              <a:t>BNP Paribas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502920" y="1024128"/>
            <a:ext cx="2011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DFF2EA"/>
                </a:solidFill>
              </a:rPr>
              <a:t>Angular Dojo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3520440" y="1417320"/>
            <a:ext cx="8122615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3800" b="1" dirty="0">
                <a:solidFill>
                  <a:srgbClr val="1B2B2A"/>
                </a:solidFill>
              </a:rPr>
              <a:t>Angular 21 Signals — Dojo court</a:t>
            </a:r>
            <a:endParaRPr lang="en-US" sz="3800" dirty="0"/>
          </a:p>
        </p:txBody>
      </p:sp>
      <p:sp>
        <p:nvSpPr>
          <p:cNvPr id="7" name="Text 5"/>
          <p:cNvSpPr/>
          <p:nvPr/>
        </p:nvSpPr>
        <p:spPr>
          <a:xfrm>
            <a:off x="3566160" y="2788920"/>
            <a:ext cx="8076895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rgbClr val="61716F"/>
                </a:solidFill>
              </a:rPr>
              <a:t>Support de présentation dojo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3566160" y="4160520"/>
            <a:ext cx="4114800" cy="310896"/>
          </a:xfrm>
          <a:prstGeom prst="rect">
            <a:avLst/>
          </a:prstGeom>
          <a:solidFill>
            <a:srgbClr val="CFEDE2"/>
          </a:solidFill>
          <a:ln>
            <a:solidFill>
              <a:srgbClr val="CFEDE2"/>
            </a:solidFill>
          </a:ln>
        </p:spPr>
        <p:txBody>
          <a:bodyPr wrap="square" lIns="254" tIns="254" rIns="254" bIns="254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08A5B"/>
                </a:solidFill>
              </a:rPr>
              <a:t>Angular 21 · Signals · Zone.js · RxJS interop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11277295" y="6537960"/>
            <a:ext cx="50292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00" dirty="0">
                <a:solidFill>
                  <a:srgbClr val="61716F"/>
                </a:solidFill>
              </a:rPr>
              <a:t>1/10</a:t>
            </a:r>
            <a:endParaRPr lang="en-US" sz="7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3F8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91440"/>
          </a:xfrm>
          <a:prstGeom prst="rect">
            <a:avLst/>
          </a:prstGeom>
          <a:solidFill>
            <a:srgbClr val="008A5B"/>
          </a:solidFill>
          <a:ln w="12700">
            <a:solidFill>
              <a:srgbClr val="008A5B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11480" y="219456"/>
            <a:ext cx="9357055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000" b="1" dirty="0">
                <a:solidFill>
                  <a:srgbClr val="1B2B2A"/>
                </a:solidFill>
              </a:rPr>
              <a:t>Rappels — Signal — Définition et rôle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10317175" y="246888"/>
            <a:ext cx="1463040" cy="219456"/>
          </a:xfrm>
          <a:prstGeom prst="rect">
            <a:avLst/>
          </a:prstGeom>
          <a:solidFill>
            <a:srgbClr val="CFEDE2"/>
          </a:solidFill>
          <a:ln>
            <a:solidFill>
              <a:srgbClr val="CFEDE2"/>
            </a:solidFill>
          </a:ln>
        </p:spPr>
        <p:txBody>
          <a:bodyPr wrap="square" lIns="254" tIns="254" rIns="254" bIns="254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008A5B"/>
                </a:solidFill>
              </a:rPr>
              <a:t>BNP Paribas</a:t>
            </a:r>
            <a:endParaRPr lang="en-US" sz="800" dirty="0"/>
          </a:p>
        </p:txBody>
      </p:sp>
      <p:sp>
        <p:nvSpPr>
          <p:cNvPr id="5" name="Shape 3"/>
          <p:cNvSpPr/>
          <p:nvPr/>
        </p:nvSpPr>
        <p:spPr>
          <a:xfrm>
            <a:off x="411480" y="1024128"/>
            <a:ext cx="4617720" cy="4983480"/>
          </a:xfrm>
          <a:prstGeom prst="roundRect">
            <a:avLst>
              <a:gd name="adj" fmla="val 1584"/>
            </a:avLst>
          </a:prstGeom>
          <a:solidFill>
            <a:srgbClr val="CFEDE2"/>
          </a:solidFill>
          <a:ln w="12700">
            <a:solidFill>
              <a:srgbClr val="CFEDE2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58952" y="1353312"/>
            <a:ext cx="379476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008A5B"/>
                </a:solidFill>
              </a:rPr>
              <a:t>Signal</a:t>
            </a:r>
            <a:endParaRPr lang="en-US" sz="3000" dirty="0"/>
          </a:p>
        </p:txBody>
      </p:sp>
      <p:sp>
        <p:nvSpPr>
          <p:cNvPr id="7" name="Text 5"/>
          <p:cNvSpPr/>
          <p:nvPr/>
        </p:nvSpPr>
        <p:spPr>
          <a:xfrm>
            <a:off x="758952" y="2176272"/>
            <a:ext cx="12801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008A5B"/>
                </a:solidFill>
              </a:rPr>
              <a:t>Définition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758952" y="2514600"/>
            <a:ext cx="3822192" cy="169164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indent="0" marL="0">
              <a:buNone/>
            </a:pPr>
            <a:r>
              <a:rPr lang="en-US" sz="1800" b="1" dirty="0">
                <a:solidFill>
                  <a:srgbClr val="1B2B2A"/>
                </a:solidFill>
              </a:rPr>
              <a:t>Un signal est une valeur reactive lue avec (). Quand sa valeur change, Angular sait quelles lectures dependent de cette valeur.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758952" y="4892040"/>
            <a:ext cx="1143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08A5B"/>
                </a:solidFill>
              </a:rPr>
              <a:t>Question clé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758952" y="5193792"/>
            <a:ext cx="37033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dirty="0">
                <a:solidFill>
                  <a:srgbClr val="263B38"/>
                </a:solidFill>
              </a:rPr>
              <a:t>Qui dépend de cette valeur ?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5367528" y="1024128"/>
            <a:ext cx="6412687" cy="4983480"/>
          </a:xfrm>
          <a:prstGeom prst="roundRect">
            <a:avLst>
              <a:gd name="adj" fmla="val 1468"/>
            </a:avLst>
          </a:prstGeom>
          <a:solidFill>
            <a:srgbClr val="FFFFFF"/>
          </a:solidFill>
          <a:ln w="12700">
            <a:solidFill>
              <a:srgbClr val="D6E5E0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5696712" y="1325880"/>
            <a:ext cx="29260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08A5B"/>
                </a:solidFill>
              </a:rPr>
              <a:t>Rôle</a:t>
            </a:r>
            <a:endParaRPr lang="en-US" sz="1700" dirty="0"/>
          </a:p>
        </p:txBody>
      </p:sp>
      <p:sp>
        <p:nvSpPr>
          <p:cNvPr id="13" name="Shape 11"/>
          <p:cNvSpPr/>
          <p:nvPr/>
        </p:nvSpPr>
        <p:spPr>
          <a:xfrm>
            <a:off x="5733288" y="2020824"/>
            <a:ext cx="146304" cy="146304"/>
          </a:xfrm>
          <a:prstGeom prst="ellipse">
            <a:avLst/>
          </a:prstGeom>
          <a:solidFill>
            <a:srgbClr val="008A5B"/>
          </a:solidFill>
          <a:ln w="12700">
            <a:solidFill>
              <a:srgbClr val="008A5B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6025896" y="1920240"/>
            <a:ext cx="547085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500" dirty="0">
                <a:solidFill>
                  <a:srgbClr val="263B38"/>
                </a:solidFill>
              </a:rPr>
              <a:t>Representer explicitement un etat reactive dans l'application.</a:t>
            </a:r>
            <a:endParaRPr lang="en-US" sz="1500" dirty="0"/>
          </a:p>
        </p:txBody>
      </p:sp>
      <p:sp>
        <p:nvSpPr>
          <p:cNvPr id="15" name="Shape 13"/>
          <p:cNvSpPr/>
          <p:nvPr/>
        </p:nvSpPr>
        <p:spPr>
          <a:xfrm>
            <a:off x="5733288" y="3255264"/>
            <a:ext cx="146304" cy="146304"/>
          </a:xfrm>
          <a:prstGeom prst="ellipse">
            <a:avLst/>
          </a:prstGeom>
          <a:solidFill>
            <a:srgbClr val="008A5B"/>
          </a:solidFill>
          <a:ln w="12700">
            <a:solidFill>
              <a:srgbClr val="008A5B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025896" y="3154680"/>
            <a:ext cx="547085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500" dirty="0">
                <a:solidFill>
                  <a:srgbClr val="263B38"/>
                </a:solidFill>
              </a:rPr>
              <a:t>Notifier Angular des lectures dependantes quand la valeur change.</a:t>
            </a:r>
            <a:endParaRPr lang="en-US" sz="1500" dirty="0"/>
          </a:p>
        </p:txBody>
      </p:sp>
      <p:sp>
        <p:nvSpPr>
          <p:cNvPr id="17" name="Text 15"/>
          <p:cNvSpPr/>
          <p:nvPr/>
        </p:nvSpPr>
        <p:spPr>
          <a:xfrm>
            <a:off x="11277295" y="6537960"/>
            <a:ext cx="50292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00" dirty="0">
                <a:solidFill>
                  <a:srgbClr val="61716F"/>
                </a:solidFill>
              </a:rPr>
              <a:t>2/10</a:t>
            </a:r>
            <a:endParaRPr lang="en-US" sz="7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3F8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91440"/>
          </a:xfrm>
          <a:prstGeom prst="rect">
            <a:avLst/>
          </a:prstGeom>
          <a:solidFill>
            <a:srgbClr val="008A5B"/>
          </a:solidFill>
          <a:ln w="12700">
            <a:solidFill>
              <a:srgbClr val="008A5B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11480" y="219456"/>
            <a:ext cx="9357055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000" b="1" dirty="0">
                <a:solidFill>
                  <a:srgbClr val="1B2B2A"/>
                </a:solidFill>
              </a:rPr>
              <a:t>Rappels — Signal — À retenir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10317175" y="246888"/>
            <a:ext cx="1463040" cy="219456"/>
          </a:xfrm>
          <a:prstGeom prst="rect">
            <a:avLst/>
          </a:prstGeom>
          <a:solidFill>
            <a:srgbClr val="CFEDE2"/>
          </a:solidFill>
          <a:ln>
            <a:solidFill>
              <a:srgbClr val="CFEDE2"/>
            </a:solidFill>
          </a:ln>
        </p:spPr>
        <p:txBody>
          <a:bodyPr wrap="square" lIns="254" tIns="254" rIns="254" bIns="254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008A5B"/>
                </a:solidFill>
              </a:rPr>
              <a:t>BNP Paribas</a:t>
            </a:r>
            <a:endParaRPr lang="en-US" sz="800" dirty="0"/>
          </a:p>
        </p:txBody>
      </p:sp>
      <p:sp>
        <p:nvSpPr>
          <p:cNvPr id="5" name="Text 3"/>
          <p:cNvSpPr/>
          <p:nvPr/>
        </p:nvSpPr>
        <p:spPr>
          <a:xfrm>
            <a:off x="411480" y="960120"/>
            <a:ext cx="20574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08A5B"/>
                </a:solidFill>
              </a:rPr>
              <a:t>Signal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411480" y="1572768"/>
            <a:ext cx="11368735" cy="1481328"/>
          </a:xfrm>
          <a:prstGeom prst="roundRect">
            <a:avLst>
              <a:gd name="adj" fmla="val 4938"/>
            </a:avLst>
          </a:prstGeom>
          <a:solidFill>
            <a:srgbClr val="FFFFFF"/>
          </a:solidFill>
          <a:ln w="12700">
            <a:solidFill>
              <a:srgbClr val="D6E5E0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31520" y="1956816"/>
            <a:ext cx="457200" cy="320040"/>
          </a:xfrm>
          <a:prstGeom prst="rect">
            <a:avLst/>
          </a:prstGeom>
          <a:solidFill>
            <a:srgbClr val="CFEDE2"/>
          </a:solidFill>
          <a:ln>
            <a:solidFill>
              <a:srgbClr val="CFEDE2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08A5B"/>
                </a:solidFill>
              </a:rPr>
              <a:t>01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1490472" y="1883664"/>
            <a:ext cx="9951415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800" b="1" dirty="0">
                <a:solidFill>
                  <a:srgbClr val="263B38"/>
                </a:solidFill>
              </a:rPr>
              <a:t>Un signal se lit avec () et se modifie avec .set() ou .update().</a:t>
            </a:r>
            <a:endParaRPr lang="en-US" sz="1800" dirty="0"/>
          </a:p>
        </p:txBody>
      </p:sp>
      <p:sp>
        <p:nvSpPr>
          <p:cNvPr id="9" name="Shape 7"/>
          <p:cNvSpPr/>
          <p:nvPr/>
        </p:nvSpPr>
        <p:spPr>
          <a:xfrm>
            <a:off x="411480" y="3566160"/>
            <a:ext cx="11368735" cy="1481328"/>
          </a:xfrm>
          <a:prstGeom prst="roundRect">
            <a:avLst>
              <a:gd name="adj" fmla="val 4938"/>
            </a:avLst>
          </a:prstGeom>
          <a:solidFill>
            <a:srgbClr val="FFFFFF"/>
          </a:solidFill>
          <a:ln w="12700">
            <a:solidFill>
              <a:srgbClr val="D6E5E0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731520" y="3950208"/>
            <a:ext cx="457200" cy="320040"/>
          </a:xfrm>
          <a:prstGeom prst="rect">
            <a:avLst/>
          </a:prstGeom>
          <a:solidFill>
            <a:srgbClr val="CFEDE2"/>
          </a:solidFill>
          <a:ln>
            <a:solidFill>
              <a:srgbClr val="CFEDE2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08A5B"/>
                </a:solidFill>
              </a:rPr>
              <a:t>02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1490472" y="3877056"/>
            <a:ext cx="9951415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800" b="1" dirty="0">
                <a:solidFill>
                  <a:srgbClr val="263B38"/>
                </a:solidFill>
              </a:rPr>
              <a:t>computed() derive une valeur ; effect() declenche un effet de bord.</a:t>
            </a:r>
            <a:endParaRPr lang="en-US" sz="1800" dirty="0"/>
          </a:p>
        </p:txBody>
      </p:sp>
      <p:sp>
        <p:nvSpPr>
          <p:cNvPr id="12" name="Text 10"/>
          <p:cNvSpPr/>
          <p:nvPr/>
        </p:nvSpPr>
        <p:spPr>
          <a:xfrm>
            <a:off x="11277295" y="6537960"/>
            <a:ext cx="50292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00" dirty="0">
                <a:solidFill>
                  <a:srgbClr val="61716F"/>
                </a:solidFill>
              </a:rPr>
              <a:t>3/10</a:t>
            </a:r>
            <a:endParaRPr lang="en-US" sz="7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3F8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91440"/>
          </a:xfrm>
          <a:prstGeom prst="rect">
            <a:avLst/>
          </a:prstGeom>
          <a:solidFill>
            <a:srgbClr val="008A5B"/>
          </a:solidFill>
          <a:ln w="12700">
            <a:solidFill>
              <a:srgbClr val="008A5B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11480" y="219456"/>
            <a:ext cx="9357055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000" b="1" dirty="0">
                <a:solidFill>
                  <a:srgbClr val="1B2B2A"/>
                </a:solidFill>
              </a:rPr>
              <a:t>Rappels — Zone.js — Définition et rôle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10317175" y="246888"/>
            <a:ext cx="1463040" cy="219456"/>
          </a:xfrm>
          <a:prstGeom prst="rect">
            <a:avLst/>
          </a:prstGeom>
          <a:solidFill>
            <a:srgbClr val="CFEDE2"/>
          </a:solidFill>
          <a:ln>
            <a:solidFill>
              <a:srgbClr val="CFEDE2"/>
            </a:solidFill>
          </a:ln>
        </p:spPr>
        <p:txBody>
          <a:bodyPr wrap="square" lIns="254" tIns="254" rIns="254" bIns="254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008A5B"/>
                </a:solidFill>
              </a:rPr>
              <a:t>BNP Paribas</a:t>
            </a:r>
            <a:endParaRPr lang="en-US" sz="800" dirty="0"/>
          </a:p>
        </p:txBody>
      </p:sp>
      <p:sp>
        <p:nvSpPr>
          <p:cNvPr id="5" name="Shape 3"/>
          <p:cNvSpPr/>
          <p:nvPr/>
        </p:nvSpPr>
        <p:spPr>
          <a:xfrm>
            <a:off x="411480" y="1024128"/>
            <a:ext cx="4617720" cy="4983480"/>
          </a:xfrm>
          <a:prstGeom prst="roundRect">
            <a:avLst>
              <a:gd name="adj" fmla="val 1584"/>
            </a:avLst>
          </a:prstGeom>
          <a:solidFill>
            <a:srgbClr val="E8F2EF"/>
          </a:solidFill>
          <a:ln w="12700">
            <a:solidFill>
              <a:srgbClr val="E8F2EF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58952" y="1353312"/>
            <a:ext cx="379476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006B4F"/>
                </a:solidFill>
              </a:rPr>
              <a:t>Zone.js</a:t>
            </a:r>
            <a:endParaRPr lang="en-US" sz="3000" dirty="0"/>
          </a:p>
        </p:txBody>
      </p:sp>
      <p:sp>
        <p:nvSpPr>
          <p:cNvPr id="7" name="Text 5"/>
          <p:cNvSpPr/>
          <p:nvPr/>
        </p:nvSpPr>
        <p:spPr>
          <a:xfrm>
            <a:off x="758952" y="2176272"/>
            <a:ext cx="12801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006B4F"/>
                </a:solidFill>
              </a:rPr>
              <a:t>Définition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758952" y="2514600"/>
            <a:ext cx="3822192" cy="169164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indent="0" marL="0">
              <a:buNone/>
            </a:pPr>
            <a:r>
              <a:rPr lang="en-US" sz="1800" b="1" dirty="0">
                <a:solidFill>
                  <a:srgbClr val="1B2B2A"/>
                </a:solidFill>
              </a:rPr>
              <a:t>Zone.js intercepte les evenements asynchrones du navigateur et previent Angular qu'un cycle de detection peut etre lance.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758952" y="4892040"/>
            <a:ext cx="1143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06B4F"/>
                </a:solidFill>
              </a:rPr>
              <a:t>Question clé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758952" y="5193792"/>
            <a:ext cx="37033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dirty="0">
                <a:solidFill>
                  <a:srgbClr val="263B38"/>
                </a:solidFill>
              </a:rPr>
              <a:t>Qui déclenche la détection ?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5367528" y="1024128"/>
            <a:ext cx="6412687" cy="4983480"/>
          </a:xfrm>
          <a:prstGeom prst="roundRect">
            <a:avLst>
              <a:gd name="adj" fmla="val 1468"/>
            </a:avLst>
          </a:prstGeom>
          <a:solidFill>
            <a:srgbClr val="FFFFFF"/>
          </a:solidFill>
          <a:ln w="12700">
            <a:solidFill>
              <a:srgbClr val="D6E5E0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5696712" y="1325880"/>
            <a:ext cx="29260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06B4F"/>
                </a:solidFill>
              </a:rPr>
              <a:t>Rôle</a:t>
            </a:r>
            <a:endParaRPr lang="en-US" sz="1700" dirty="0"/>
          </a:p>
        </p:txBody>
      </p:sp>
      <p:sp>
        <p:nvSpPr>
          <p:cNvPr id="13" name="Shape 11"/>
          <p:cNvSpPr/>
          <p:nvPr/>
        </p:nvSpPr>
        <p:spPr>
          <a:xfrm>
            <a:off x="5733288" y="2020824"/>
            <a:ext cx="146304" cy="146304"/>
          </a:xfrm>
          <a:prstGeom prst="ellipse">
            <a:avLst/>
          </a:prstGeom>
          <a:solidFill>
            <a:srgbClr val="006B4F"/>
          </a:solidFill>
          <a:ln w="12700">
            <a:solidFill>
              <a:srgbClr val="006B4F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6025896" y="1920240"/>
            <a:ext cx="547085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500" dirty="0">
                <a:solidFill>
                  <a:srgbClr val="263B38"/>
                </a:solidFill>
              </a:rPr>
              <a:t>Declencher la detection de changement apres une tache asynchrone.</a:t>
            </a:r>
            <a:endParaRPr lang="en-US" sz="1500" dirty="0"/>
          </a:p>
        </p:txBody>
      </p:sp>
      <p:sp>
        <p:nvSpPr>
          <p:cNvPr id="15" name="Shape 13"/>
          <p:cNvSpPr/>
          <p:nvPr/>
        </p:nvSpPr>
        <p:spPr>
          <a:xfrm>
            <a:off x="5733288" y="3255264"/>
            <a:ext cx="146304" cy="146304"/>
          </a:xfrm>
          <a:prstGeom prst="ellipse">
            <a:avLst/>
          </a:prstGeom>
          <a:solidFill>
            <a:srgbClr val="006B4F"/>
          </a:solidFill>
          <a:ln w="12700">
            <a:solidFill>
              <a:srgbClr val="006B4F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025896" y="3154680"/>
            <a:ext cx="547085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500" dirty="0">
                <a:solidFill>
                  <a:srgbClr val="263B38"/>
                </a:solidFill>
              </a:rPr>
              <a:t>Fournir le comportement historique d'Angular sans appels manuels de detection.</a:t>
            </a:r>
            <a:endParaRPr lang="en-US" sz="1500" dirty="0"/>
          </a:p>
        </p:txBody>
      </p:sp>
      <p:sp>
        <p:nvSpPr>
          <p:cNvPr id="17" name="Text 15"/>
          <p:cNvSpPr/>
          <p:nvPr/>
        </p:nvSpPr>
        <p:spPr>
          <a:xfrm>
            <a:off x="11277295" y="6537960"/>
            <a:ext cx="50292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00" dirty="0">
                <a:solidFill>
                  <a:srgbClr val="61716F"/>
                </a:solidFill>
              </a:rPr>
              <a:t>4/10</a:t>
            </a:r>
            <a:endParaRPr lang="en-US" sz="7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3F8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91440"/>
          </a:xfrm>
          <a:prstGeom prst="rect">
            <a:avLst/>
          </a:prstGeom>
          <a:solidFill>
            <a:srgbClr val="008A5B"/>
          </a:solidFill>
          <a:ln w="12700">
            <a:solidFill>
              <a:srgbClr val="008A5B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11480" y="219456"/>
            <a:ext cx="9357055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000" b="1" dirty="0">
                <a:solidFill>
                  <a:srgbClr val="1B2B2A"/>
                </a:solidFill>
              </a:rPr>
              <a:t>Rappels — Zone.js — À retenir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10317175" y="246888"/>
            <a:ext cx="1463040" cy="219456"/>
          </a:xfrm>
          <a:prstGeom prst="rect">
            <a:avLst/>
          </a:prstGeom>
          <a:solidFill>
            <a:srgbClr val="CFEDE2"/>
          </a:solidFill>
          <a:ln>
            <a:solidFill>
              <a:srgbClr val="CFEDE2"/>
            </a:solidFill>
          </a:ln>
        </p:spPr>
        <p:txBody>
          <a:bodyPr wrap="square" lIns="254" tIns="254" rIns="254" bIns="254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008A5B"/>
                </a:solidFill>
              </a:rPr>
              <a:t>BNP Paribas</a:t>
            </a:r>
            <a:endParaRPr lang="en-US" sz="800" dirty="0"/>
          </a:p>
        </p:txBody>
      </p:sp>
      <p:sp>
        <p:nvSpPr>
          <p:cNvPr id="5" name="Text 3"/>
          <p:cNvSpPr/>
          <p:nvPr/>
        </p:nvSpPr>
        <p:spPr>
          <a:xfrm>
            <a:off x="411480" y="960120"/>
            <a:ext cx="20574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06B4F"/>
                </a:solidFill>
              </a:rPr>
              <a:t>Zone.js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411480" y="1572768"/>
            <a:ext cx="11368735" cy="1481328"/>
          </a:xfrm>
          <a:prstGeom prst="roundRect">
            <a:avLst>
              <a:gd name="adj" fmla="val 4938"/>
            </a:avLst>
          </a:prstGeom>
          <a:solidFill>
            <a:srgbClr val="FFFFFF"/>
          </a:solidFill>
          <a:ln w="12700">
            <a:solidFill>
              <a:srgbClr val="D6E5E0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31520" y="1956816"/>
            <a:ext cx="457200" cy="320040"/>
          </a:xfrm>
          <a:prstGeom prst="rect">
            <a:avLst/>
          </a:prstGeom>
          <a:solidFill>
            <a:srgbClr val="E8F2EF"/>
          </a:solidFill>
          <a:ln>
            <a:solidFill>
              <a:srgbClr val="E8F2E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06B4F"/>
                </a:solidFill>
              </a:rPr>
              <a:t>01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1490472" y="1883664"/>
            <a:ext cx="9951415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800" b="1" dirty="0">
                <a:solidFill>
                  <a:srgbClr val="263B38"/>
                </a:solidFill>
              </a:rPr>
              <a:t>Zone.js ne modelise pas l'etat applicatif et ne sait pas quelle valeur a change.</a:t>
            </a:r>
            <a:endParaRPr lang="en-US" sz="1800" dirty="0"/>
          </a:p>
        </p:txBody>
      </p:sp>
      <p:sp>
        <p:nvSpPr>
          <p:cNvPr id="9" name="Shape 7"/>
          <p:cNvSpPr/>
          <p:nvPr/>
        </p:nvSpPr>
        <p:spPr>
          <a:xfrm>
            <a:off x="411480" y="3566160"/>
            <a:ext cx="11368735" cy="1481328"/>
          </a:xfrm>
          <a:prstGeom prst="roundRect">
            <a:avLst>
              <a:gd name="adj" fmla="val 4938"/>
            </a:avLst>
          </a:prstGeom>
          <a:solidFill>
            <a:srgbClr val="FFFFFF"/>
          </a:solidFill>
          <a:ln w="12700">
            <a:solidFill>
              <a:srgbClr val="D6E5E0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731520" y="3950208"/>
            <a:ext cx="457200" cy="320040"/>
          </a:xfrm>
          <a:prstGeom prst="rect">
            <a:avLst/>
          </a:prstGeom>
          <a:solidFill>
            <a:srgbClr val="E8F2EF"/>
          </a:solidFill>
          <a:ln>
            <a:solidFill>
              <a:srgbClr val="E8F2E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06B4F"/>
                </a:solidFill>
              </a:rPr>
              <a:t>02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1490472" y="3877056"/>
            <a:ext cx="9951415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800" b="1" dirty="0">
                <a:solidFill>
                  <a:srgbClr val="263B38"/>
                </a:solidFill>
              </a:rPr>
              <a:t>Les Signals completent ce mecanisme en rendant les dependances d'etat explicites.</a:t>
            </a:r>
            <a:endParaRPr lang="en-US" sz="1800" dirty="0"/>
          </a:p>
        </p:txBody>
      </p:sp>
      <p:sp>
        <p:nvSpPr>
          <p:cNvPr id="12" name="Text 10"/>
          <p:cNvSpPr/>
          <p:nvPr/>
        </p:nvSpPr>
        <p:spPr>
          <a:xfrm>
            <a:off x="11277295" y="6537960"/>
            <a:ext cx="50292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00" dirty="0">
                <a:solidFill>
                  <a:srgbClr val="61716F"/>
                </a:solidFill>
              </a:rPr>
              <a:t>5/10</a:t>
            </a:r>
            <a:endParaRPr lang="en-US" sz="7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3F8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91440"/>
          </a:xfrm>
          <a:prstGeom prst="rect">
            <a:avLst/>
          </a:prstGeom>
          <a:solidFill>
            <a:srgbClr val="008A5B"/>
          </a:solidFill>
          <a:ln w="12700">
            <a:solidFill>
              <a:srgbClr val="008A5B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11480" y="219456"/>
            <a:ext cx="9357055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000" b="1" dirty="0">
                <a:solidFill>
                  <a:srgbClr val="1B2B2A"/>
                </a:solidFill>
              </a:rPr>
              <a:t>Rappels — RxJS — Définition et rôle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10317175" y="246888"/>
            <a:ext cx="1463040" cy="219456"/>
          </a:xfrm>
          <a:prstGeom prst="rect">
            <a:avLst/>
          </a:prstGeom>
          <a:solidFill>
            <a:srgbClr val="CFEDE2"/>
          </a:solidFill>
          <a:ln>
            <a:solidFill>
              <a:srgbClr val="CFEDE2"/>
            </a:solidFill>
          </a:ln>
        </p:spPr>
        <p:txBody>
          <a:bodyPr wrap="square" lIns="254" tIns="254" rIns="254" bIns="254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008A5B"/>
                </a:solidFill>
              </a:rPr>
              <a:t>BNP Paribas</a:t>
            </a:r>
            <a:endParaRPr lang="en-US" sz="800" dirty="0"/>
          </a:p>
        </p:txBody>
      </p:sp>
      <p:sp>
        <p:nvSpPr>
          <p:cNvPr id="5" name="Shape 3"/>
          <p:cNvSpPr/>
          <p:nvPr/>
        </p:nvSpPr>
        <p:spPr>
          <a:xfrm>
            <a:off x="411480" y="1024128"/>
            <a:ext cx="4617720" cy="4983480"/>
          </a:xfrm>
          <a:prstGeom prst="roundRect">
            <a:avLst>
              <a:gd name="adj" fmla="val 1584"/>
            </a:avLst>
          </a:prstGeom>
          <a:solidFill>
            <a:srgbClr val="DFF2EA"/>
          </a:solidFill>
          <a:ln w="12700">
            <a:solidFill>
              <a:srgbClr val="DFF2EA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58952" y="1353312"/>
            <a:ext cx="379476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00A86B"/>
                </a:solidFill>
              </a:rPr>
              <a:t>RxJS</a:t>
            </a:r>
            <a:endParaRPr lang="en-US" sz="3000" dirty="0"/>
          </a:p>
        </p:txBody>
      </p:sp>
      <p:sp>
        <p:nvSpPr>
          <p:cNvPr id="7" name="Text 5"/>
          <p:cNvSpPr/>
          <p:nvPr/>
        </p:nvSpPr>
        <p:spPr>
          <a:xfrm>
            <a:off x="758952" y="2176272"/>
            <a:ext cx="12801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00A86B"/>
                </a:solidFill>
              </a:rPr>
              <a:t>Définition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758952" y="2514600"/>
            <a:ext cx="3822192" cy="169164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indent="0" marL="0">
              <a:buNone/>
            </a:pPr>
            <a:r>
              <a:rPr lang="en-US" sz="1800" b="1" dirty="0">
                <a:solidFill>
                  <a:srgbClr val="1B2B2A"/>
                </a:solidFill>
              </a:rPr>
              <a:t>RxJS sert a modeliser des flux dans le temps : HTTP, route params, evenements, debounceTime, switchMap, combineLatest.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758952" y="4892040"/>
            <a:ext cx="1143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0A86B"/>
                </a:solidFill>
              </a:rPr>
              <a:t>Question clé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758952" y="5193792"/>
            <a:ext cx="37033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dirty="0">
                <a:solidFill>
                  <a:srgbClr val="263B38"/>
                </a:solidFill>
              </a:rPr>
              <a:t>Où placer la frontière avec Signals ?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5367528" y="1024128"/>
            <a:ext cx="6412687" cy="4983480"/>
          </a:xfrm>
          <a:prstGeom prst="roundRect">
            <a:avLst>
              <a:gd name="adj" fmla="val 1468"/>
            </a:avLst>
          </a:prstGeom>
          <a:solidFill>
            <a:srgbClr val="FFFFFF"/>
          </a:solidFill>
          <a:ln w="12700">
            <a:solidFill>
              <a:srgbClr val="D6E5E0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5696712" y="1325880"/>
            <a:ext cx="29260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0A86B"/>
                </a:solidFill>
              </a:rPr>
              <a:t>Rôle</a:t>
            </a:r>
            <a:endParaRPr lang="en-US" sz="1700" dirty="0"/>
          </a:p>
        </p:txBody>
      </p:sp>
      <p:sp>
        <p:nvSpPr>
          <p:cNvPr id="13" name="Shape 11"/>
          <p:cNvSpPr/>
          <p:nvPr/>
        </p:nvSpPr>
        <p:spPr>
          <a:xfrm>
            <a:off x="5733288" y="2020824"/>
            <a:ext cx="146304" cy="146304"/>
          </a:xfrm>
          <a:prstGeom prst="ellipse">
            <a:avLst/>
          </a:prstGeom>
          <a:solidFill>
            <a:srgbClr val="00A86B"/>
          </a:solidFill>
          <a:ln w="12700">
            <a:solidFill>
              <a:srgbClr val="00A86B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6025896" y="1920240"/>
            <a:ext cx="547085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500" dirty="0">
                <a:solidFill>
                  <a:srgbClr val="263B38"/>
                </a:solidFill>
              </a:rPr>
              <a:t>Modeliser et composer des donnees qui arrivent dans le temps.</a:t>
            </a:r>
            <a:endParaRPr lang="en-US" sz="1500" dirty="0"/>
          </a:p>
        </p:txBody>
      </p:sp>
      <p:sp>
        <p:nvSpPr>
          <p:cNvPr id="15" name="Shape 13"/>
          <p:cNvSpPr/>
          <p:nvPr/>
        </p:nvSpPr>
        <p:spPr>
          <a:xfrm>
            <a:off x="5733288" y="3255264"/>
            <a:ext cx="146304" cy="146304"/>
          </a:xfrm>
          <a:prstGeom prst="ellipse">
            <a:avLst/>
          </a:prstGeom>
          <a:solidFill>
            <a:srgbClr val="00A86B"/>
          </a:solidFill>
          <a:ln w="12700">
            <a:solidFill>
              <a:srgbClr val="00A86B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025896" y="3154680"/>
            <a:ext cx="547085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500" dirty="0">
                <a:solidFill>
                  <a:srgbClr val="263B38"/>
                </a:solidFill>
              </a:rPr>
              <a:t>Gerer les transformations asynchrones avec des operateurs comme switchMap ou debounceTime.</a:t>
            </a:r>
            <a:endParaRPr lang="en-US" sz="1500" dirty="0"/>
          </a:p>
        </p:txBody>
      </p:sp>
      <p:sp>
        <p:nvSpPr>
          <p:cNvPr id="17" name="Text 15"/>
          <p:cNvSpPr/>
          <p:nvPr/>
        </p:nvSpPr>
        <p:spPr>
          <a:xfrm>
            <a:off x="11277295" y="6537960"/>
            <a:ext cx="50292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00" dirty="0">
                <a:solidFill>
                  <a:srgbClr val="61716F"/>
                </a:solidFill>
              </a:rPr>
              <a:t>6/10</a:t>
            </a:r>
            <a:endParaRPr lang="en-US" sz="7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3F8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91440"/>
          </a:xfrm>
          <a:prstGeom prst="rect">
            <a:avLst/>
          </a:prstGeom>
          <a:solidFill>
            <a:srgbClr val="008A5B"/>
          </a:solidFill>
          <a:ln w="12700">
            <a:solidFill>
              <a:srgbClr val="008A5B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11480" y="219456"/>
            <a:ext cx="9357055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000" b="1" dirty="0">
                <a:solidFill>
                  <a:srgbClr val="1B2B2A"/>
                </a:solidFill>
              </a:rPr>
              <a:t>Rappels — RxJS — À retenir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10317175" y="246888"/>
            <a:ext cx="1463040" cy="219456"/>
          </a:xfrm>
          <a:prstGeom prst="rect">
            <a:avLst/>
          </a:prstGeom>
          <a:solidFill>
            <a:srgbClr val="CFEDE2"/>
          </a:solidFill>
          <a:ln>
            <a:solidFill>
              <a:srgbClr val="CFEDE2"/>
            </a:solidFill>
          </a:ln>
        </p:spPr>
        <p:txBody>
          <a:bodyPr wrap="square" lIns="254" tIns="254" rIns="254" bIns="254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008A5B"/>
                </a:solidFill>
              </a:rPr>
              <a:t>BNP Paribas</a:t>
            </a:r>
            <a:endParaRPr lang="en-US" sz="800" dirty="0"/>
          </a:p>
        </p:txBody>
      </p:sp>
      <p:sp>
        <p:nvSpPr>
          <p:cNvPr id="5" name="Text 3"/>
          <p:cNvSpPr/>
          <p:nvPr/>
        </p:nvSpPr>
        <p:spPr>
          <a:xfrm>
            <a:off x="411480" y="960120"/>
            <a:ext cx="20574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0A86B"/>
                </a:solidFill>
              </a:rPr>
              <a:t>RxJS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411480" y="1572768"/>
            <a:ext cx="11368735" cy="1481328"/>
          </a:xfrm>
          <a:prstGeom prst="roundRect">
            <a:avLst>
              <a:gd name="adj" fmla="val 4938"/>
            </a:avLst>
          </a:prstGeom>
          <a:solidFill>
            <a:srgbClr val="FFFFFF"/>
          </a:solidFill>
          <a:ln w="12700">
            <a:solidFill>
              <a:srgbClr val="D6E5E0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31520" y="1956816"/>
            <a:ext cx="457200" cy="320040"/>
          </a:xfrm>
          <a:prstGeom prst="rect">
            <a:avLst/>
          </a:prstGeom>
          <a:solidFill>
            <a:srgbClr val="DFF2EA"/>
          </a:solidFill>
          <a:ln>
            <a:solidFill>
              <a:srgbClr val="DFF2EA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0A86B"/>
                </a:solidFill>
              </a:rPr>
              <a:t>01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1490472" y="1883664"/>
            <a:ext cx="9951415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800" b="1" dirty="0">
                <a:solidFill>
                  <a:srgbClr val="263B38"/>
                </a:solidFill>
              </a:rPr>
              <a:t>toSignal() expose la derniere valeur d'un Observable comme signal.</a:t>
            </a:r>
            <a:endParaRPr lang="en-US" sz="1800" dirty="0"/>
          </a:p>
        </p:txBody>
      </p:sp>
      <p:sp>
        <p:nvSpPr>
          <p:cNvPr id="9" name="Shape 7"/>
          <p:cNvSpPr/>
          <p:nvPr/>
        </p:nvSpPr>
        <p:spPr>
          <a:xfrm>
            <a:off x="411480" y="3566160"/>
            <a:ext cx="11368735" cy="1481328"/>
          </a:xfrm>
          <a:prstGeom prst="roundRect">
            <a:avLst>
              <a:gd name="adj" fmla="val 4938"/>
            </a:avLst>
          </a:prstGeom>
          <a:solidFill>
            <a:srgbClr val="FFFFFF"/>
          </a:solidFill>
          <a:ln w="12700">
            <a:solidFill>
              <a:srgbClr val="D6E5E0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731520" y="3950208"/>
            <a:ext cx="457200" cy="320040"/>
          </a:xfrm>
          <a:prstGeom prst="rect">
            <a:avLst/>
          </a:prstGeom>
          <a:solidFill>
            <a:srgbClr val="DFF2EA"/>
          </a:solidFill>
          <a:ln>
            <a:solidFill>
              <a:srgbClr val="DFF2EA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0A86B"/>
                </a:solidFill>
              </a:rPr>
              <a:t>02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1490472" y="3877056"/>
            <a:ext cx="9951415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800" b="1" dirty="0">
                <a:solidFill>
                  <a:srgbClr val="263B38"/>
                </a:solidFill>
              </a:rPr>
              <a:t>toObservable() permet de repasser d'un signal vers un flux Observable.</a:t>
            </a:r>
            <a:endParaRPr lang="en-US" sz="1800" dirty="0"/>
          </a:p>
        </p:txBody>
      </p:sp>
      <p:sp>
        <p:nvSpPr>
          <p:cNvPr id="12" name="Text 10"/>
          <p:cNvSpPr/>
          <p:nvPr/>
        </p:nvSpPr>
        <p:spPr>
          <a:xfrm>
            <a:off x="11277295" y="6537960"/>
            <a:ext cx="50292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00" dirty="0">
                <a:solidFill>
                  <a:srgbClr val="61716F"/>
                </a:solidFill>
              </a:rPr>
              <a:t>7/10</a:t>
            </a:r>
            <a:endParaRPr lang="en-US" sz="7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3F8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91440"/>
          </a:xfrm>
          <a:prstGeom prst="rect">
            <a:avLst/>
          </a:prstGeom>
          <a:solidFill>
            <a:srgbClr val="008A5B"/>
          </a:solidFill>
          <a:ln w="12700">
            <a:solidFill>
              <a:srgbClr val="008A5B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11480" y="219456"/>
            <a:ext cx="9357055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000" b="1" dirty="0">
                <a:solidFill>
                  <a:srgbClr val="1B2B2A"/>
                </a:solidFill>
              </a:rPr>
              <a:t>Structure des branches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10317175" y="246888"/>
            <a:ext cx="1463040" cy="219456"/>
          </a:xfrm>
          <a:prstGeom prst="rect">
            <a:avLst/>
          </a:prstGeom>
          <a:solidFill>
            <a:srgbClr val="CFEDE2"/>
          </a:solidFill>
          <a:ln>
            <a:solidFill>
              <a:srgbClr val="CFEDE2"/>
            </a:solidFill>
          </a:ln>
        </p:spPr>
        <p:txBody>
          <a:bodyPr wrap="square" lIns="254" tIns="254" rIns="254" bIns="254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008A5B"/>
                </a:solidFill>
              </a:rPr>
              <a:t>BNP Paribas</a:t>
            </a:r>
            <a:endParaRPr lang="en-US" sz="800" dirty="0"/>
          </a:p>
        </p:txBody>
      </p:sp>
      <p:sp>
        <p:nvSpPr>
          <p:cNvPr id="6" name="Text 3"/>
          <p:cNvSpPr/>
          <p:nvPr/>
        </p:nvSpPr>
        <p:spPr>
          <a:xfrm>
            <a:off x="411480" y="932688"/>
            <a:ext cx="11368735" cy="1563624"/>
          </a:xfrm>
          <a:prstGeom prst="rect">
            <a:avLst/>
          </a:prstGeom>
          <a:solidFill>
            <a:srgbClr val="15332F"/>
          </a:solidFill>
          <a:ln/>
        </p:spPr>
        <p:txBody>
          <a:bodyPr wrap="square" lIns="1016" tIns="1016" rIns="1016" bIns="1016" rtlCol="0" anchor="t">
            <a:normAutofit/>
          </a:bodyPr>
          <a:lstStyle/>
          <a:p>
            <a:pPr indent="0" marL="0">
              <a:buNone/>
            </a:pPr>
            <a:r>
              <a:rPr lang="en-US" sz="880" dirty="0">
                <a:solidFill>
                  <a:srgbClr val="F8FAF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init</a:t>
            </a:r>
            <a:endParaRPr lang="en-US" sz="880" dirty="0"/>
          </a:p>
          <a:p>
            <a:pPr indent="0" marL="0">
              <a:buNone/>
            </a:pPr>
            <a:r>
              <a:rPr lang="en-US" sz="880" dirty="0">
                <a:solidFill>
                  <a:srgbClr val="F8FAF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`-- exercice-1</a:t>
            </a:r>
            <a:endParaRPr lang="en-US" sz="880" dirty="0"/>
          </a:p>
          <a:p>
            <a:pPr indent="0" marL="0">
              <a:buNone/>
            </a:pPr>
            <a:r>
              <a:rPr lang="en-US" sz="880" dirty="0">
                <a:solidFill>
                  <a:srgbClr val="F8FAF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`-- exercice-2</a:t>
            </a:r>
            <a:endParaRPr lang="en-US" sz="880" dirty="0"/>
          </a:p>
          <a:p>
            <a:pPr indent="0" marL="0">
              <a:buNone/>
            </a:pPr>
            <a:r>
              <a:rPr lang="en-US" sz="880" dirty="0">
                <a:solidFill>
                  <a:srgbClr val="F8FAF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`-- exercice-3</a:t>
            </a:r>
            <a:endParaRPr lang="en-US" sz="880" dirty="0"/>
          </a:p>
          <a:p>
            <a:pPr indent="0" marL="0">
              <a:buNone/>
            </a:pPr>
            <a:r>
              <a:rPr lang="en-US" sz="880" dirty="0">
                <a:solidFill>
                  <a:srgbClr val="F8FAF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`-- exercice-4</a:t>
            </a:r>
            <a:endParaRPr lang="en-US" sz="880" dirty="0"/>
          </a:p>
          <a:p>
            <a:pPr indent="0" marL="0">
              <a:buNone/>
            </a:pPr>
            <a:r>
              <a:rPr lang="en-US" sz="880" dirty="0">
                <a:solidFill>
                  <a:srgbClr val="F8FAF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    `-- exercice-5</a:t>
            </a:r>
            <a:endParaRPr lang="en-US" sz="880" dirty="0"/>
          </a:p>
          <a:p>
            <a:pPr indent="0" marL="0">
              <a:buNone/>
            </a:pPr>
            <a:r>
              <a:rPr lang="en-US" sz="880" dirty="0">
                <a:solidFill>
                  <a:srgbClr val="F8FAF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        `-- exercice-6</a:t>
            </a:r>
            <a:endParaRPr lang="en-US" sz="880" dirty="0"/>
          </a:p>
          <a:p>
            <a:pPr indent="0" marL="0">
              <a:buNone/>
            </a:pPr>
            <a:r>
              <a:rPr lang="en-US" sz="880" dirty="0">
                <a:solidFill>
                  <a:srgbClr val="F8FAF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            `-- exercice-7</a:t>
            </a:r>
            <a:endParaRPr lang="en-US" sz="880" dirty="0"/>
          </a:p>
          <a:p>
            <a:pPr indent="0" marL="0">
              <a:buNone/>
            </a:pPr>
            <a:r>
              <a:rPr lang="en-US" sz="880" dirty="0">
                <a:solidFill>
                  <a:srgbClr val="F8FAF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                `-- exercice-8</a:t>
            </a:r>
            <a:endParaRPr lang="en-US" sz="880" dirty="0"/>
          </a:p>
        </p:txBody>
      </p:sp>
      <p:sp>
        <p:nvSpPr>
          <p:cNvPr id="7" name="Text 4"/>
          <p:cNvSpPr/>
          <p:nvPr/>
        </p:nvSpPr>
        <p:spPr>
          <a:xfrm>
            <a:off x="11277295" y="6537960"/>
            <a:ext cx="50292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00" dirty="0">
                <a:solidFill>
                  <a:srgbClr val="61716F"/>
                </a:solidFill>
              </a:rPr>
              <a:t>8/10</a:t>
            </a:r>
            <a:endParaRPr lang="en-US" sz="7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3F8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91440"/>
          </a:xfrm>
          <a:prstGeom prst="rect">
            <a:avLst/>
          </a:prstGeom>
          <a:solidFill>
            <a:srgbClr val="008A5B"/>
          </a:solidFill>
          <a:ln w="12700">
            <a:solidFill>
              <a:srgbClr val="008A5B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11480" y="219456"/>
            <a:ext cx="9357055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000" b="1" dirty="0">
                <a:solidFill>
                  <a:srgbClr val="1B2B2A"/>
                </a:solidFill>
              </a:rPr>
              <a:t>Exercices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10317175" y="246888"/>
            <a:ext cx="1463040" cy="219456"/>
          </a:xfrm>
          <a:prstGeom prst="rect">
            <a:avLst/>
          </a:prstGeom>
          <a:solidFill>
            <a:srgbClr val="CFEDE2"/>
          </a:solidFill>
          <a:ln>
            <a:solidFill>
              <a:srgbClr val="CFEDE2"/>
            </a:solidFill>
          </a:ln>
        </p:spPr>
        <p:txBody>
          <a:bodyPr wrap="square" lIns="254" tIns="254" rIns="254" bIns="254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008A5B"/>
                </a:solidFill>
              </a:rPr>
              <a:t>BNP Paribas</a:t>
            </a:r>
            <a:endParaRPr lang="en-US" sz="800" dirty="0"/>
          </a:p>
        </p:txBody>
      </p:sp>
      <p:sp>
        <p:nvSpPr>
          <p:cNvPr id="5" name="Shape 3"/>
          <p:cNvSpPr/>
          <p:nvPr/>
        </p:nvSpPr>
        <p:spPr>
          <a:xfrm>
            <a:off x="411480" y="932688"/>
            <a:ext cx="5574640" cy="1170432"/>
          </a:xfrm>
          <a:prstGeom prst="roundRect">
            <a:avLst>
              <a:gd name="adj" fmla="val 4688"/>
            </a:avLst>
          </a:prstGeom>
          <a:solidFill>
            <a:srgbClr val="FFFFFF"/>
          </a:solidFill>
          <a:ln w="12700">
            <a:solidFill>
              <a:srgbClr val="D6E5E0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411480" y="932688"/>
            <a:ext cx="73152" cy="1170432"/>
          </a:xfrm>
          <a:prstGeom prst="rect">
            <a:avLst/>
          </a:prstGeom>
          <a:solidFill>
            <a:srgbClr val="008A5B"/>
          </a:solidFill>
          <a:ln w="12700">
            <a:solidFill>
              <a:srgbClr val="008A5B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576072" y="1042416"/>
            <a:ext cx="14173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20" b="1" dirty="0">
                <a:solidFill>
                  <a:srgbClr val="008A5B"/>
                </a:solidFill>
              </a:rPr>
              <a:t>1 — signal()</a:t>
            </a:r>
            <a:endParaRPr lang="en-US" sz="820" dirty="0"/>
          </a:p>
        </p:txBody>
      </p:sp>
      <p:sp>
        <p:nvSpPr>
          <p:cNvPr id="8" name="Text 6"/>
          <p:cNvSpPr/>
          <p:nvPr/>
        </p:nvSpPr>
        <p:spPr>
          <a:xfrm>
            <a:off x="2039112" y="1042416"/>
            <a:ext cx="37915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680" dirty="0">
                <a:solidFill>
                  <a:srgbClr val="61716F"/>
                </a:solidFill>
              </a:rPr>
              <a:t>Valeur reactive mutable lue avec ().</a:t>
            </a:r>
            <a:endParaRPr lang="en-US" sz="680" dirty="0"/>
          </a:p>
        </p:txBody>
      </p:sp>
      <p:sp>
        <p:nvSpPr>
          <p:cNvPr id="9" name="Text 7"/>
          <p:cNvSpPr/>
          <p:nvPr/>
        </p:nvSpPr>
        <p:spPr>
          <a:xfrm>
            <a:off x="576072" y="1298448"/>
            <a:ext cx="18745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580" dirty="0">
                <a:solidFill>
                  <a:srgbClr val="006B4F"/>
                </a:solidFill>
              </a:rPr>
              <a:t>clients/pages/clients/clients.component.ts</a:t>
            </a:r>
            <a:endParaRPr lang="en-US" sz="580" dirty="0"/>
          </a:p>
        </p:txBody>
      </p:sp>
      <p:sp>
        <p:nvSpPr>
          <p:cNvPr id="10" name="Text 8"/>
          <p:cNvSpPr/>
          <p:nvPr/>
        </p:nvSpPr>
        <p:spPr>
          <a:xfrm>
            <a:off x="2551176" y="1289304"/>
            <a:ext cx="3270352" cy="658368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indent="0" marL="0">
              <a:buNone/>
            </a:pPr>
            <a:r>
              <a:rPr lang="en-US" sz="680" dirty="0">
                <a:solidFill>
                  <a:srgbClr val="263B38"/>
                </a:solidFill>
              </a:rPr>
              <a:t>Convertir l'etat adding en signal. Le template doit afficher le formulaire a partir de ce nouvel etat reactif.</a:t>
            </a:r>
            <a:endParaRPr lang="en-US" sz="680" dirty="0"/>
          </a:p>
        </p:txBody>
      </p:sp>
      <p:sp>
        <p:nvSpPr>
          <p:cNvPr id="11" name="Shape 9"/>
          <p:cNvSpPr/>
          <p:nvPr/>
        </p:nvSpPr>
        <p:spPr>
          <a:xfrm>
            <a:off x="411480" y="2203704"/>
            <a:ext cx="5574640" cy="1170432"/>
          </a:xfrm>
          <a:prstGeom prst="roundRect">
            <a:avLst>
              <a:gd name="adj" fmla="val 4688"/>
            </a:avLst>
          </a:prstGeom>
          <a:solidFill>
            <a:srgbClr val="FFFFFF"/>
          </a:solidFill>
          <a:ln w="12700">
            <a:solidFill>
              <a:srgbClr val="D6E5E0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411480" y="2203704"/>
            <a:ext cx="73152" cy="1170432"/>
          </a:xfrm>
          <a:prstGeom prst="rect">
            <a:avLst/>
          </a:prstGeom>
          <a:solidFill>
            <a:srgbClr val="006B4F"/>
          </a:solidFill>
          <a:ln w="12700">
            <a:solidFill>
              <a:srgbClr val="006B4F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576072" y="2313432"/>
            <a:ext cx="14173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20" b="1" dirty="0">
                <a:solidFill>
                  <a:srgbClr val="006B4F"/>
                </a:solidFill>
              </a:rPr>
              <a:t>2 — computed()</a:t>
            </a:r>
            <a:endParaRPr lang="en-US" sz="820" dirty="0"/>
          </a:p>
        </p:txBody>
      </p:sp>
      <p:sp>
        <p:nvSpPr>
          <p:cNvPr id="14" name="Text 12"/>
          <p:cNvSpPr/>
          <p:nvPr/>
        </p:nvSpPr>
        <p:spPr>
          <a:xfrm>
            <a:off x="2039112" y="2313432"/>
            <a:ext cx="37915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680" dirty="0">
                <a:solidFill>
                  <a:srgbClr val="61716F"/>
                </a:solidFill>
              </a:rPr>
              <a:t>Valeur derivee en lecture seule.</a:t>
            </a:r>
            <a:endParaRPr lang="en-US" sz="680" dirty="0"/>
          </a:p>
        </p:txBody>
      </p:sp>
      <p:sp>
        <p:nvSpPr>
          <p:cNvPr id="15" name="Text 13"/>
          <p:cNvSpPr/>
          <p:nvPr/>
        </p:nvSpPr>
        <p:spPr>
          <a:xfrm>
            <a:off x="576072" y="2569464"/>
            <a:ext cx="18745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580" dirty="0">
                <a:solidFill>
                  <a:srgbClr val="006B4F"/>
                </a:solidFill>
              </a:rPr>
              <a:t>accounts/services/accounts.facade.ts</a:t>
            </a:r>
            <a:endParaRPr lang="en-US" sz="580" dirty="0"/>
          </a:p>
          <a:p>
            <a:pPr indent="0" marL="0">
              <a:buNone/>
            </a:pPr>
            <a:r>
              <a:rPr lang="en-US" sz="580" dirty="0">
                <a:solidFill>
                  <a:srgbClr val="006B4F"/>
                </a:solidFill>
              </a:rPr>
              <a:t>accounts/pages/accounts/accounts.component.*</a:t>
            </a:r>
            <a:endParaRPr lang="en-US" sz="580" dirty="0"/>
          </a:p>
        </p:txBody>
      </p:sp>
      <p:sp>
        <p:nvSpPr>
          <p:cNvPr id="16" name="Text 14"/>
          <p:cNvSpPr/>
          <p:nvPr/>
        </p:nvSpPr>
        <p:spPr>
          <a:xfrm>
            <a:off x="2551176" y="2560320"/>
            <a:ext cx="3270352" cy="658368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indent="0" marL="0">
              <a:buNone/>
            </a:pPr>
            <a:r>
              <a:rPr lang="en-US" sz="680" dirty="0">
                <a:solidFill>
                  <a:srgbClr val="263B38"/>
                </a:solidFill>
              </a:rPr>
              <a:t>Transformer blockedAccountsCount en valeur derivee de la facade. La page accounts doit afficher ce compteur sans recalculer elle-meme la regle.</a:t>
            </a:r>
            <a:endParaRPr lang="en-US" sz="680" dirty="0"/>
          </a:p>
        </p:txBody>
      </p:sp>
      <p:sp>
        <p:nvSpPr>
          <p:cNvPr id="17" name="Shape 15"/>
          <p:cNvSpPr/>
          <p:nvPr/>
        </p:nvSpPr>
        <p:spPr>
          <a:xfrm>
            <a:off x="411480" y="3474720"/>
            <a:ext cx="5574640" cy="1170432"/>
          </a:xfrm>
          <a:prstGeom prst="roundRect">
            <a:avLst>
              <a:gd name="adj" fmla="val 4688"/>
            </a:avLst>
          </a:prstGeom>
          <a:solidFill>
            <a:srgbClr val="FFFFFF"/>
          </a:solidFill>
          <a:ln w="12700">
            <a:solidFill>
              <a:srgbClr val="D6E5E0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411480" y="3474720"/>
            <a:ext cx="73152" cy="1170432"/>
          </a:xfrm>
          <a:prstGeom prst="rect">
            <a:avLst/>
          </a:prstGeom>
          <a:solidFill>
            <a:srgbClr val="008A5B"/>
          </a:solidFill>
          <a:ln w="12700">
            <a:solidFill>
              <a:srgbClr val="008A5B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576072" y="3584448"/>
            <a:ext cx="14173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20" b="1" dirty="0">
                <a:solidFill>
                  <a:srgbClr val="008A5B"/>
                </a:solidFill>
              </a:rPr>
              <a:t>3 — effect()</a:t>
            </a:r>
            <a:endParaRPr lang="en-US" sz="820" dirty="0"/>
          </a:p>
        </p:txBody>
      </p:sp>
      <p:sp>
        <p:nvSpPr>
          <p:cNvPr id="20" name="Text 18"/>
          <p:cNvSpPr/>
          <p:nvPr/>
        </p:nvSpPr>
        <p:spPr>
          <a:xfrm>
            <a:off x="2039112" y="3584448"/>
            <a:ext cx="37915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680" dirty="0">
                <a:solidFill>
                  <a:srgbClr val="61716F"/>
                </a:solidFill>
              </a:rPr>
              <a:t>Effet de bord declenche par les signals lus.</a:t>
            </a:r>
            <a:endParaRPr lang="en-US" sz="680" dirty="0"/>
          </a:p>
        </p:txBody>
      </p:sp>
      <p:sp>
        <p:nvSpPr>
          <p:cNvPr id="21" name="Text 19"/>
          <p:cNvSpPr/>
          <p:nvPr/>
        </p:nvSpPr>
        <p:spPr>
          <a:xfrm>
            <a:off x="576072" y="3840480"/>
            <a:ext cx="18745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580" dirty="0">
                <a:solidFill>
                  <a:srgbClr val="006B4F"/>
                </a:solidFill>
              </a:rPr>
              <a:t>clients/pages/clients/clients.component.ts</a:t>
            </a:r>
            <a:endParaRPr lang="en-US" sz="580" dirty="0"/>
          </a:p>
        </p:txBody>
      </p:sp>
      <p:sp>
        <p:nvSpPr>
          <p:cNvPr id="22" name="Text 20"/>
          <p:cNvSpPr/>
          <p:nvPr/>
        </p:nvSpPr>
        <p:spPr>
          <a:xfrm>
            <a:off x="2551176" y="3831336"/>
            <a:ext cx="3270352" cy="658368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indent="0" marL="0">
              <a:buNone/>
            </a:pPr>
            <a:r>
              <a:rPr lang="en-US" sz="680" dirty="0">
                <a:solidFill>
                  <a:srgbClr val="263B38"/>
                </a:solidFill>
              </a:rPr>
              <a:t>Remplacer le recalage imperatif de la page courante par une reaction automatique. Quand la liste change, la page selectionnee doit rester valide.</a:t>
            </a:r>
            <a:endParaRPr lang="en-US" sz="680" dirty="0"/>
          </a:p>
        </p:txBody>
      </p:sp>
      <p:sp>
        <p:nvSpPr>
          <p:cNvPr id="23" name="Shape 21"/>
          <p:cNvSpPr/>
          <p:nvPr/>
        </p:nvSpPr>
        <p:spPr>
          <a:xfrm>
            <a:off x="411480" y="4745736"/>
            <a:ext cx="5574640" cy="1170432"/>
          </a:xfrm>
          <a:prstGeom prst="roundRect">
            <a:avLst>
              <a:gd name="adj" fmla="val 4688"/>
            </a:avLst>
          </a:prstGeom>
          <a:solidFill>
            <a:srgbClr val="FFFFFF"/>
          </a:solidFill>
          <a:ln w="12700">
            <a:solidFill>
              <a:srgbClr val="D6E5E0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411480" y="4745736"/>
            <a:ext cx="73152" cy="1170432"/>
          </a:xfrm>
          <a:prstGeom prst="rect">
            <a:avLst/>
          </a:prstGeom>
          <a:solidFill>
            <a:srgbClr val="006B4F"/>
          </a:solidFill>
          <a:ln w="12700">
            <a:solidFill>
              <a:srgbClr val="006B4F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576072" y="4855464"/>
            <a:ext cx="14173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20" b="1" dirty="0">
                <a:solidFill>
                  <a:srgbClr val="006B4F"/>
                </a:solidFill>
              </a:rPr>
              <a:t>4 — viewChild() + effect()</a:t>
            </a:r>
            <a:endParaRPr lang="en-US" sz="820" dirty="0"/>
          </a:p>
        </p:txBody>
      </p:sp>
      <p:sp>
        <p:nvSpPr>
          <p:cNvPr id="26" name="Text 24"/>
          <p:cNvSpPr/>
          <p:nvPr/>
        </p:nvSpPr>
        <p:spPr>
          <a:xfrm>
            <a:off x="2039112" y="4855464"/>
            <a:ext cx="37915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680" dirty="0">
                <a:solidFill>
                  <a:srgbClr val="61716F"/>
                </a:solidFill>
              </a:rPr>
              <a:t>Reference DOM exposee comme signal, puis effet DOM.</a:t>
            </a:r>
            <a:endParaRPr lang="en-US" sz="680" dirty="0"/>
          </a:p>
        </p:txBody>
      </p:sp>
      <p:sp>
        <p:nvSpPr>
          <p:cNvPr id="27" name="Text 25"/>
          <p:cNvSpPr/>
          <p:nvPr/>
        </p:nvSpPr>
        <p:spPr>
          <a:xfrm>
            <a:off x="576072" y="5111496"/>
            <a:ext cx="18745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580" dirty="0">
                <a:solidFill>
                  <a:srgbClr val="006B4F"/>
                </a:solidFill>
              </a:rPr>
              <a:t>clients/pages/clients/clients.component.ts</a:t>
            </a:r>
            <a:endParaRPr lang="en-US" sz="580" dirty="0"/>
          </a:p>
        </p:txBody>
      </p:sp>
      <p:sp>
        <p:nvSpPr>
          <p:cNvPr id="28" name="Text 26"/>
          <p:cNvSpPr/>
          <p:nvPr/>
        </p:nvSpPr>
        <p:spPr>
          <a:xfrm>
            <a:off x="2551176" y="5102352"/>
            <a:ext cx="3270352" cy="658368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indent="0" marL="0">
              <a:buNone/>
            </a:pPr>
            <a:r>
              <a:rPr lang="en-US" sz="680" dirty="0">
                <a:solidFill>
                  <a:srgbClr val="263B38"/>
                </a:solidFill>
              </a:rPr>
              <a:t>Remplacer la reference DOM classique du champ prenom par une reference signal, puis declencher le focus quand ce champ apparait.</a:t>
            </a:r>
            <a:endParaRPr lang="en-US" sz="680" dirty="0"/>
          </a:p>
        </p:txBody>
      </p:sp>
      <p:sp>
        <p:nvSpPr>
          <p:cNvPr id="29" name="Shape 27"/>
          <p:cNvSpPr/>
          <p:nvPr/>
        </p:nvSpPr>
        <p:spPr>
          <a:xfrm>
            <a:off x="6205576" y="932688"/>
            <a:ext cx="5574640" cy="1170432"/>
          </a:xfrm>
          <a:prstGeom prst="roundRect">
            <a:avLst>
              <a:gd name="adj" fmla="val 4688"/>
            </a:avLst>
          </a:prstGeom>
          <a:solidFill>
            <a:srgbClr val="FFFFFF"/>
          </a:solidFill>
          <a:ln w="12700">
            <a:solidFill>
              <a:srgbClr val="D6E5E0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6205576" y="932688"/>
            <a:ext cx="73152" cy="1170432"/>
          </a:xfrm>
          <a:prstGeom prst="rect">
            <a:avLst/>
          </a:prstGeom>
          <a:solidFill>
            <a:srgbClr val="008A5B"/>
          </a:solidFill>
          <a:ln w="12700">
            <a:solidFill>
              <a:srgbClr val="008A5B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6370168" y="1042416"/>
            <a:ext cx="14173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20" b="1" dirty="0">
                <a:solidFill>
                  <a:srgbClr val="008A5B"/>
                </a:solidFill>
              </a:rPr>
              <a:t>5 — input()</a:t>
            </a:r>
            <a:endParaRPr lang="en-US" sz="820" dirty="0"/>
          </a:p>
        </p:txBody>
      </p:sp>
      <p:sp>
        <p:nvSpPr>
          <p:cNvPr id="32" name="Text 30"/>
          <p:cNvSpPr/>
          <p:nvPr/>
        </p:nvSpPr>
        <p:spPr>
          <a:xfrm>
            <a:off x="7833208" y="1042416"/>
            <a:ext cx="37915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680" dirty="0">
                <a:solidFill>
                  <a:srgbClr val="61716F"/>
                </a:solidFill>
              </a:rPr>
              <a:t>Entree de composant exposee comme signal.</a:t>
            </a:r>
            <a:endParaRPr lang="en-US" sz="680" dirty="0"/>
          </a:p>
        </p:txBody>
      </p:sp>
      <p:sp>
        <p:nvSpPr>
          <p:cNvPr id="33" name="Text 31"/>
          <p:cNvSpPr/>
          <p:nvPr/>
        </p:nvSpPr>
        <p:spPr>
          <a:xfrm>
            <a:off x="6370168" y="1298448"/>
            <a:ext cx="18745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580" dirty="0">
                <a:solidFill>
                  <a:srgbClr val="006B4F"/>
                </a:solidFill>
              </a:rPr>
              <a:t>accounts/components/account-card/account-card.component.ts</a:t>
            </a:r>
            <a:endParaRPr lang="en-US" sz="580" dirty="0"/>
          </a:p>
        </p:txBody>
      </p:sp>
      <p:sp>
        <p:nvSpPr>
          <p:cNvPr id="34" name="Text 32"/>
          <p:cNvSpPr/>
          <p:nvPr/>
        </p:nvSpPr>
        <p:spPr>
          <a:xfrm>
            <a:off x="8345272" y="1289304"/>
            <a:ext cx="3270352" cy="658368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indent="0" marL="0">
              <a:buNone/>
            </a:pPr>
            <a:r>
              <a:rPr lang="en-US" sz="680" dirty="0">
                <a:solidFill>
                  <a:srgbClr val="263B38"/>
                </a:solidFill>
              </a:rPr>
              <a:t>Convertir showStatus en input signal. Le libelle de statut doit reagir correctement quand le parent choisit d'afficher ou masquer ce statut.</a:t>
            </a:r>
            <a:endParaRPr lang="en-US" sz="680" dirty="0"/>
          </a:p>
        </p:txBody>
      </p:sp>
      <p:sp>
        <p:nvSpPr>
          <p:cNvPr id="35" name="Shape 33"/>
          <p:cNvSpPr/>
          <p:nvPr/>
        </p:nvSpPr>
        <p:spPr>
          <a:xfrm>
            <a:off x="6205576" y="2203704"/>
            <a:ext cx="5574640" cy="1170432"/>
          </a:xfrm>
          <a:prstGeom prst="roundRect">
            <a:avLst>
              <a:gd name="adj" fmla="val 4688"/>
            </a:avLst>
          </a:prstGeom>
          <a:solidFill>
            <a:srgbClr val="FFFFFF"/>
          </a:solidFill>
          <a:ln w="12700">
            <a:solidFill>
              <a:srgbClr val="D6E5E0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6205576" y="2203704"/>
            <a:ext cx="73152" cy="1170432"/>
          </a:xfrm>
          <a:prstGeom prst="rect">
            <a:avLst/>
          </a:prstGeom>
          <a:solidFill>
            <a:srgbClr val="006B4F"/>
          </a:solidFill>
          <a:ln w="12700">
            <a:solidFill>
              <a:srgbClr val="006B4F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6370168" y="2313432"/>
            <a:ext cx="14173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20" b="1" dirty="0">
                <a:solidFill>
                  <a:srgbClr val="006B4F"/>
                </a:solidFill>
              </a:rPr>
              <a:t>6 — output()</a:t>
            </a:r>
            <a:endParaRPr lang="en-US" sz="820" dirty="0"/>
          </a:p>
        </p:txBody>
      </p:sp>
      <p:sp>
        <p:nvSpPr>
          <p:cNvPr id="38" name="Text 36"/>
          <p:cNvSpPr/>
          <p:nvPr/>
        </p:nvSpPr>
        <p:spPr>
          <a:xfrm>
            <a:off x="7833208" y="2313432"/>
            <a:ext cx="37915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680" dirty="0">
                <a:solidFill>
                  <a:srgbClr val="61716F"/>
                </a:solidFill>
              </a:rPr>
              <a:t>Evenement emis par l'enfant vers le parent.</a:t>
            </a:r>
            <a:endParaRPr lang="en-US" sz="680" dirty="0"/>
          </a:p>
        </p:txBody>
      </p:sp>
      <p:sp>
        <p:nvSpPr>
          <p:cNvPr id="39" name="Text 37"/>
          <p:cNvSpPr/>
          <p:nvPr/>
        </p:nvSpPr>
        <p:spPr>
          <a:xfrm>
            <a:off x="6370168" y="2569464"/>
            <a:ext cx="18745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580" dirty="0">
                <a:solidFill>
                  <a:srgbClr val="006B4F"/>
                </a:solidFill>
              </a:rPr>
              <a:t>accounts/components/account-list/account-list.component.ts</a:t>
            </a:r>
            <a:endParaRPr lang="en-US" sz="580" dirty="0"/>
          </a:p>
        </p:txBody>
      </p:sp>
      <p:sp>
        <p:nvSpPr>
          <p:cNvPr id="40" name="Text 38"/>
          <p:cNvSpPr/>
          <p:nvPr/>
        </p:nvSpPr>
        <p:spPr>
          <a:xfrm>
            <a:off x="8345272" y="2560320"/>
            <a:ext cx="3270352" cy="658368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indent="0" marL="0">
              <a:buNone/>
            </a:pPr>
            <a:r>
              <a:rPr lang="en-US" sz="680" dirty="0">
                <a:solidFill>
                  <a:srgbClr val="263B38"/>
                </a:solidFill>
              </a:rPr>
              <a:t>Remplacer la sortie legacy selectedRequested par output(). La liste doit continuer a emettre la selection vers le parent.</a:t>
            </a:r>
            <a:endParaRPr lang="en-US" sz="680" dirty="0"/>
          </a:p>
        </p:txBody>
      </p:sp>
      <p:sp>
        <p:nvSpPr>
          <p:cNvPr id="41" name="Shape 39"/>
          <p:cNvSpPr/>
          <p:nvPr/>
        </p:nvSpPr>
        <p:spPr>
          <a:xfrm>
            <a:off x="6205576" y="3474720"/>
            <a:ext cx="5574640" cy="1170432"/>
          </a:xfrm>
          <a:prstGeom prst="roundRect">
            <a:avLst>
              <a:gd name="adj" fmla="val 4688"/>
            </a:avLst>
          </a:prstGeom>
          <a:solidFill>
            <a:srgbClr val="FFFFFF"/>
          </a:solidFill>
          <a:ln w="12700">
            <a:solidFill>
              <a:srgbClr val="D6E5E0"/>
            </a:solidFill>
            <a:prstDash val="solid"/>
          </a:ln>
        </p:spPr>
      </p:sp>
      <p:sp>
        <p:nvSpPr>
          <p:cNvPr id="42" name="Shape 40"/>
          <p:cNvSpPr/>
          <p:nvPr/>
        </p:nvSpPr>
        <p:spPr>
          <a:xfrm>
            <a:off x="6205576" y="3474720"/>
            <a:ext cx="73152" cy="1170432"/>
          </a:xfrm>
          <a:prstGeom prst="rect">
            <a:avLst/>
          </a:prstGeom>
          <a:solidFill>
            <a:srgbClr val="008A5B"/>
          </a:solidFill>
          <a:ln w="12700">
            <a:solidFill>
              <a:srgbClr val="008A5B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6370168" y="3584448"/>
            <a:ext cx="14173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20" b="1" dirty="0">
                <a:solidFill>
                  <a:srgbClr val="008A5B"/>
                </a:solidFill>
              </a:rPr>
              <a:t>7 — toSignal() / toObservable()</a:t>
            </a:r>
            <a:endParaRPr lang="en-US" sz="820" dirty="0"/>
          </a:p>
        </p:txBody>
      </p:sp>
      <p:sp>
        <p:nvSpPr>
          <p:cNvPr id="44" name="Text 42"/>
          <p:cNvSpPr/>
          <p:nvPr/>
        </p:nvSpPr>
        <p:spPr>
          <a:xfrm>
            <a:off x="7833208" y="3584448"/>
            <a:ext cx="37915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680" dirty="0">
                <a:solidFill>
                  <a:srgbClr val="61716F"/>
                </a:solidFill>
              </a:rPr>
              <a:t>Pont entre Observable RxJS et signal Angular.</a:t>
            </a:r>
            <a:endParaRPr lang="en-US" sz="680" dirty="0"/>
          </a:p>
        </p:txBody>
      </p:sp>
      <p:sp>
        <p:nvSpPr>
          <p:cNvPr id="45" name="Text 43"/>
          <p:cNvSpPr/>
          <p:nvPr/>
        </p:nvSpPr>
        <p:spPr>
          <a:xfrm>
            <a:off x="6370168" y="3840480"/>
            <a:ext cx="18745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580" dirty="0">
                <a:solidFill>
                  <a:srgbClr val="006B4F"/>
                </a:solidFill>
              </a:rPr>
              <a:t>accounts/pages/accounts/accounts.component.ts</a:t>
            </a:r>
            <a:endParaRPr lang="en-US" sz="580" dirty="0"/>
          </a:p>
          <a:p>
            <a:pPr indent="0" marL="0">
              <a:buNone/>
            </a:pPr>
            <a:r>
              <a:rPr lang="en-US" sz="580" dirty="0">
                <a:solidFill>
                  <a:srgbClr val="006B4F"/>
                </a:solidFill>
              </a:rPr>
              <a:t>clients/pages/dashboard/dashboard.component.ts</a:t>
            </a:r>
            <a:endParaRPr lang="en-US" sz="580" dirty="0"/>
          </a:p>
          <a:p>
            <a:pPr indent="0" marL="0">
              <a:buNone/>
            </a:pPr>
            <a:r>
              <a:rPr lang="en-US" sz="580" dirty="0">
                <a:solidFill>
                  <a:srgbClr val="006B4F"/>
                </a:solidFill>
              </a:rPr>
              <a:t>clients/pages/clients/clients.component.ts</a:t>
            </a:r>
            <a:endParaRPr lang="en-US" sz="580" dirty="0"/>
          </a:p>
        </p:txBody>
      </p:sp>
      <p:sp>
        <p:nvSpPr>
          <p:cNvPr id="46" name="Text 44"/>
          <p:cNvSpPr/>
          <p:nvPr/>
        </p:nvSpPr>
        <p:spPr>
          <a:xfrm>
            <a:off x="8345272" y="3831336"/>
            <a:ext cx="3270352" cy="658368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indent="0" marL="0">
              <a:buNone/>
            </a:pPr>
            <a:r>
              <a:rPr lang="en-US" sz="680" dirty="0">
                <a:solidFill>
                  <a:srgbClr val="263B38"/>
                </a:solidFill>
              </a:rPr>
              <a:t>Remplacer la souscription manuelle a la route par toSignal(), exposer le chargement dashboard comme signal, et identifier le pont inverse toObservable() pour la recherche debouncee.</a:t>
            </a:r>
            <a:endParaRPr lang="en-US" sz="680" dirty="0"/>
          </a:p>
        </p:txBody>
      </p:sp>
      <p:sp>
        <p:nvSpPr>
          <p:cNvPr id="47" name="Shape 45"/>
          <p:cNvSpPr/>
          <p:nvPr/>
        </p:nvSpPr>
        <p:spPr>
          <a:xfrm>
            <a:off x="6205576" y="4745736"/>
            <a:ext cx="5574640" cy="1170432"/>
          </a:xfrm>
          <a:prstGeom prst="roundRect">
            <a:avLst>
              <a:gd name="adj" fmla="val 4688"/>
            </a:avLst>
          </a:prstGeom>
          <a:solidFill>
            <a:srgbClr val="FFFFFF"/>
          </a:solidFill>
          <a:ln w="12700">
            <a:solidFill>
              <a:srgbClr val="D6E5E0"/>
            </a:solidFill>
            <a:prstDash val="solid"/>
          </a:ln>
        </p:spPr>
      </p:sp>
      <p:sp>
        <p:nvSpPr>
          <p:cNvPr id="48" name="Shape 46"/>
          <p:cNvSpPr/>
          <p:nvPr/>
        </p:nvSpPr>
        <p:spPr>
          <a:xfrm>
            <a:off x="6205576" y="4745736"/>
            <a:ext cx="73152" cy="1170432"/>
          </a:xfrm>
          <a:prstGeom prst="rect">
            <a:avLst/>
          </a:prstGeom>
          <a:solidFill>
            <a:srgbClr val="006B4F"/>
          </a:solidFill>
          <a:ln w="12700">
            <a:solidFill>
              <a:srgbClr val="006B4F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6370168" y="4855464"/>
            <a:ext cx="14173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20" b="1" dirty="0">
                <a:solidFill>
                  <a:srgbClr val="006B4F"/>
                </a:solidFill>
              </a:rPr>
              <a:t>8 — computed() facade</a:t>
            </a:r>
            <a:endParaRPr lang="en-US" sz="820" dirty="0"/>
          </a:p>
        </p:txBody>
      </p:sp>
      <p:sp>
        <p:nvSpPr>
          <p:cNvPr id="50" name="Text 48"/>
          <p:cNvSpPr/>
          <p:nvPr/>
        </p:nvSpPr>
        <p:spPr>
          <a:xfrm>
            <a:off x="7833208" y="4855464"/>
            <a:ext cx="37915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680" dirty="0">
                <a:solidFill>
                  <a:srgbClr val="61716F"/>
                </a:solidFill>
              </a:rPr>
              <a:t>Vue derivee de l'etat metier dans une facade.</a:t>
            </a:r>
            <a:endParaRPr lang="en-US" sz="680" dirty="0"/>
          </a:p>
        </p:txBody>
      </p:sp>
      <p:sp>
        <p:nvSpPr>
          <p:cNvPr id="51" name="Text 49"/>
          <p:cNvSpPr/>
          <p:nvPr/>
        </p:nvSpPr>
        <p:spPr>
          <a:xfrm>
            <a:off x="6370168" y="5111496"/>
            <a:ext cx="18745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580" dirty="0">
                <a:solidFill>
                  <a:srgbClr val="006B4F"/>
                </a:solidFill>
              </a:rPr>
              <a:t>accounts/services/accounts.facade.ts</a:t>
            </a:r>
            <a:endParaRPr lang="en-US" sz="580" dirty="0"/>
          </a:p>
          <a:p>
            <a:pPr indent="0" marL="0">
              <a:buNone/>
            </a:pPr>
            <a:r>
              <a:rPr lang="en-US" sz="580" dirty="0">
                <a:solidFill>
                  <a:srgbClr val="006B4F"/>
                </a:solidFill>
              </a:rPr>
              <a:t>accounts/pages/accounts/accounts.component.*</a:t>
            </a:r>
            <a:endParaRPr lang="en-US" sz="580" dirty="0"/>
          </a:p>
        </p:txBody>
      </p:sp>
      <p:sp>
        <p:nvSpPr>
          <p:cNvPr id="52" name="Text 50"/>
          <p:cNvSpPr/>
          <p:nvPr/>
        </p:nvSpPr>
        <p:spPr>
          <a:xfrm>
            <a:off x="8345272" y="5102352"/>
            <a:ext cx="3270352" cy="658368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indent="0" marL="0">
              <a:buNone/>
            </a:pPr>
            <a:r>
              <a:rPr lang="en-US" sz="680" dirty="0">
                <a:solidFill>
                  <a:srgbClr val="263B38"/>
                </a:solidFill>
              </a:rPr>
              <a:t>Ajouter hasActiveFilter comme valeur derivee de la facade. Le message vide doit dependre de cette regle exposee par la facade.</a:t>
            </a:r>
            <a:endParaRPr lang="en-US" sz="680" dirty="0"/>
          </a:p>
        </p:txBody>
      </p:sp>
      <p:sp>
        <p:nvSpPr>
          <p:cNvPr id="53" name="Text 51"/>
          <p:cNvSpPr/>
          <p:nvPr/>
        </p:nvSpPr>
        <p:spPr>
          <a:xfrm>
            <a:off x="11277295" y="6537960"/>
            <a:ext cx="50292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00" dirty="0">
                <a:solidFill>
                  <a:srgbClr val="61716F"/>
                </a:solidFill>
              </a:rPr>
              <a:t>9/10</a:t>
            </a:r>
            <a:endParaRPr lang="en-US" sz="7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3F8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91440"/>
          </a:xfrm>
          <a:prstGeom prst="rect">
            <a:avLst/>
          </a:prstGeom>
          <a:solidFill>
            <a:srgbClr val="00A86B"/>
          </a:solidFill>
          <a:ln w="12700">
            <a:solidFill>
              <a:srgbClr val="00A86B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11480" y="219456"/>
            <a:ext cx="9357055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000" b="1" dirty="0">
                <a:solidFill>
                  <a:srgbClr val="1B2B2A"/>
                </a:solidFill>
              </a:rPr>
              <a:t>Rappel tests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10317175" y="246888"/>
            <a:ext cx="1463040" cy="219456"/>
          </a:xfrm>
          <a:prstGeom prst="rect">
            <a:avLst/>
          </a:prstGeom>
          <a:solidFill>
            <a:srgbClr val="CFEDE2"/>
          </a:solidFill>
          <a:ln>
            <a:solidFill>
              <a:srgbClr val="CFEDE2"/>
            </a:solidFill>
          </a:ln>
        </p:spPr>
        <p:txBody>
          <a:bodyPr wrap="square" lIns="254" tIns="254" rIns="254" bIns="254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00A86B"/>
                </a:solidFill>
              </a:rPr>
              <a:t>BNP Paribas</a:t>
            </a:r>
            <a:endParaRPr lang="en-US" sz="800" dirty="0"/>
          </a:p>
        </p:txBody>
      </p:sp>
      <p:sp>
        <p:nvSpPr>
          <p:cNvPr id="5" name="Shape 3"/>
          <p:cNvSpPr/>
          <p:nvPr/>
        </p:nvSpPr>
        <p:spPr>
          <a:xfrm>
            <a:off x="411480" y="987552"/>
            <a:ext cx="3977640" cy="5074920"/>
          </a:xfrm>
          <a:prstGeom prst="roundRect">
            <a:avLst>
              <a:gd name="adj" fmla="val 1839"/>
            </a:avLst>
          </a:prstGeom>
          <a:solidFill>
            <a:srgbClr val="DFF2EA"/>
          </a:solidFill>
          <a:ln w="12700">
            <a:solidFill>
              <a:srgbClr val="B7E4C7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31520" y="1298448"/>
            <a:ext cx="10972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0A86B"/>
                </a:solidFill>
              </a:rPr>
              <a:t>À lancer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731520" y="1847088"/>
            <a:ext cx="3246120" cy="658368"/>
          </a:xfrm>
          <a:prstGeom prst="rect">
            <a:avLst/>
          </a:prstGeom>
          <a:solidFill>
            <a:srgbClr val="15332F"/>
          </a:solidFill>
          <a:ln/>
        </p:spPr>
        <p:txBody>
          <a:bodyPr wrap="square" lIns="1270" tIns="1270" rIns="1270" bIns="1270" rtlCol="0" anchor="ctr">
            <a:normAutofit/>
          </a:bodyPr>
          <a:lstStyle/>
          <a:p>
            <a:pPr indent="0" marL="0">
              <a:buNone/>
            </a:pPr>
            <a:r>
              <a:rPr lang="en-US" sz="2000" b="1" dirty="0">
                <a:solidFill>
                  <a:srgbClr val="F8FAF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npm test</a:t>
            </a:r>
            <a:endParaRPr lang="en-US" sz="2000" dirty="0"/>
          </a:p>
        </p:txBody>
      </p:sp>
      <p:sp>
        <p:nvSpPr>
          <p:cNvPr id="8" name="Text 6"/>
          <p:cNvSpPr/>
          <p:nvPr/>
        </p:nvSpPr>
        <p:spPr>
          <a:xfrm>
            <a:off x="731520" y="3063240"/>
            <a:ext cx="324612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600" b="1" dirty="0">
                <a:solidFill>
                  <a:srgbClr val="1B2B2A"/>
                </a:solidFill>
              </a:rPr>
              <a:t>But : verifier que la migration ne casse pas le comportement existant.</a:t>
            </a:r>
            <a:endParaRPr lang="en-US" sz="1600" dirty="0"/>
          </a:p>
        </p:txBody>
      </p:sp>
      <p:sp>
        <p:nvSpPr>
          <p:cNvPr id="9" name="Shape 7"/>
          <p:cNvSpPr/>
          <p:nvPr/>
        </p:nvSpPr>
        <p:spPr>
          <a:xfrm>
            <a:off x="4754880" y="987552"/>
            <a:ext cx="7025335" cy="1024128"/>
          </a:xfrm>
          <a:prstGeom prst="roundRect">
            <a:avLst>
              <a:gd name="adj" fmla="val 7143"/>
            </a:avLst>
          </a:prstGeom>
          <a:solidFill>
            <a:srgbClr val="FFFFFF"/>
          </a:solidFill>
          <a:ln w="12700">
            <a:solidFill>
              <a:srgbClr val="D6E5E0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5001768" y="1243584"/>
            <a:ext cx="274320" cy="274320"/>
          </a:xfrm>
          <a:prstGeom prst="rect">
            <a:avLst/>
          </a:prstGeom>
          <a:solidFill>
            <a:srgbClr val="DFF2EA"/>
          </a:solidFill>
          <a:ln>
            <a:solidFill>
              <a:srgbClr val="DFF2EA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0A86B"/>
                </a:solidFill>
              </a:rPr>
              <a:t>1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5458968" y="1188720"/>
            <a:ext cx="6019495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263B38"/>
                </a:solidFill>
              </a:rPr>
              <a:t>Avant de commencer un exercice, lancer les tests pour connaitre l'etat de depart.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4754880" y="2231136"/>
            <a:ext cx="7025335" cy="1024128"/>
          </a:xfrm>
          <a:prstGeom prst="roundRect">
            <a:avLst>
              <a:gd name="adj" fmla="val 7143"/>
            </a:avLst>
          </a:prstGeom>
          <a:solidFill>
            <a:srgbClr val="FFFFFF"/>
          </a:solidFill>
          <a:ln w="12700">
            <a:solidFill>
              <a:srgbClr val="D6E5E0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5001768" y="2487168"/>
            <a:ext cx="274320" cy="274320"/>
          </a:xfrm>
          <a:prstGeom prst="rect">
            <a:avLst/>
          </a:prstGeom>
          <a:solidFill>
            <a:srgbClr val="DFF2EA"/>
          </a:solidFill>
          <a:ln>
            <a:solidFill>
              <a:srgbClr val="DFF2EA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0A86B"/>
                </a:solidFill>
              </a:rPr>
              <a:t>2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5458968" y="2432304"/>
            <a:ext cx="6019495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263B38"/>
                </a:solidFill>
              </a:rPr>
              <a:t>A la fin de l'exercice, relancer les tests pour verifier la migration.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4754880" y="3474720"/>
            <a:ext cx="7025335" cy="1024128"/>
          </a:xfrm>
          <a:prstGeom prst="roundRect">
            <a:avLst>
              <a:gd name="adj" fmla="val 7143"/>
            </a:avLst>
          </a:prstGeom>
          <a:solidFill>
            <a:srgbClr val="FFFFFF"/>
          </a:solidFill>
          <a:ln w="12700">
            <a:solidFill>
              <a:srgbClr val="D6E5E0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001768" y="3730752"/>
            <a:ext cx="274320" cy="274320"/>
          </a:xfrm>
          <a:prstGeom prst="rect">
            <a:avLst/>
          </a:prstGeom>
          <a:solidFill>
            <a:srgbClr val="DFF2EA"/>
          </a:solidFill>
          <a:ln>
            <a:solidFill>
              <a:srgbClr val="DFF2EA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0A86B"/>
                </a:solidFill>
              </a:rPr>
              <a:t>3</a:t>
            </a:r>
            <a:endParaRPr lang="en-US" sz="1000" dirty="0"/>
          </a:p>
        </p:txBody>
      </p:sp>
      <p:sp>
        <p:nvSpPr>
          <p:cNvPr id="17" name="Text 15"/>
          <p:cNvSpPr/>
          <p:nvPr/>
        </p:nvSpPr>
        <p:spPr>
          <a:xfrm>
            <a:off x="5458968" y="3675888"/>
            <a:ext cx="6019495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263B38"/>
                </a:solidFill>
              </a:rPr>
              <a:t>Si une erreur apparait, identifier si elle vient du changement realise.</a:t>
            </a:r>
            <a:endParaRPr lang="en-US" sz="1200" dirty="0"/>
          </a:p>
        </p:txBody>
      </p:sp>
      <p:sp>
        <p:nvSpPr>
          <p:cNvPr id="18" name="Shape 16"/>
          <p:cNvSpPr/>
          <p:nvPr/>
        </p:nvSpPr>
        <p:spPr>
          <a:xfrm>
            <a:off x="4754880" y="4718304"/>
            <a:ext cx="7025335" cy="1024128"/>
          </a:xfrm>
          <a:prstGeom prst="roundRect">
            <a:avLst>
              <a:gd name="adj" fmla="val 7143"/>
            </a:avLst>
          </a:prstGeom>
          <a:solidFill>
            <a:srgbClr val="FFFFFF"/>
          </a:solidFill>
          <a:ln w="12700">
            <a:solidFill>
              <a:srgbClr val="D6E5E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5001768" y="4974336"/>
            <a:ext cx="274320" cy="274320"/>
          </a:xfrm>
          <a:prstGeom prst="rect">
            <a:avLst/>
          </a:prstGeom>
          <a:solidFill>
            <a:srgbClr val="DFF2EA"/>
          </a:solidFill>
          <a:ln>
            <a:solidFill>
              <a:srgbClr val="DFF2EA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0A86B"/>
                </a:solidFill>
              </a:rPr>
              <a:t>4</a:t>
            </a:r>
            <a:endParaRPr lang="en-US" sz="1000" dirty="0"/>
          </a:p>
        </p:txBody>
      </p:sp>
      <p:sp>
        <p:nvSpPr>
          <p:cNvPr id="20" name="Text 18"/>
          <p:cNvSpPr/>
          <p:nvPr/>
        </p:nvSpPr>
        <p:spPr>
          <a:xfrm>
            <a:off x="5458968" y="4919472"/>
            <a:ext cx="6019495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263B38"/>
                </a:solidFill>
              </a:rPr>
              <a:t>Si besoin, corriger le code ou le test pour refleter le comportement attendu.</a:t>
            </a:r>
            <a:endParaRPr lang="en-US" sz="1200" dirty="0"/>
          </a:p>
        </p:txBody>
      </p:sp>
      <p:sp>
        <p:nvSpPr>
          <p:cNvPr id="21" name="Text 19"/>
          <p:cNvSpPr/>
          <p:nvPr/>
        </p:nvSpPr>
        <p:spPr>
          <a:xfrm>
            <a:off x="11277295" y="6537960"/>
            <a:ext cx="50292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00" dirty="0">
                <a:solidFill>
                  <a:srgbClr val="61716F"/>
                </a:solidFill>
              </a:rPr>
              <a:t>10/10</a:t>
            </a:r>
            <a:endParaRPr lang="en-US" sz="7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BNP Paribas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Angular 21 Signals - Support de presentation dojo</dc:title>
  <dc:subject>Angular 21 Signals</dc:subject>
  <dc:creator>Dojo Angular Signals</dc:creator>
  <cp:lastModifiedBy>Dojo Angular Signals</cp:lastModifiedBy>
  <cp:revision>1</cp:revision>
  <dcterms:created xsi:type="dcterms:W3CDTF">2026-06-10T19:48:01Z</dcterms:created>
  <dcterms:modified xsi:type="dcterms:W3CDTF">2026-06-10T19:48:01Z</dcterms:modified>
</cp:coreProperties>
</file>