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dojo se déroule en Angular 21. Le projet garde volontairement zone.js et OnPush pour montrer une migration progressive vers Signals, sans basculer toute l'application en zoneless dès le départ.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Zone.js aide Angular à savoir qu'un événement asynchrone a eu lieu. Il patche les APIs du navigateur (setTimeout, Promise, addEventListener, XMLHttpRequest, etc.) puis prévient Angular qu'un cycle de détection doit être lancé.
Zone.js ne modélise pas l'état de l'application : il sert surtout à déclencher la détection de changement.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Le problème résolu par Signals : rendre l'état local explicite et permettre à Angular de savoir précisément quelles vues ou valeurs dérivées dépendent de cet état.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décisions d'architecture pédagogique sont détaillées dans docs/adr/0001-architecture-pedagogique-dojo-signals.md.
Le projet montre volontairement deux patterns : des Signals directement dans les composants pour apprendre les bases, puis des Signals dans des façades pour l'état partagé et les règles métier. L'asymétrie est intentionnelle : on commence simple, puis on extrait quand l'état devient plus riche ou partagé.
Le détail du code mixte pendant la migration est documenté dans l'ADR 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signal est une valeur réactive observable par Angular. Il contient une valeur, se lit avec (), et Angular mémorise automatiquement les templates, computed() et effect() qui l'ont lu.
Quand la valeur change, Angular sait précisément quelles dépendances invalider : les valeurs dérivées sont recalculées si nécessaire et les vues concernées sont mises à jour.
signal() crée un signal mutable. computed() crée un signal dérivé en lecture seule. effect() observe des signals, mais n'est pas un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computed est une valeur dérivée mémorisée. Le calcul ne se relance que si une dépendance lue a changé depuis la dernière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effect() exécute un effet de bord quand les signals lus dans son corps changent. Il s'exécute automatiquement, sans appel explicite.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montre un deuxième usage de effect() : déclencher un effet DOM quand une condition UI devient vraie. Ici, on veut placer le focus sur le champ prénom quand le formulaire d'ajout est affiché.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viewChild() expose une référence DOM comme un signal. Retourne undefined quand l'élément est absent du DOM, ElementRef quand il est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focus n'est pas une valeur calculée : c'est une interaction avec le DOM. effect() est adapté parce qu'il réagit à adding() et à la présence réelle de l'élément exposé par viewChild().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clé : @Input() dans un computed() ne crée pas de dépendance réelle. input() dans un computed() est une dépendance réelle.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déclare une entrée de composant sous forme de signal. La valeur passée par le parent devient une dépendance réelle dans les computed() et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fichier contient déjà plusieurs sorties écrites avec output() :
Elles servent de modèle local. L'exercice consiste à aligner la dernière sortie legacy, selectedRequested, sur le même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output() déclare un événement sortant du composant. L'enfant émet une intention, le parent décide quoi faire. Ce n'est pas un Observable.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déclare une valeur bidirectionnelle entre parent et enfant. Il combine l'idée d'une entrée (input) et d'une sortie (output) pour des cas comme un composant de formulaire contrôlé.
À retenir dans ce dojo : input() sert à recevoir une valeur, output() sert à émettre une intention, model() sert aux échanges bidirectionnels explicites.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RxJS sert à modéliser et composer des flux de données dans le temps : HTTP, WebSocket, événements, debounceTime, switchMap, combineLatest, etc.
RxJS ne remplace pas Zone.js. RxJS organise les flux asynchrones ; Zone.js déclenche la détection de changement ; Signals rend l'état et ses dépendances explicites.
toSignal() ne remplace pas RxJS : il permet de consommer la dernière valeur d'un Observable sous forme de signal dans un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 exercice est le plus dense du dojo. Il se découpe en trois marches :
1. Convertir un Observable simple en signal. 2. Ajouter l'état loading/error autour d'un flux HTTP. 3. Lire toObservable() comme pont inverse, sans demander de modification.
Le but n'est pas de remplacer RxJS. Le but est de savoir où placer la frontière : RxJS compose le flux, toSignal() expose sa dernière valeur au template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Dans cette pipeline :
La méthode reload() disparaît : le chargement initial est porté par le signal créé avec toSignal().
7c : lire et expliquer debouncedSearch$ dans ClientsComponent (pas de modification).
Cette partie sert de consolidation. Elle montre le pont inverse : on part d'un signal local, puis on repasse en Observable uniquement parce qu'un opérateur temporel (debounceTime) est nécessaire.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toSignal() convertit un Observable en signal (dernière valeur émise, abonnement géré automatiquement). toObservable() expose un signal comme Observable pour brancher des opérateurs RxJS.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Exposer une règle métier dérivée dans la façade sous forme de computed() plutôt que de calculer en ligne dans le template ou le composant.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l'interop RxJS, on revient à un geste simple mais structurant : placer la logique dérivée dans la façade. C'est le lien avec l'objectif architectural du dojo : des composants plus lisibles, une façade qui porte l'état partagé, et des règles métier nommées.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conventions d'usage des primitives Signals et la décision de ne pas migrer vers le mode zoneless sont détaillées dans docs/adr/0002-conventions-usage-signals-et-detection-changement.md.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DD0031"/>
        </a:solidFill>
      </p:bgPr>
    </p:bg>
    <p:spTree>
      <p:nvGrpSpPr>
        <p:cNvPr id="1" name=""/>
        <p:cNvGrpSpPr/>
        <p:nvPr/>
      </p:nvGrpSpPr>
      <p:grpSpPr>
        <a:xfrm>
          <a:off x="0" y="0"/>
          <a:ext cx="0" cy="0"/>
          <a:chOff x="0" y="0"/>
          <a:chExt cx="0" cy="0"/>
        </a:xfrm>
      </p:grpSpPr>
      <p:sp>
        <p:nvSpPr>
          <p:cNvPr id="2" name="Text 0"/>
          <p:cNvSpPr/>
          <p:nvPr/>
        </p:nvSpPr>
        <p:spPr>
          <a:xfrm>
            <a:off x="594360" y="1508760"/>
            <a:ext cx="11002975" cy="1280160"/>
          </a:xfrm>
          <a:prstGeom prst="rect">
            <a:avLst/>
          </a:prstGeom>
          <a:noFill/>
          <a:ln/>
        </p:spPr>
        <p:txBody>
          <a:bodyPr wrap="square" rtlCol="0" anchor="ctr">
            <a:normAutofit/>
          </a:bodyPr>
          <a:lstStyle/>
          <a:p>
            <a:pPr algn="ctr" indent="0" marL="0">
              <a:buNone/>
            </a:pPr>
            <a:r>
              <a:rPr lang="en-US" sz="4400" b="1" dirty="0">
                <a:solidFill>
                  <a:srgbClr val="FFFFFF"/>
                </a:solidFill>
              </a:rPr>
              <a:t>Angular 21 Signals — Support de présentation dojo</a:t>
            </a:r>
            <a:endParaRPr lang="en-US" sz="4400" dirty="0"/>
          </a:p>
        </p:txBody>
      </p:sp>
      <p:sp>
        <p:nvSpPr>
          <p:cNvPr id="3" name="Text 1"/>
          <p:cNvSpPr/>
          <p:nvPr/>
        </p:nvSpPr>
        <p:spPr>
          <a:xfrm>
            <a:off x="594360" y="3063240"/>
            <a:ext cx="11002975" cy="411480"/>
          </a:xfrm>
          <a:prstGeom prst="rect">
            <a:avLst/>
          </a:prstGeom>
          <a:noFill/>
          <a:ln/>
        </p:spPr>
        <p:txBody>
          <a:bodyPr wrap="square" rtlCol="0" anchor="ctr"/>
          <a:lstStyle/>
          <a:p>
            <a:pPr algn="ctr" indent="0" marL="0">
              <a:buNone/>
            </a:pPr>
            <a:r>
              <a:rPr lang="en-US" sz="2200" dirty="0">
                <a:solidFill>
                  <a:srgbClr val="FFD5DC"/>
                </a:solidFill>
              </a:rPr>
              <a:t>Support de présentation dojo</a:t>
            </a:r>
            <a:endParaRPr lang="en-US" sz="2200" dirty="0"/>
          </a:p>
        </p:txBody>
      </p:sp>
      <p:sp>
        <p:nvSpPr>
          <p:cNvPr id="4" name="Text 2"/>
          <p:cNvSpPr/>
          <p:nvPr/>
        </p:nvSpPr>
        <p:spPr>
          <a:xfrm>
            <a:off x="594360" y="4892040"/>
            <a:ext cx="11002975" cy="320040"/>
          </a:xfrm>
          <a:prstGeom prst="rect">
            <a:avLst/>
          </a:prstGeom>
          <a:noFill/>
          <a:ln/>
        </p:spPr>
        <p:txBody>
          <a:bodyPr wrap="square" rtlCol="0" anchor="ctr"/>
          <a:lstStyle/>
          <a:p>
            <a:pPr algn="ctr" indent="0" marL="0">
              <a:buNone/>
            </a:pPr>
            <a:r>
              <a:rPr lang="en-US" sz="1300" dirty="0">
                <a:solidFill>
                  <a:srgbClr val="FFD5DC"/>
                </a:solidFill>
              </a:rPr>
              <a:t>Angular 21 · Signals · Zone.js · RxJS interop</a:t>
            </a:r>
            <a:endParaRPr lang="en-US" sz="130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1/63</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Avant de commencer</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Zone.js et Signals</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2/63</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Avant de commencer — Zone.js et Signals — Rappel Zone.js</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librairie qui intercepte les APIs async du navigateur.</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prévenir Angular qu'un cycle de détection doit être lancé.</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Limite : ne décrit pas l'état, il déclenche seulement la vérification.</a:t>
            </a:r>
            <a:endParaRPr lang="en-US" sz="116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Avant de commencer — Zone.js et Signals — Définition de Signal et problème résolu</a:t>
            </a:r>
            <a:endParaRPr lang="en-US" sz="15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Définition : valeur réactive lue avec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Rôle : mémoriser les lecteurs dépendants.</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Problème résolu : état explicite et mises à jour plus ciblées.</a:t>
            </a:r>
            <a:endParaRPr lang="en-US" sz="1160" dirty="0"/>
          </a:p>
        </p:txBody>
      </p:sp>
      <p:sp>
        <p:nvSpPr>
          <p:cNvPr id="8" name="Text 5"/>
          <p:cNvSpPr/>
          <p:nvPr/>
        </p:nvSpPr>
        <p:spPr>
          <a:xfrm>
            <a:off x="411480" y="1865376"/>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Zone.js : un événement async se produit → Angular lance la détection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Signals : une valeur change             → Angular connaît les lecteurs dépendants</a:t>
            </a:r>
            <a:endParaRPr lang="en-US" sz="880" dirty="0"/>
          </a:p>
        </p:txBody>
      </p:sp>
      <p:sp>
        <p:nvSpPr>
          <p:cNvPr id="9" name="Text 6"/>
          <p:cNvSpPr/>
          <p:nvPr/>
        </p:nvSpPr>
        <p:spPr>
          <a:xfrm>
            <a:off x="411480" y="251460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Signals résout : l'état réactif local synchrone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Zone.js résout : le déclenchement automatique de la détection après async</a:t>
            </a:r>
            <a:endParaRPr lang="en-US" sz="880" dirty="0"/>
          </a:p>
        </p:txBody>
      </p:sp>
      <p:sp>
        <p:nvSpPr>
          <p:cNvPr id="10"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4/63</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201168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Intention d'architecture du dojo</a:t>
            </a:r>
            <a:endParaRPr lang="en-US" sz="3800" dirty="0"/>
          </a:p>
        </p:txBody>
      </p:sp>
      <p:sp>
        <p:nvSpPr>
          <p:cNvPr id="4" name="Text 1"/>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5/63</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Mapping exercices / branches / fichiers</a:t>
            </a:r>
            <a:endParaRPr lang="en-US" sz="1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798064"/>
        </p:xfrm>
        <a:graphic>
          <a:graphicData uri="http://schemas.openxmlformats.org/drawingml/2006/table">
            <a:tbl>
              <a:tblPr/>
              <a:tblGrid>
                <a:gridCol w="2842184"/>
                <a:gridCol w="2842184"/>
                <a:gridCol w="2842184"/>
                <a:gridCol w="2842184"/>
              </a:tblGrid>
              <a:tr h="310896">
                <a:tc>
                  <a:txBody>
                    <a:bodyPr/>
                    <a:lstStyle/>
                    <a:p>
                      <a:pPr indent="0" marL="0">
                        <a:buNone/>
                      </a:pPr>
                      <a:r>
                        <a:rPr lang="en-US" sz="850" b="1" dirty="0">
                          <a:solidFill>
                            <a:srgbClr val="FFFFFF"/>
                          </a:solidFill>
                        </a:rPr>
                        <a:t>Exercice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Branche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Concept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850" b="1" dirty="0">
                          <a:solidFill>
                            <a:srgbClr val="FFFFFF"/>
                          </a:solidFill>
                        </a:rPr>
                        <a:t>Fichiers principaux</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850" dirty="0">
                          <a:solidFill>
                            <a:srgbClr val="333333"/>
                          </a:solidFill>
                        </a:rPr>
                        <a:t>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exercice-1</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signal()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 clients.component.html, clients.component.spec.ts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exercice-2</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 accounts.component.spec.ts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exercice-3</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effect() pour cohérence d'état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exercice-4</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viewChild() + effect() DOM</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exercice-5</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input()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account-card.component.ts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exercice-6</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output()</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account-list.component.ts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850" dirty="0">
                          <a:solidFill>
                            <a:srgbClr val="333333"/>
                          </a:solidFill>
                        </a:rPr>
                        <a:t>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exercice-7</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toSignal() / toObservable()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333333"/>
                          </a:solidFill>
                        </a:rPr>
                        <a:t>accounts.component.ts, dashboard.component.ts, dashboard.component.spec.ts, clients.component.ts</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850" dirty="0">
                          <a:solidFill>
                            <a:srgbClr val="333333"/>
                          </a:solidFill>
                        </a:rPr>
                        <a:t>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exercice-8</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computed() en façade</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850" dirty="0">
                          <a:solidFill>
                            <a:srgbClr val="333333"/>
                          </a:solidFill>
                        </a:rPr>
                        <a:t>accounts.facade.ts, accounts.component.ts, accounts.component.html</a:t>
                      </a:r>
                      <a:endParaRPr lang="en-US" sz="85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411480" y="3895344"/>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Les branches sont cumulatives : chaque branche ajoute uniquement la correction de son exercice par rapport à la branche précédente.</a:t>
            </a:r>
            <a:endParaRPr lang="en-US" sz="122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6/63</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1</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signal()</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7/63</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8/63</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Convertir la propriété adding = false en signal.</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 = 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 = false;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startAdd(): void { this.adding.set(true);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cancelAdd(): void { this.adding.set(false); }</a:t>
            </a:r>
            <a:endParaRPr lang="en-US" sz="880" dirty="0"/>
          </a:p>
        </p:txBody>
      </p:sp>
      <p:sp>
        <p:nvSpPr>
          <p:cNvPr id="6" name="Text 4"/>
          <p:cNvSpPr/>
          <p:nvPr/>
        </p:nvSpPr>
        <p:spPr>
          <a:xfrm>
            <a:off x="411480" y="307238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remplacer adding par adding().</a:t>
            </a:r>
            <a:endParaRPr lang="en-US" sz="1220" dirty="0"/>
          </a:p>
        </p:txBody>
      </p:sp>
      <p:sp>
        <p:nvSpPr>
          <p:cNvPr id="7" name="Text 5"/>
          <p:cNvSpPr/>
          <p:nvPr/>
        </p:nvSpPr>
        <p:spPr>
          <a:xfrm>
            <a:off x="411480" y="350215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9/63</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Définition</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adding = signal(false);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this.adding.set(true);            // écrire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this.adding.update(v =&gt; !v);      // mettre à jour depuis la valeur courante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adding()                          // lire (template ou TS)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10/63</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vs Zone.js</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Zone.js + propriété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Angular re-rend tout le composant à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 seulement les lecteurs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Détection déclenchée par Zone.js après chaque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Détection déclenchée par .set()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Rien à déclarer — Zone.js devine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Déclarer signal() — Angular sait exactement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11/63</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1 — signal() — Quand utiliser signal() — et quand rester ailleurs</a:t>
            </a:r>
            <a:endParaRPr lang="en-US" sz="1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 booléen, texte, page courante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État local transitoire manipulé seulement par des handlers template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Propriété classique acceptable pendant la migration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 — pas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issue d'une route ou d'un appel HTTP</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État partagé entre composants via service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façade Signals ou store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12/63</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2</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13/63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14/63</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le getter blockedAccountsCount en computed() dans la façade, puis exposer le signal dans le composant.</a:t>
            </a:r>
            <a:endParaRPr lang="en-US" sz="1220" dirty="0"/>
          </a:p>
        </p:txBody>
      </p:sp>
      <p:sp>
        <p:nvSpPr>
          <p:cNvPr id="5" name="Text 3"/>
          <p:cNvSpPr/>
          <p:nvPr/>
        </p:nvSpPr>
        <p:spPr>
          <a:xfrm>
            <a:off x="411480" y="1362456"/>
            <a:ext cx="11368735" cy="156362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return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AccountsFacade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30723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get blockedAccountsCount(): number { return this.accountsFacade.blockedAccountsCount;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 — AccountsComponent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this.accountsFacade.blockedAccountsCount;</a:t>
            </a:r>
            <a:endParaRPr lang="en-US" sz="880" dirty="0"/>
          </a:p>
        </p:txBody>
      </p:sp>
      <p:sp>
        <p:nvSpPr>
          <p:cNvPr id="7" name="Text 5"/>
          <p:cNvSpPr/>
          <p:nvPr/>
        </p:nvSpPr>
        <p:spPr>
          <a:xfrm>
            <a:off x="411480" y="41605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Dans le template : {{ blockedAccountsCount }} → {{ blockedAccountsCount() }}</a:t>
            </a:r>
            <a:endParaRPr lang="en-US" sz="1220" dirty="0"/>
          </a:p>
        </p:txBody>
      </p:sp>
      <p:sp>
        <p:nvSpPr>
          <p:cNvPr id="8" name="Text 6"/>
          <p:cNvSpPr/>
          <p:nvPr/>
        </p:nvSpPr>
        <p:spPr>
          <a:xfrm>
            <a:off x="411480" y="45902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15/63</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Définition</a:t>
            </a:r>
            <a:endParaRPr lang="en-US" sz="1800" dirty="0"/>
          </a:p>
        </p:txBody>
      </p:sp>
      <p:sp>
        <p:nvSpPr>
          <p:cNvPr id="5" name="Text 2"/>
          <p:cNvSpPr/>
          <p:nvPr/>
        </p:nvSpPr>
        <p:spPr>
          <a:xfrm>
            <a:off x="411480" y="932688"/>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blockedAccountsCount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this.filteredAccounts().filter(a =&gt; a.status === 'blocked').length</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blockedAccountsCount()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16/63</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vs Zone.js</a:t>
            </a:r>
            <a:endParaRPr lang="en-US" sz="1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Getter +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Recalculé à chaque cycle de détection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Recalculé seulement si une dépendance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Angular ignore si la valeur a changé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Angular mémorise et invalide le cache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Règle dans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Règle dans la façade, partageable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17/63</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2 — computed() — Quand utiliser computed() — et quand rester ailleurs</a:t>
            </a:r>
            <a:endParaRPr lang="en-US" sz="1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Total, compteur, libellé dérivé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Règle qui dépend du temps (debounce,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Flux asynchrone — computed() est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Calcul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puis 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(appel HTTP, log, focus)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 — pas computed()</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18/63</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19/63</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20/63</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Remplacer l'appel impératif this.clampCurrentPage() par un effect() dans le constructeur.</a:t>
            </a:r>
            <a:endParaRPr lang="en-US" sz="1220" dirty="0"/>
          </a:p>
        </p:txBody>
      </p:sp>
      <p:sp>
        <p:nvSpPr>
          <p:cNvPr id="5" name="Text 3"/>
          <p:cNvSpPr/>
          <p:nvPr/>
        </p:nvSpPr>
        <p:spPr>
          <a:xfrm>
            <a:off x="411480" y="1362456"/>
            <a:ext cx="11368735" cy="18745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Ajouter dans le constructeur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const clamped = this.pageSlice().page;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if (clamped !== this.page()) this.page.set(clamped);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dans deleteClient()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this.clampCurrentPage(); // ← retirer cette ligne</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Supprimer la méthode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private clampCurrentPage(): void { ... }</a:t>
            </a:r>
            <a:endParaRPr lang="en-US" sz="880" dirty="0"/>
          </a:p>
        </p:txBody>
      </p:sp>
      <p:sp>
        <p:nvSpPr>
          <p:cNvPr id="6" name="Text 4"/>
          <p:cNvSpPr/>
          <p:nvPr/>
        </p:nvSpPr>
        <p:spPr>
          <a:xfrm>
            <a:off x="411480" y="3383280"/>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21/63</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3</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effect() pour synchroniser un état</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22/63</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3 — effect() pour synchroniser un état — vs Zone.js</a:t>
            </a:r>
            <a:endParaRPr lang="en-US" sz="18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Appel impératif après mutation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On doit penser à appeler la méthode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Déclenché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Logique dispersée dans plusieurs méthodes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Logique centralisée dans l'effet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Bug si on oublie l'appel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Moins de risque — l'effet observe les dépendances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23/63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3 — effect() pour synchroniser un état — Quand utiliser effect() — et quand rester ailleurs</a:t>
            </a:r>
            <a:endParaRPr lang="en-US" sz="15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Titre du document, focus, scroll après changement d'état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Correction d'un état cohérent (clamping, reset)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Chargement HTTP déclenché par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Possible avec effect(), mais à encadrer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calculée à partir d'autres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computed() — pas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Effet déclenché par une source asynchrone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asynchrone ou toSignal() selon le cas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24/63</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25/63</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src/app/features/clients/pages/clients/clients.component.ts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26/63</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27/63</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Définition viewChild()</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firstNameInput = viewChild&lt;ElementRef&gt;('firstNameRef');</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28/63</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4 — viewChild() + effect() pour le DOM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Conditionner le focus sur adding() dans l'effet viewChild existant.</a:t>
            </a:r>
            <a:endParaRPr lang="en-US" sz="1220" dirty="0"/>
          </a:p>
        </p:txBody>
      </p:sp>
      <p:sp>
        <p:nvSpPr>
          <p:cNvPr id="5" name="Text 3"/>
          <p:cNvSpPr/>
          <p:nvPr/>
        </p:nvSpPr>
        <p:spPr>
          <a:xfrm>
            <a:off x="411480" y="1362456"/>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 this.firstNameInput()?.nativeElement.focus(); });</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effect(() =&gt; { if (this.adding()) this.firstNameInput()?.nativeElement.focus(); });</a:t>
            </a:r>
            <a:endParaRPr lang="en-US" sz="880" dirty="0"/>
          </a:p>
        </p:txBody>
      </p:sp>
      <p:sp>
        <p:nvSpPr>
          <p:cNvPr id="6" name="Text 4"/>
          <p:cNvSpPr/>
          <p:nvPr/>
        </p:nvSpPr>
        <p:spPr>
          <a:xfrm>
            <a:off x="411480" y="2450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src/app/features/clients/pages/clients/clients.component.spec.ts</a:t>
            </a:r>
            <a:endParaRPr lang="en-US" sz="88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29/63</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4</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viewChild() + effect() pour le DOM</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30/63</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5</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31/63</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src/app/features/accounts/components/account-card/account-card.component.ts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32/63</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Consigne</a:t>
            </a:r>
            <a:endParaRPr lang="en-US" sz="1800" dirty="0"/>
          </a:p>
        </p:txBody>
      </p:sp>
      <p:sp>
        <p:nvSpPr>
          <p:cNvPr id="5"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@Input() showStatus = true en showStatus = input(true) et retirer Input des imports.</a:t>
            </a:r>
            <a:endParaRPr lang="en-US" sz="1220" dirty="0"/>
          </a:p>
        </p:txBody>
      </p:sp>
      <p:sp>
        <p:nvSpPr>
          <p:cNvPr id="6" name="Text 3"/>
          <p:cNvSpPr/>
          <p:nvPr/>
        </p:nvSpPr>
        <p:spPr>
          <a:xfrm>
            <a:off x="411480" y="1362456"/>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@Input() showStatus = 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visibleStatusLabel = computed(() =&gt; this.showStatus() ? this.statusLabel() : null);</a:t>
            </a:r>
            <a:endParaRPr lang="en-US" sz="880" dirty="0"/>
          </a:p>
        </p:txBody>
      </p:sp>
      <p:sp>
        <p:nvSpPr>
          <p:cNvPr id="7" name="Text 4"/>
          <p:cNvSpPr/>
          <p:nvPr/>
        </p:nvSpPr>
        <p:spPr>
          <a:xfrm>
            <a:off x="411480" y="27614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src/app/features/accounts/components/account-card/account-card.component.spec.ts</a:t>
            </a:r>
            <a:endParaRPr lang="en-US" sz="880" dirty="0"/>
          </a:p>
        </p:txBody>
      </p:sp>
      <p:sp>
        <p:nvSpPr>
          <p:cNvPr id="8"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33/63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showStatus = input(true);              // avec valeur par défaut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account = input.required&lt;Account&gt;();   // requis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showStatus()                           // lecture</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34/63</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vs Zone.js</a:t>
            </a:r>
            <a:endParaRPr lang="en-US" sz="18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@Input() classique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Propriété TS mise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Signal mis à jour par Angular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Lu dans computed() sans créer de dépendance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Lu dans computed() → dépendance réelle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chaque cycle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Re-render seulement si la valeur change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35/63</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5 — input() — Quand utiliser input() — et quand rester ailleurs</a:t>
            </a:r>
            <a:endParaRPr lang="en-US" sz="18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Entrée lue dans un computed() ou effect()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Entrée requise sans valeur par défaut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input.required&lt;T&gt;()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legacy dans un composant non migré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@Input() acceptable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parent ↔ enfant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parenthèse après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36/63</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6</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output()</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37/63</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Fichier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src/app/features/accounts/components/account-list/account-list.component.ts</a:t>
            </a:r>
            <a:endParaRPr lang="en-US" sz="122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38/63</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Lecture guidée</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editRequested = output&lt;Account&gt;();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saveRequested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cancelRequested = output&lt;void&gt;();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deleteRequested = output&lt;Account&gt;();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39/63</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Consigne</a:t>
            </a:r>
            <a:endParaRPr lang="en-US" sz="1800" dirty="0"/>
          </a:p>
        </p:txBody>
      </p:sp>
      <p:sp>
        <p:nvSpPr>
          <p:cNvPr id="4" name="Text 2"/>
          <p:cNvSpPr/>
          <p:nvPr/>
        </p:nvSpPr>
        <p:spPr>
          <a:xfrm>
            <a:off x="411480" y="93268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Transformer @Output() selectedRequested = new EventEmitter&lt;Account&gt;() en output(). Retirer EventEmitter et Output des imports.</a:t>
            </a:r>
            <a:endParaRPr lang="en-US" sz="1220" dirty="0"/>
          </a:p>
        </p:txBody>
      </p:sp>
      <p:sp>
        <p:nvSpPr>
          <p:cNvPr id="5" name="Text 3"/>
          <p:cNvSpPr/>
          <p:nvPr/>
        </p:nvSpPr>
        <p:spPr>
          <a:xfrm>
            <a:off x="411480" y="1472184"/>
            <a:ext cx="11368735" cy="94183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@Output() selectedRequested = new EventEmitter&lt;Account&gt;();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a:t>
            </a:r>
            <a:endParaRPr lang="en-US" sz="880" dirty="0"/>
          </a:p>
        </p:txBody>
      </p:sp>
      <p:sp>
        <p:nvSpPr>
          <p:cNvPr id="6" name="Text 4"/>
          <p:cNvSpPr/>
          <p:nvPr/>
        </p:nvSpPr>
        <p:spPr>
          <a:xfrm>
            <a:off x="411480" y="256032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L'émission dans l'effect() reste identique : this.selectedRequested.emit(account).</a:t>
            </a:r>
            <a:endParaRPr lang="en-US" sz="1220" dirty="0"/>
          </a:p>
        </p:txBody>
      </p:sp>
      <p:sp>
        <p:nvSpPr>
          <p:cNvPr id="7" name="Text 5"/>
          <p:cNvSpPr/>
          <p:nvPr/>
        </p:nvSpPr>
        <p:spPr>
          <a:xfrm>
            <a:off x="411480" y="29900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8" name="Text 6"/>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40/63</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Définition</a:t>
            </a:r>
            <a:endParaRPr lang="en-US" sz="1800" dirty="0"/>
          </a:p>
        </p:txBody>
      </p:sp>
      <p:sp>
        <p:nvSpPr>
          <p:cNvPr id="5" name="Text 2"/>
          <p:cNvSpPr/>
          <p:nvPr/>
        </p:nvSpPr>
        <p:spPr>
          <a:xfrm>
            <a:off x="411480" y="932688"/>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selectedRequested = output&lt;Account&gt;();       // déclarer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this.selectedRequested.emit(account);        // émettre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(selectedRequested)="startEdit($event)"      // écouter dans le parent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41/63</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vs Zone.js</a:t>
            </a:r>
            <a:endParaRPr lang="en-US" sz="18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@Output() + EventEmitter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Hérite historiquement d'un mécanisme de flux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Pas d'Observable interne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Souvent détourné comme flux applicatif</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Contrat pensé pour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déclenche détection après l'émission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notifie directement le parent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42/63</a:t>
            </a:r>
            <a:endParaRPr lang="en-US" sz="7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Quand utiliser output() — et quand rester ailleurs</a:t>
            </a:r>
            <a:endParaRPr lang="en-US" sz="18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Événement vers le parent direct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Événement global ou cross-composant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Service dédié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Flux avec opérateurs temporels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dédié, pas output()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bidirectionnelle entrée + sortie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model() (voir ci-dessous)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43/63</a:t>
            </a:r>
            <a:endParaRPr lang="en-US" sz="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6 — output() — Parenthèse rapide — model()</a:t>
            </a:r>
            <a:endParaRPr lang="en-US" sz="1800" dirty="0"/>
          </a:p>
        </p:txBody>
      </p:sp>
      <p:sp>
        <p:nvSpPr>
          <p:cNvPr id="5" name="Text 2"/>
          <p:cNvSpPr/>
          <p:nvPr/>
        </p:nvSpPr>
        <p:spPr>
          <a:xfrm>
            <a:off x="411480" y="932688"/>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value = model('');</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Parent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&lt;app-search-box [(value)]="searchTerm" /&gt;</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44/63</a:t>
            </a:r>
            <a:endParaRPr lang="en-US" sz="7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Rappel RxJS — Avant toSignal()</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RxJS    : un flux émet dans le temps → on compose/transforme ce flux</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toSignal: Observable → Signal        → on lit la dernière valeur avec ()</a:t>
            </a:r>
            <a:endParaRPr lang="en-US" sz="880" dirty="0"/>
          </a:p>
        </p:txBody>
      </p:sp>
      <p:sp>
        <p:nvSpPr>
          <p:cNvPr id="6" name="Text 3"/>
          <p:cNvSpPr/>
          <p:nvPr/>
        </p:nvSpPr>
        <p:spPr>
          <a:xfrm>
            <a:off x="411480" y="1581912"/>
            <a:ext cx="11368735" cy="109728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this.route.paramMap.pipe(map(params =&gt; params.get('id'))),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clientId() // lecture côté composant/template</a:t>
            </a:r>
            <a:endParaRPr lang="en-US" sz="880" dirty="0"/>
          </a:p>
        </p:txBody>
      </p:sp>
      <p:sp>
        <p:nvSpPr>
          <p:cNvPr id="7" name="Text 4"/>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45/63</a:t>
            </a:r>
            <a:endParaRPr lang="en-US" sz="7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46/63</a:t>
            </a:r>
            <a:endParaRPr lang="en-US" sz="7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Fichiers à modifier</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toSignal() simple — src/app/features/accounts/pages/accounts/accounts.component.ts</a:t>
            </a:r>
            <a:endParaRPr lang="en-US" sz="1220" dirty="0"/>
          </a:p>
        </p:txBody>
      </p:sp>
      <p:sp>
        <p:nvSpPr>
          <p:cNvPr id="5" name="Text 3"/>
          <p:cNvSpPr/>
          <p:nvPr/>
        </p:nvSpPr>
        <p:spPr>
          <a:xfrm>
            <a:off x="411480" y="1362456"/>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toSignal() avec état de chargement — src/app/features/clients/pages/dashboard/dashboard.component.ts</a:t>
            </a:r>
            <a:endParaRPr lang="en-US" sz="1220" dirty="0"/>
          </a:p>
        </p:txBody>
      </p:sp>
      <p:sp>
        <p:nvSpPr>
          <p:cNvPr id="6" name="Text 4"/>
          <p:cNvSpPr/>
          <p:nvPr/>
        </p:nvSpPr>
        <p:spPr>
          <a:xfrm>
            <a:off x="411480" y="1792224"/>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7c — toObservable() — src/app/features/clients/pages/clients/clients.component.ts (lecture seule / bonus)</a:t>
            </a:r>
            <a:endParaRPr lang="en-US" sz="122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47/63</a:t>
            </a:r>
            <a:endParaRPr lang="en-US" sz="7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7</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Interop RxJS progressive</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48/63</a:t>
            </a:r>
            <a:endParaRPr lang="en-US" sz="7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7a : remplacer la souscription manuelle à paramMap par toSignal().</a:t>
            </a:r>
            <a:endParaRPr lang="en-US" sz="1220" dirty="0"/>
          </a:p>
        </p:txBody>
      </p:sp>
      <p:sp>
        <p:nvSpPr>
          <p:cNvPr id="5" name="Text 3"/>
          <p:cNvSpPr/>
          <p:nvPr/>
        </p:nvSpPr>
        <p:spPr>
          <a:xfrm>
            <a:off x="411480" y="1362456"/>
            <a:ext cx="11368735" cy="249631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Avant — souscription manuelle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signal&lt;string | null&gt;(null);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this.clientId$.pipe(takeUntilDestroyed(this.destroyRef))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.subscribe(id =&gt; { this.clientId.set(id); this.accountsFacade.load(id);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Après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clientId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this.route.paramMap.pipe(map(p =&gt; p.get('id'))),</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constructor()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effect(() =&gt; { this.accountsFacade.load(this.clientId());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4005072"/>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Nettoyer aussi les imports devenus inutiles :</a:t>
            </a:r>
            <a:endParaRPr lang="en-US" sz="1220" dirty="0"/>
          </a:p>
        </p:txBody>
      </p:sp>
      <p:sp>
        <p:nvSpPr>
          <p:cNvPr id="7" name="Text 5"/>
          <p:cNvSpPr/>
          <p:nvPr/>
        </p:nvSpPr>
        <p:spPr>
          <a:xfrm>
            <a:off x="411480" y="4434840"/>
            <a:ext cx="11368735" cy="630936"/>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À retirer après conversion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DestroyRef</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takeUntilDestroyed</a:t>
            </a:r>
            <a:endParaRPr lang="en-US" sz="880" dirty="0"/>
          </a:p>
        </p:txBody>
      </p:sp>
      <p:sp>
        <p:nvSpPr>
          <p:cNvPr id="8" name="Text 6"/>
          <p:cNvSpPr/>
          <p:nvPr/>
        </p:nvSpPr>
        <p:spPr>
          <a:xfrm>
            <a:off x="411480" y="5212080"/>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7b : remplacer firstValueFrom() + états manuels par toSignal() + pipe RxJS.</a:t>
            </a:r>
            <a:endParaRPr lang="en-US" sz="1220" dirty="0"/>
          </a:p>
        </p:txBody>
      </p:sp>
      <p:sp>
        <p:nvSpPr>
          <p:cNvPr id="9" name="Text 7"/>
          <p:cNvSpPr/>
          <p:nvPr/>
        </p:nvSpPr>
        <p:spPr>
          <a:xfrm>
            <a:off x="411480" y="5641848"/>
            <a:ext cx="11368735" cy="429768"/>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Point d'attention : ici RxJS reste utile. Le pipe() construit un petit état de vue unique : données, chargement et erreur.</a:t>
            </a:r>
            <a:endParaRPr lang="en-US" sz="1220" dirty="0"/>
          </a:p>
        </p:txBody>
      </p:sp>
      <p:sp>
        <p:nvSpPr>
          <p:cNvPr id="10"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49/63</a:t>
            </a:r>
            <a:endParaRPr lang="en-US" sz="7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Lecture de la pipeline 7b</a:t>
            </a:r>
            <a:endParaRPr lang="en-US" sz="1800" dirty="0"/>
          </a:p>
        </p:txBody>
      </p:sp>
      <p:sp>
        <p:nvSpPr>
          <p:cNvPr id="5"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startWith(...) donne l'état initial avant la réponse HTTP ;</a:t>
            </a:r>
            <a:endParaRPr lang="en-US" sz="1160" dirty="0"/>
          </a:p>
        </p:txBody>
      </p:sp>
      <p:sp>
        <p:nvSpPr>
          <p:cNvPr id="6"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map(...) transforme la réponse HTTP en état de vue réussi ;</a:t>
            </a:r>
            <a:endParaRPr lang="en-US" sz="1160" dirty="0"/>
          </a:p>
        </p:txBody>
      </p:sp>
      <p:sp>
        <p:nvSpPr>
          <p:cNvPr id="7"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catchError(...) transforme l'erreur HTTP en état de vue en erreur ;</a:t>
            </a:r>
            <a:endParaRPr lang="en-US" sz="1160" dirty="0"/>
          </a:p>
        </p:txBody>
      </p:sp>
      <p:sp>
        <p:nvSpPr>
          <p:cNvPr id="8" name="Text 5"/>
          <p:cNvSpPr/>
          <p:nvPr/>
        </p:nvSpPr>
        <p:spPr>
          <a:xfrm>
            <a:off x="576072" y="1865376"/>
            <a:ext cx="11204143" cy="256032"/>
          </a:xfrm>
          <a:prstGeom prst="rect">
            <a:avLst/>
          </a:prstGeom>
          <a:noFill/>
          <a:ln/>
        </p:spPr>
        <p:txBody>
          <a:bodyPr wrap="square" lIns="127" tIns="127" rIns="127" bIns="127" rtlCol="0" anchor="ctr">
            <a:normAutofit/>
          </a:bodyPr>
          <a:lstStyle/>
          <a:p>
            <a:r>
              <a:rPr lang="en-US" sz="1160" dirty="0">
                <a:solidFill>
                  <a:srgbClr val="333333"/>
                </a:solidFill>
              </a:rPr>
              <a:t>toSignal(...) expose la dernière version de cet état au template.</a:t>
            </a:r>
            <a:endParaRPr lang="en-US" sz="1160" dirty="0"/>
          </a:p>
        </p:txBody>
      </p:sp>
      <p:sp>
        <p:nvSpPr>
          <p:cNvPr id="9" name="Text 6"/>
          <p:cNvSpPr/>
          <p:nvPr/>
        </p:nvSpPr>
        <p:spPr>
          <a:xfrm>
            <a:off x="411480" y="2176272"/>
            <a:ext cx="11368735" cy="1719072"/>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private readonly clientsQuery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this.clientsApi.getAll().pipe(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map(clients =&gt; ({ clients, loading: false,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catchError(err =&gt; of({ clients: [], loading: false, error: err.message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startWith({ clients: [], loading: true, error: null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 initialValue: { clients: [], loading: true, error: null } }</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loading = computed(() =&gt; this.clientsQuery().loading);</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error   = computed(() =&gt; this.clientsQuery().error);</a:t>
            </a:r>
            <a:endParaRPr lang="en-US" sz="880" dirty="0"/>
          </a:p>
        </p:txBody>
      </p:sp>
      <p:sp>
        <p:nvSpPr>
          <p:cNvPr id="10" name="Text 7"/>
          <p:cNvSpPr/>
          <p:nvPr/>
        </p:nvSpPr>
        <p:spPr>
          <a:xfrm>
            <a:off x="411480" y="404164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src/app/features/clients/pages/dashboard/dashboard.component.spec.ts</a:t>
            </a:r>
            <a:endParaRPr lang="en-US" sz="880" dirty="0"/>
          </a:p>
        </p:txBody>
      </p:sp>
      <p:sp>
        <p:nvSpPr>
          <p:cNvPr id="11" name="Text 8"/>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50/63</a:t>
            </a:r>
            <a:endParaRPr lang="en-US" sz="7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Définition</a:t>
            </a:r>
            <a:endParaRPr lang="en-US" sz="1800" dirty="0"/>
          </a:p>
        </p:txBody>
      </p:sp>
      <p:sp>
        <p:nvSpPr>
          <p:cNvPr id="5"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Signal → Observable pour opérateurs RxJS</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debouncedSearch$ = toObservable(this.search).pipe(debounceTime(300));</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51/63</a:t>
            </a:r>
            <a:endParaRPr lang="en-US" sz="7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Zone.js</a:t>
            </a:r>
            <a:endParaRPr lang="en-US" sz="18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243584"/>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Observable + .subscribe()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takeUntilDestroyed requis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Abonnement géré automatiquement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Copie manuelle dans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crée et alimente le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Zone.js détecte l'émission, re-rend tout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Angular re-rend seulement les dépendants du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52/63</a:t>
            </a:r>
            <a:endParaRPr lang="en-US" sz="7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7 — Interop RxJS progressive — vs RxJS</a:t>
            </a:r>
            <a:endParaRPr lang="en-US" sz="18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932688"/>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BehaviorSubject exposé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Source mutable, .next() depuis plusieurs endroits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Alimenté uniquement par l'Observable source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Adapté à l'état partagé entre services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Adapté à 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53/63</a:t>
            </a:r>
            <a:endParaRPr lang="en-US" sz="7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500" b="1" dirty="0">
                <a:solidFill>
                  <a:srgbClr val="FFFFFF"/>
                </a:solidFill>
              </a:rPr>
              <a:t>Exercice 7 — Interop RxJS progressive — Quand utiliser toSignal() / toObservable() — et quand rester en RxJS pur</a:t>
            </a:r>
            <a:endParaRPr lang="en-US" sz="15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2176272"/>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Situation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Outil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Lire paramMap ou queryParamMap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Observable HTTP one-shot dans un composant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toSignal() + pipe(map, catchError, startWith)</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Debounce, distinctUntilChanged sur un signal</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toObservable() + pipe()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Flux continu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RxJS pur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Combiner deux flux avec temporalité</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combineLatest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Requête POST / PUT /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firstValueFrom() dans une méthode async</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54/63</a:t>
            </a:r>
            <a:endParaRPr lang="en-US" sz="7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4"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55/63</a:t>
            </a:r>
            <a:endParaRPr lang="en-US" sz="7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Fichiers à modifier</a:t>
            </a:r>
            <a:endParaRPr lang="en-US" sz="1800" dirty="0"/>
          </a:p>
        </p:txBody>
      </p:sp>
      <p:sp>
        <p:nvSpPr>
          <p:cNvPr id="4" name="Text 2"/>
          <p:cNvSpPr/>
          <p:nvPr/>
        </p:nvSpPr>
        <p:spPr>
          <a:xfrm>
            <a:off x="576072" y="932688"/>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src/app/features/accounts/services/accounts.facade.ts</a:t>
            </a:r>
            <a:endParaRPr lang="en-US" sz="1160" dirty="0"/>
          </a:p>
        </p:txBody>
      </p:sp>
      <p:sp>
        <p:nvSpPr>
          <p:cNvPr id="5" name="Text 3"/>
          <p:cNvSpPr/>
          <p:nvPr/>
        </p:nvSpPr>
        <p:spPr>
          <a:xfrm>
            <a:off x="576072" y="1243584"/>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src/app/features/accounts/pages/accounts/accounts.component.ts</a:t>
            </a:r>
            <a:endParaRPr lang="en-US" sz="1160" dirty="0"/>
          </a:p>
        </p:txBody>
      </p:sp>
      <p:sp>
        <p:nvSpPr>
          <p:cNvPr id="6" name="Text 4"/>
          <p:cNvSpPr/>
          <p:nvPr/>
        </p:nvSpPr>
        <p:spPr>
          <a:xfrm>
            <a:off x="576072" y="1554480"/>
            <a:ext cx="11204143" cy="256032"/>
          </a:xfrm>
          <a:prstGeom prst="rect">
            <a:avLst/>
          </a:prstGeom>
          <a:noFill/>
          <a:ln/>
        </p:spPr>
        <p:txBody>
          <a:bodyPr wrap="square" lIns="127" tIns="127" rIns="127" bIns="127" rtlCol="0" anchor="ctr">
            <a:normAutofit/>
          </a:bodyPr>
          <a:lstStyle/>
          <a:p>
            <a:r>
              <a:rPr lang="en-US" sz="1160" dirty="0">
                <a:solidFill>
                  <a:srgbClr val="333333"/>
                </a:solidFill>
              </a:rPr>
              <a:t>src/app/features/accounts/pages/accounts/accounts.component.html</a:t>
            </a:r>
            <a:endParaRPr lang="en-US" sz="1160" dirty="0"/>
          </a:p>
        </p:txBody>
      </p:sp>
      <p:sp>
        <p:nvSpPr>
          <p:cNvPr id="7" name="Text 5"/>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56/63</a:t>
            </a:r>
            <a:endParaRPr lang="en-US" sz="7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Consigne</a:t>
            </a:r>
            <a:endParaRPr lang="en-US" sz="1800" dirty="0"/>
          </a:p>
        </p:txBody>
      </p:sp>
      <p:sp>
        <p:nvSpPr>
          <p:cNvPr id="4" name="Text 2"/>
          <p:cNvSpPr/>
          <p:nvPr/>
        </p:nvSpPr>
        <p:spPr>
          <a:xfrm>
            <a:off x="411480" y="932688"/>
            <a:ext cx="11368735" cy="320040"/>
          </a:xfrm>
          <a:prstGeom prst="rect">
            <a:avLst/>
          </a:prstGeom>
          <a:noFill/>
          <a:ln/>
        </p:spPr>
        <p:txBody>
          <a:bodyPr wrap="square" lIns="254" tIns="254" rIns="254" bIns="254" rtlCol="0" anchor="t">
            <a:normAutofit/>
          </a:bodyPr>
          <a:lstStyle/>
          <a:p>
            <a:pPr indent="0" marL="0">
              <a:buNone/>
            </a:pPr>
            <a:r>
              <a:rPr lang="en-US" sz="1220" dirty="0">
                <a:solidFill>
                  <a:srgbClr val="333333"/>
                </a:solidFill>
              </a:rPr>
              <a:t>Ajouter hasActiveFilter comme computed() dans la façade, l'exposer dans le composant, l'utiliser dans le template.</a:t>
            </a:r>
            <a:endParaRPr lang="en-US" sz="1220" dirty="0"/>
          </a:p>
        </p:txBody>
      </p:sp>
      <p:sp>
        <p:nvSpPr>
          <p:cNvPr id="5" name="Text 3"/>
          <p:cNvSpPr/>
          <p:nvPr/>
        </p:nvSpPr>
        <p:spPr>
          <a:xfrm>
            <a:off x="411480" y="1362456"/>
            <a:ext cx="11368735" cy="786384"/>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accounts.facade.ts — ajouter après typeFilter</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computed(()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this.search().trim().length &gt; 0 || this.typeFilter() !== 'all'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a:t>
            </a:r>
            <a:endParaRPr lang="en-US" sz="880" dirty="0"/>
          </a:p>
        </p:txBody>
      </p:sp>
      <p:sp>
        <p:nvSpPr>
          <p:cNvPr id="6" name="Text 4"/>
          <p:cNvSpPr/>
          <p:nvPr/>
        </p:nvSpPr>
        <p:spPr>
          <a:xfrm>
            <a:off x="411480" y="2295144"/>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 AccountsComponent — exposer le signal de la façade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readonly hasActiveFilter = this.accountsFacade.hasActiveFilter;</a:t>
            </a:r>
            <a:endParaRPr lang="en-US" sz="880" dirty="0"/>
          </a:p>
        </p:txBody>
      </p:sp>
      <p:sp>
        <p:nvSpPr>
          <p:cNvPr id="7" name="Text 5"/>
          <p:cNvSpPr/>
          <p:nvPr/>
        </p:nvSpPr>
        <p:spPr>
          <a:xfrm>
            <a:off x="411480" y="294436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&lt;!-- accounts.component.html — remplacer le message vide --&gt;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 hasActiveFilter() ? 'Aucun compte ne correspond aux filtres.' : 'Aucun compte trouvé.' }}</a:t>
            </a:r>
            <a:endParaRPr lang="en-US" sz="880" dirty="0"/>
          </a:p>
        </p:txBody>
      </p:sp>
      <p:sp>
        <p:nvSpPr>
          <p:cNvPr id="8" name="Text 6"/>
          <p:cNvSpPr/>
          <p:nvPr/>
        </p:nvSpPr>
        <p:spPr>
          <a:xfrm>
            <a:off x="411480" y="3593592"/>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npm test -- --runTestsByPath src/app/features/accounts/pages/accounts/accounts.component.spec.ts</a:t>
            </a:r>
            <a:endParaRPr lang="en-US" sz="880" dirty="0"/>
          </a:p>
        </p:txBody>
      </p:sp>
      <p:sp>
        <p:nvSpPr>
          <p:cNvPr id="9" name="Text 7"/>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57/63</a:t>
            </a:r>
            <a:endParaRPr lang="en-US" sz="7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58/63</a:t>
            </a:r>
            <a:endParaRPr lang="en-US" sz="7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1976D2"/>
        </a:solidFill>
      </p:bgPr>
    </p:bg>
    <p:spTree>
      <p:nvGrpSpPr>
        <p:cNvPr id="1" name=""/>
        <p:cNvGrpSpPr/>
        <p:nvPr/>
      </p:nvGrpSpPr>
      <p:grpSpPr>
        <a:xfrm>
          <a:off x="0" y="0"/>
          <a:ext cx="0" cy="0"/>
          <a:chOff x="0" y="0"/>
          <a:chExt cx="0" cy="0"/>
        </a:xfrm>
      </p:grpSpPr>
      <p:sp>
        <p:nvSpPr>
          <p:cNvPr id="2" name="Text 0"/>
          <p:cNvSpPr/>
          <p:nvPr/>
        </p:nvSpPr>
        <p:spPr>
          <a:xfrm>
            <a:off x="594360" y="1600200"/>
            <a:ext cx="11002975" cy="411480"/>
          </a:xfrm>
          <a:prstGeom prst="rect">
            <a:avLst/>
          </a:prstGeom>
          <a:noFill/>
          <a:ln/>
        </p:spPr>
        <p:txBody>
          <a:bodyPr wrap="square" lIns="0" tIns="0" rIns="0" bIns="0" rtlCol="0" anchor="ctr"/>
          <a:lstStyle/>
          <a:p>
            <a:pPr algn="ctr" indent="0" marL="0">
              <a:buNone/>
            </a:pPr>
            <a:r>
              <a:rPr lang="en-US" sz="1800" dirty="0">
                <a:solidFill>
                  <a:srgbClr val="CFE8FF"/>
                </a:solidFill>
              </a:rPr>
              <a:t>Exercice 8</a:t>
            </a:r>
            <a:endParaRPr lang="en-US" sz="1800" dirty="0"/>
          </a:p>
        </p:txBody>
      </p:sp>
      <p:sp>
        <p:nvSpPr>
          <p:cNvPr id="3" name="Text 1"/>
          <p:cNvSpPr/>
          <p:nvPr/>
        </p:nvSpPr>
        <p:spPr>
          <a:xfrm>
            <a:off x="594360" y="2148840"/>
            <a:ext cx="11002975" cy="1097280"/>
          </a:xfrm>
          <a:prstGeom prst="rect">
            <a:avLst/>
          </a:prstGeom>
          <a:noFill/>
          <a:ln/>
        </p:spPr>
        <p:txBody>
          <a:bodyPr wrap="square" lIns="0" tIns="0" rIns="0" bIns="0" rtlCol="0" anchor="ctr">
            <a:normAutofit/>
          </a:bodyPr>
          <a:lstStyle/>
          <a:p>
            <a:pPr algn="ctr" indent="0" marL="0">
              <a:buNone/>
            </a:pPr>
            <a:r>
              <a:rPr lang="en-US" sz="3800" b="1" dirty="0">
                <a:solidFill>
                  <a:srgbClr val="FFFFFF"/>
                </a:solidFill>
              </a:rPr>
              <a:t>Consolidation façade avec computed()</a:t>
            </a:r>
            <a:endParaRPr lang="en-US" sz="3800" dirty="0"/>
          </a:p>
        </p:txBody>
      </p:sp>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59/63</a:t>
            </a:r>
            <a:endParaRPr lang="en-US" sz="7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Exercice 8 — Consolidation façade avec computed() — vs Zone.js / vs RxJS</a:t>
            </a:r>
            <a:endParaRPr lang="en-US" sz="18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554480"/>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Règle dans le template ou le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computed() dans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Logique inline, intention illisible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Nom qui exprime l'intention métier</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Dupliquée si plusieurs composants en ont besoin</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Partageable depuis la façade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Non testable directement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Testable unitairement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Recalculée à chaque cycle Zone.js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Mémorisée, recalculée seulement si nécessaire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60/63</a:t>
            </a:r>
            <a:endParaRPr lang="en-US" sz="7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a:t>
            </a:r>
            <a:endParaRPr lang="en-US" sz="18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11480" y="932688"/>
          <a:ext cx="11368735" cy="1865376"/>
        </p:xfrm>
        <a:graphic>
          <a:graphicData uri="http://schemas.openxmlformats.org/drawingml/2006/table">
            <a:tbl>
              <a:tblPr/>
              <a:tblGrid>
                <a:gridCol w="5684368"/>
                <a:gridCol w="5684368"/>
              </a:tblGrid>
              <a:tr h="310896">
                <a:tc>
                  <a:txBody>
                    <a:bodyPr/>
                    <a:lstStyle/>
                    <a:p>
                      <a:pPr indent="0" marL="0">
                        <a:buNone/>
                      </a:pPr>
                      <a:r>
                        <a:rPr lang="en-US" sz="1020" b="1" dirty="0">
                          <a:solidFill>
                            <a:srgbClr val="FFFFFF"/>
                          </a:solidFill>
                        </a:rPr>
                        <a:t>Utiliser Signals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c>
                  <a:txBody>
                    <a:bodyPr/>
                    <a:lstStyle/>
                    <a:p>
                      <a:pPr indent="0" marL="0">
                        <a:buNone/>
                      </a:pPr>
                      <a:r>
                        <a:rPr lang="en-US" sz="1020" b="1" dirty="0">
                          <a:solidFill>
                            <a:srgbClr val="FFFFFF"/>
                          </a:solidFill>
                        </a:rPr>
                        <a:t>Utiliser RxJS</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DD0031"/>
                    </a:solidFill>
                  </a:tcPr>
                </a:tc>
              </a:tr>
              <a:tr h="310896">
                <a:tc>
                  <a:txBody>
                    <a:bodyPr/>
                    <a:lstStyle/>
                    <a:p>
                      <a:pPr indent="0" marL="0">
                        <a:buNone/>
                      </a:pPr>
                      <a:r>
                        <a:rPr lang="en-US" sz="1020" dirty="0">
                          <a:solidFill>
                            <a:srgbClr val="333333"/>
                          </a:solidFill>
                        </a:rPr>
                        <a:t>État UI local synchrone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Flux impliquant le temps (debounceTime, delay…)</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Valeur dérivée d'autres états locaux</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Combinaison de plusieurs sources (combineLatest, merge)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Entrée / sortie de composant réactive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Source continue (WebSocket, polling)</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r h="310896">
                <a:tc>
                  <a:txBody>
                    <a:bodyPr/>
                    <a:lstStyle/>
                    <a:p>
                      <a:pPr indent="0" marL="0">
                        <a:buNone/>
                      </a:pPr>
                      <a:r>
                        <a:rPr lang="en-US" sz="1020" dirty="0">
                          <a:solidFill>
                            <a:srgbClr val="333333"/>
                          </a:solidFill>
                        </a:rPr>
                        <a:t>Effet de bord déclenché par un état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c>
                  <a:txBody>
                    <a:bodyPr/>
                    <a:lstStyle/>
                    <a:p>
                      <a:pPr indent="0" marL="0">
                        <a:buNone/>
                      </a:pPr>
                      <a:r>
                        <a:rPr lang="en-US" sz="1020" dirty="0">
                          <a:solidFill>
                            <a:srgbClr val="333333"/>
                          </a:solidFill>
                        </a:rPr>
                        <a:t>Commande async (POST, PUT, DELETE)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6F7F9"/>
                    </a:solidFill>
                  </a:tcPr>
                </a:tc>
              </a:tr>
              <a:tr h="310896">
                <a:tc>
                  <a:txBody>
                    <a:bodyPr/>
                    <a:lstStyle/>
                    <a:p>
                      <a:pPr indent="0" marL="0">
                        <a:buNone/>
                      </a:pPr>
                      <a:r>
                        <a:rPr lang="en-US" sz="1020" dirty="0">
                          <a:solidFill>
                            <a:srgbClr val="333333"/>
                          </a:solidFill>
                        </a:rPr>
                        <a:t>Consommer un Observable dans un composant</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1020" dirty="0">
                          <a:solidFill>
                            <a:srgbClr val="333333"/>
                          </a:solidFill>
                        </a:rPr>
                        <a:t>Multicasting (shareReplay, share)</a:t>
                      </a:r>
                      <a:endParaRPr lang="en-US" sz="1020" dirty="0"/>
                    </a:p>
                  </a:txBody>
                  <a:tcPr marL="50800" marR="50800" marT="25400" marB="25400" anchor="mid">
                    <a:lnL w="5715" cap="flat" cmpd="sng" algn="ctr">
                      <a:solidFill>
                        <a:srgbClr val="DADCE0"/>
                      </a:solidFill>
                      <a:prstDash val="solid"/>
                      <a:round/>
                      <a:headEnd type="none" w="med" len="med"/>
                      <a:tailEnd type="none" w="med" len="med"/>
                    </a:lnL>
                    <a:lnR w="5715" cap="flat" cmpd="sng" algn="ctr">
                      <a:solidFill>
                        <a:srgbClr val="DADCE0"/>
                      </a:solidFill>
                      <a:prstDash val="solid"/>
                      <a:round/>
                      <a:headEnd type="none" w="med" len="med"/>
                      <a:tailEnd type="none" w="med" len="med"/>
                    </a:lnR>
                    <a:lnT w="5715" cap="flat" cmpd="sng" algn="ctr">
                      <a:solidFill>
                        <a:srgbClr val="DADCE0"/>
                      </a:solidFill>
                      <a:prstDash val="solid"/>
                      <a:round/>
                      <a:headEnd type="none" w="med" len="med"/>
                      <a:tailEnd type="none" w="med" len="med"/>
                    </a:lnT>
                    <a:lnB w="5715" cap="flat" cmpd="sng" algn="ctr">
                      <a:solidFill>
                        <a:srgbClr val="DADCE0"/>
                      </a:solidFill>
                      <a:prstDash val="solid"/>
                      <a:round/>
                      <a:headEnd type="none" w="med" len="med"/>
                      <a:tailEnd type="none" w="med" len="med"/>
                    </a:lnB>
                    <a:solidFill>
                      <a:srgbClr val="FFFFFF"/>
                    </a:solidFill>
                  </a:tcPr>
                </a:tc>
              </a:tr>
            </a:tbl>
          </a:graphicData>
        </a:graphic>
      </p:graphicFrame>
      <p:sp>
        <p:nvSpPr>
          <p:cNvPr id="5" name="Text 2"/>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61/63</a:t>
            </a:r>
            <a:endParaRPr lang="en-US" sz="7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Récapitulatif — Signal ou RxJS ? — Zone d'intersection — utiliser les deux</a:t>
            </a:r>
            <a:endParaRPr lang="en-US" sz="1800" dirty="0"/>
          </a:p>
        </p:txBody>
      </p:sp>
      <p:sp>
        <p:nvSpPr>
          <p:cNvPr id="4" name="Text 2"/>
          <p:cNvSpPr/>
          <p:nvPr/>
        </p:nvSpPr>
        <p:spPr>
          <a:xfrm>
            <a:off x="411480" y="932688"/>
            <a:ext cx="11368735" cy="502920"/>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Signal → toObservable() → pipe(debounceTime) → toSignal()</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Observable HTTP         → pipe(map, catchError, startWith) → toSignal()</a:t>
            </a:r>
            <a:endParaRPr lang="en-US" sz="880" dirty="0"/>
          </a:p>
        </p:txBody>
      </p:sp>
      <p:sp>
        <p:nvSpPr>
          <p:cNvPr id="5"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62/63</a:t>
            </a:r>
            <a:endParaRPr lang="en-US" sz="7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58368"/>
          </a:xfrm>
          <a:prstGeom prst="rect">
            <a:avLst/>
          </a:prstGeom>
          <a:solidFill>
            <a:srgbClr val="DD0031"/>
          </a:solidFill>
          <a:ln w="12700">
            <a:solidFill>
              <a:srgbClr val="DD0031"/>
            </a:solidFill>
            <a:prstDash val="solid"/>
          </a:ln>
        </p:spPr>
      </p:sp>
      <p:sp>
        <p:nvSpPr>
          <p:cNvPr id="3" name="Text 1"/>
          <p:cNvSpPr/>
          <p:nvPr/>
        </p:nvSpPr>
        <p:spPr>
          <a:xfrm>
            <a:off x="411480" y="109728"/>
            <a:ext cx="11368735" cy="411480"/>
          </a:xfrm>
          <a:prstGeom prst="rect">
            <a:avLst/>
          </a:prstGeom>
          <a:noFill/>
          <a:ln/>
        </p:spPr>
        <p:txBody>
          <a:bodyPr wrap="square" lIns="0" tIns="0" rIns="0" bIns="0" rtlCol="0" anchor="ctr">
            <a:normAutofit/>
          </a:bodyPr>
          <a:lstStyle/>
          <a:p>
            <a:pPr indent="0" marL="0">
              <a:buNone/>
            </a:pPr>
            <a:r>
              <a:rPr lang="en-US" sz="1800" b="1" dirty="0">
                <a:solidFill>
                  <a:srgbClr val="FFFFFF"/>
                </a:solidFill>
              </a:rPr>
              <a:t>Clôture du dojo — Règles à retenir</a:t>
            </a:r>
            <a:endParaRPr lang="en-US" sz="1800" dirty="0"/>
          </a:p>
        </p:txBody>
      </p:sp>
      <p:sp>
        <p:nvSpPr>
          <p:cNvPr id="5" name="Text 2"/>
          <p:cNvSpPr/>
          <p:nvPr/>
        </p:nvSpPr>
        <p:spPr>
          <a:xfrm>
            <a:off x="411480" y="932688"/>
            <a:ext cx="11368735" cy="1252728"/>
          </a:xfrm>
          <a:prstGeom prst="rect">
            <a:avLst/>
          </a:prstGeom>
          <a:solidFill>
            <a:srgbClr val="1F2937"/>
          </a:solidFill>
          <a:ln/>
        </p:spPr>
        <p:txBody>
          <a:bodyPr wrap="square" lIns="1016" tIns="1016" rIns="1016" bIns="1016" rtlCol="0" anchor="t">
            <a:normAutofit/>
          </a:bodyPr>
          <a:lstStyle/>
          <a:p>
            <a:pPr indent="0" marL="0">
              <a:buNone/>
            </a:pPr>
            <a:r>
              <a:rPr lang="en-US" sz="880" dirty="0">
                <a:solidFill>
                  <a:srgbClr val="F8FAFC"/>
                </a:solidFill>
                <a:latin typeface="Courier New" pitchFamily="34" charset="0"/>
                <a:ea typeface="Courier New" pitchFamily="34" charset="-122"/>
                <a:cs typeface="Courier New" pitchFamily="34" charset="-120"/>
              </a:rPr>
              <a:t>1. computed()   ne fait jamais d'appel HTTP — calcul pur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2. effect()     n'expose jamais de valeur    — effets de bord uniquement</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3. L'enfant émet une INTENTION, le parent exécute l'ACTION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4. Ne pas bridger signal ↔ RxJS systématiquement — rester dans un seul monde</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5. Zone.js peut coexister — migrer progressivement, pas tout d'un coup</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6. input() dans un computed() = dépendance réelle / @Input() dans computed() = non</a:t>
            </a:r>
            <a:endParaRPr lang="en-US" sz="880" dirty="0"/>
          </a:p>
          <a:p>
            <a:pPr indent="0" marL="0">
              <a:buNone/>
            </a:pPr>
            <a:r>
              <a:rPr lang="en-US" sz="880" dirty="0">
                <a:solidFill>
                  <a:srgbClr val="F8FAFC"/>
                </a:solidFill>
                <a:latin typeface="Courier New" pitchFamily="34" charset="0"/>
                <a:ea typeface="Courier New" pitchFamily="34" charset="-122"/>
                <a:cs typeface="Courier New" pitchFamily="34" charset="-120"/>
              </a:rPr>
              <a:t>7. toSignal() gère le désabonnement — ne pas ajouter takeUntilDestroyed en plus</a:t>
            </a:r>
            <a:endParaRPr lang="en-US" sz="880" dirty="0"/>
          </a:p>
        </p:txBody>
      </p:sp>
      <p:sp>
        <p:nvSpPr>
          <p:cNvPr id="6" name="Text 3"/>
          <p:cNvSpPr/>
          <p:nvPr/>
        </p:nvSpPr>
        <p:spPr>
          <a:xfrm>
            <a:off x="11277295" y="6537960"/>
            <a:ext cx="502920" cy="182880"/>
          </a:xfrm>
          <a:prstGeom prst="rect">
            <a:avLst/>
          </a:prstGeom>
          <a:noFill/>
          <a:ln/>
        </p:spPr>
        <p:txBody>
          <a:bodyPr wrap="square" rtlCol="0" anchor="ctr"/>
          <a:lstStyle/>
          <a:p>
            <a:pPr algn="r" indent="0" marL="0">
              <a:buNone/>
            </a:pPr>
            <a:r>
              <a:rPr lang="en-US" sz="700" dirty="0">
                <a:solidFill>
                  <a:srgbClr val="5F6368"/>
                </a:solidFill>
              </a:rPr>
              <a:t>63/63</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Dojo Angular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Angular 21 Signals - Support de presentation dojo</dc:title>
  <dc:subject>Angular 21 Signals</dc:subject>
  <dc:creator>Dojo Angular Signals</dc:creator>
  <cp:lastModifiedBy>Dojo Angular Signals</cp:lastModifiedBy>
  <cp:revision>1</cp:revision>
  <dcterms:created xsi:type="dcterms:W3CDTF">2026-06-03T19:55:25Z</dcterms:created>
  <dcterms:modified xsi:type="dcterms:W3CDTF">2026-06-03T19:55:25Z</dcterms:modified>
</cp:coreProperties>
</file>