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signal est une valeur reactive lue avec (). Quand sa valeur change, Angular sait quelles lectures dependent de cette valeur : template, computed() ou effect().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Zone.js intercepte les evenements asynchrones du navigateur et previent Angular qu'un cycle de detection peut etre 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RxJS sert a modeliser des flux dans le temps : HTTP, route params, evenements, debounceTime, switchMap, combineLatest.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Markdown detaille reste disponible dans docs/dojo-signals-slides.md.
Le PPTX court sert a guider l'animation : rappels, branches, consignes, puis passage au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508760"/>
            <a:ext cx="11002975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Angular 21 Signals — Dojo court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94360" y="3063240"/>
            <a:ext cx="110029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D5DC"/>
                </a:solidFill>
              </a:rPr>
              <a:t>Support de présentation dojo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94360" y="489204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5DC"/>
                </a:solidFill>
              </a:rPr>
              <a:t>Angular 21 · Signals · Zone.js · RxJS interop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1/23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Signal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signal() cree une valeur mutable.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.set() remplace la valeur.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.update() calcule la nouvelle valeur depuis l'ancienne.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template lit un signal avec monSignal().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2/23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Zone.js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Zone.js declenche la detection apres un evenement async.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Zone.js ne dit pas quel etat applicatif a change.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dojo garde Zone.js pour montrer une migration progressive.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Les Signals rendent les dependances d'etat plus explicites.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3/23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RxJS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RxJS reste adapte aux flux asynchrones et aux operateurs temporels.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toSignal() expose la derniere valeur d'un Observable comme signal.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toObservable() permet de brancher un signal dans un pipe RxJS.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but est de placer clairement la frontiere entre flux RxJS et etat signal.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4/23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Structure des branches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Branche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main / init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base sans correction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 exercice 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corrections exercices 1 + 2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corrections cumulees jusqu'a 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5/23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Exercices — Vue d'ensemble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2798064"/>
        </p:xfrm>
        <a:graphic>
          <a:graphicData uri="http://schemas.openxmlformats.org/drawingml/2006/table">
            <a:tbl>
              <a:tblPr/>
              <a:tblGrid>
                <a:gridCol w="3789578"/>
                <a:gridCol w="3789578"/>
                <a:gridCol w="378957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Exercice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Signal / API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Fichiers principaux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signal()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clients.component.ts, clients.component.html, spec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computed()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facade accounts + page accounts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effect()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clients.component.ts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viewChild() + effect()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clients.component.ts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input()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account-card.component.ts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output()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account-list.component.ts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toSignal() / toObservable()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accounts, dashboard, clients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8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computed() facade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facade accounts + page accounts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6/23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976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6002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8FF"/>
                </a:solidFill>
              </a:rPr>
              <a:t>Exercice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214884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signal()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7/23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Exercice 1 — signal() — Definition et consignes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11480" y="932688"/>
            <a:ext cx="11368735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333333"/>
                </a:solidFill>
              </a:rPr>
              <a:t>signal() cree une valeur reactive mutable. Elle se lit avec () et se modifie avec .set() ou .update().</a:t>
            </a:r>
            <a:endParaRPr lang="en-US" sz="1220" dirty="0"/>
          </a:p>
        </p:txBody>
      </p:sp>
      <p:sp>
        <p:nvSpPr>
          <p:cNvPr id="5" name="Text 3"/>
          <p:cNvSpPr/>
          <p:nvPr/>
        </p:nvSpPr>
        <p:spPr>
          <a:xfrm>
            <a:off x="576072" y="136245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Convertir adding = false en signal.</a:t>
            </a:r>
            <a:endParaRPr lang="en-US" sz="1160" dirty="0"/>
          </a:p>
        </p:txBody>
      </p:sp>
      <p:sp>
        <p:nvSpPr>
          <p:cNvPr id="6" name="Text 4"/>
          <p:cNvSpPr/>
          <p:nvPr/>
        </p:nvSpPr>
        <p:spPr>
          <a:xfrm>
            <a:off x="576072" y="1673352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Remplacer les lectures par adding().</a:t>
            </a:r>
            <a:endParaRPr lang="en-US" sz="1160" dirty="0"/>
          </a:p>
        </p:txBody>
      </p:sp>
      <p:sp>
        <p:nvSpPr>
          <p:cNvPr id="7" name="Text 5"/>
          <p:cNvSpPr/>
          <p:nvPr/>
        </p:nvSpPr>
        <p:spPr>
          <a:xfrm>
            <a:off x="576072" y="198424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Remplacer les ecritures directes par .set(...).</a:t>
            </a:r>
            <a:endParaRPr lang="en-US" sz="1160" dirty="0"/>
          </a:p>
        </p:txBody>
      </p:sp>
      <p:sp>
        <p:nvSpPr>
          <p:cNvPr id="8" name="Text 6"/>
          <p:cNvSpPr/>
          <p:nvPr/>
        </p:nvSpPr>
        <p:spPr>
          <a:xfrm>
            <a:off x="576072" y="229514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Adapter les tests qui lisent ou modifient adding.</a:t>
            </a:r>
            <a:endParaRPr lang="en-US" sz="116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8/23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976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6002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8FF"/>
                </a:solidFill>
              </a:rPr>
              <a:t>Exercice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214884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computed()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9/23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Exercice 2 — computed() — Definition et consignes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11480" y="932688"/>
            <a:ext cx="11368735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333333"/>
                </a:solidFill>
              </a:rPr>
              <a:t>computed() cree une valeur derivee en lecture seule. Elle est recalculee quand les signals lus dans son corps changent.</a:t>
            </a:r>
            <a:endParaRPr lang="en-US" sz="1220" dirty="0"/>
          </a:p>
        </p:txBody>
      </p:sp>
      <p:sp>
        <p:nvSpPr>
          <p:cNvPr id="5" name="Text 3"/>
          <p:cNvSpPr/>
          <p:nvPr/>
        </p:nvSpPr>
        <p:spPr>
          <a:xfrm>
            <a:off x="576072" y="14721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Remplacer les getters derives de la facade accounts par des computed().</a:t>
            </a:r>
            <a:endParaRPr lang="en-US" sz="1160" dirty="0"/>
          </a:p>
        </p:txBody>
      </p:sp>
      <p:sp>
        <p:nvSpPr>
          <p:cNvPr id="6" name="Text 4"/>
          <p:cNvSpPr/>
          <p:nvPr/>
        </p:nvSpPr>
        <p:spPr>
          <a:xfrm>
            <a:off x="576072" y="17830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Lire les valeurs derivees avec ().</a:t>
            </a:r>
            <a:endParaRPr lang="en-US" sz="1160" dirty="0"/>
          </a:p>
        </p:txBody>
      </p:sp>
      <p:sp>
        <p:nvSpPr>
          <p:cNvPr id="7" name="Text 5"/>
          <p:cNvSpPr/>
          <p:nvPr/>
        </p:nvSpPr>
        <p:spPr>
          <a:xfrm>
            <a:off x="576072" y="20939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Adapter le composant et le template accounts.</a:t>
            </a:r>
            <a:endParaRPr lang="en-US" sz="1160" dirty="0"/>
          </a:p>
        </p:txBody>
      </p:sp>
      <p:sp>
        <p:nvSpPr>
          <p:cNvPr id="8" name="Text 6"/>
          <p:cNvSpPr/>
          <p:nvPr/>
        </p:nvSpPr>
        <p:spPr>
          <a:xfrm>
            <a:off x="576072" y="2404872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Adapter les tests.</a:t>
            </a:r>
            <a:endParaRPr lang="en-US" sz="116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10/23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976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6002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8FF"/>
                </a:solidFill>
              </a:rPr>
              <a:t>Exercice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214884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effect()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11/23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Exercice 3 — effect() — Definition et consignes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11480" y="932688"/>
            <a:ext cx="11368735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333333"/>
                </a:solidFill>
              </a:rPr>
              <a:t>effect() execute un effet de bord quand un signal lu dans son corps change. Il sert a synchroniser une action, pas a calculer une valeur.</a:t>
            </a:r>
            <a:endParaRPr lang="en-US" sz="1220" dirty="0"/>
          </a:p>
        </p:txBody>
      </p:sp>
      <p:sp>
        <p:nvSpPr>
          <p:cNvPr id="5" name="Text 3"/>
          <p:cNvSpPr/>
          <p:nvPr/>
        </p:nvSpPr>
        <p:spPr>
          <a:xfrm>
            <a:off x="576072" y="14721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Ajouter un effect() dans clients.component.ts.</a:t>
            </a:r>
            <a:endParaRPr lang="en-US" sz="1160" dirty="0"/>
          </a:p>
        </p:txBody>
      </p:sp>
      <p:sp>
        <p:nvSpPr>
          <p:cNvPr id="6" name="Text 4"/>
          <p:cNvSpPr/>
          <p:nvPr/>
        </p:nvSpPr>
        <p:spPr>
          <a:xfrm>
            <a:off x="576072" y="17830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Observer les signals necessaires a la coherence d'etat.</a:t>
            </a:r>
            <a:endParaRPr lang="en-US" sz="1160" dirty="0"/>
          </a:p>
        </p:txBody>
      </p:sp>
      <p:sp>
        <p:nvSpPr>
          <p:cNvPr id="7" name="Text 5"/>
          <p:cNvSpPr/>
          <p:nvPr/>
        </p:nvSpPr>
        <p:spPr>
          <a:xfrm>
            <a:off x="576072" y="20939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Corriger automatiquement l'etat UI devenu invalide.</a:t>
            </a:r>
            <a:endParaRPr lang="en-US" sz="1160" dirty="0"/>
          </a:p>
        </p:txBody>
      </p:sp>
      <p:sp>
        <p:nvSpPr>
          <p:cNvPr id="8" name="Text 6"/>
          <p:cNvSpPr/>
          <p:nvPr/>
        </p:nvSpPr>
        <p:spPr>
          <a:xfrm>
            <a:off x="576072" y="2404872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Ne pas remplacer un computed() par un effect().</a:t>
            </a:r>
            <a:endParaRPr lang="en-US" sz="116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12/23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976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6002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8FF"/>
                </a:solidFill>
              </a:rPr>
              <a:t>Exercice 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214884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viewChild() + effect()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13/23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Exercice 4 — viewChild() + effect() — Definition et consignes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11480" y="932688"/>
            <a:ext cx="11368735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333333"/>
                </a:solidFill>
              </a:rPr>
              <a:t>viewChild() expose une reference DOM comme signal. Il vaut undefined tant que l'element n'est pas present, puis retourne la reference quand elle existe.</a:t>
            </a:r>
            <a:endParaRPr lang="en-US" sz="1220" dirty="0"/>
          </a:p>
        </p:txBody>
      </p:sp>
      <p:sp>
        <p:nvSpPr>
          <p:cNvPr id="5" name="Text 3"/>
          <p:cNvSpPr/>
          <p:nvPr/>
        </p:nvSpPr>
        <p:spPr>
          <a:xfrm>
            <a:off x="576072" y="14721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Transformer le @ViewChild classique en viewChild() signal.</a:t>
            </a:r>
            <a:endParaRPr lang="en-US" sz="1160" dirty="0"/>
          </a:p>
        </p:txBody>
      </p:sp>
      <p:sp>
        <p:nvSpPr>
          <p:cNvPr id="6" name="Text 4"/>
          <p:cNvSpPr/>
          <p:nvPr/>
        </p:nvSpPr>
        <p:spPr>
          <a:xfrm>
            <a:off x="576072" y="17830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Creer l'effect() depuis zero.</a:t>
            </a:r>
            <a:endParaRPr lang="en-US" sz="1160" dirty="0"/>
          </a:p>
        </p:txBody>
      </p:sp>
      <p:sp>
        <p:nvSpPr>
          <p:cNvPr id="7" name="Text 5"/>
          <p:cNvSpPr/>
          <p:nvPr/>
        </p:nvSpPr>
        <p:spPr>
          <a:xfrm>
            <a:off x="576072" y="20939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Declencher le focus quand l'element cible est disponible.</a:t>
            </a:r>
            <a:endParaRPr lang="en-US" sz="1160" dirty="0"/>
          </a:p>
        </p:txBody>
      </p:sp>
      <p:sp>
        <p:nvSpPr>
          <p:cNvPr id="8" name="Text 6"/>
          <p:cNvSpPr/>
          <p:nvPr/>
        </p:nvSpPr>
        <p:spPr>
          <a:xfrm>
            <a:off x="576072" y="2404872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Garder la logique DOM dans le composant.</a:t>
            </a:r>
            <a:endParaRPr lang="en-US" sz="116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14/23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976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6002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8FF"/>
                </a:solidFill>
              </a:rPr>
              <a:t>Exercice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214884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input()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15/23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Exercice 5 — input() — Definition et consignes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11480" y="932688"/>
            <a:ext cx="11368735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333333"/>
                </a:solidFill>
              </a:rPr>
              <a:t>input() declare une entree de composant sous forme de signal. Le composant enfant lit l'entree avec ().</a:t>
            </a:r>
            <a:endParaRPr lang="en-US" sz="1220" dirty="0"/>
          </a:p>
        </p:txBody>
      </p:sp>
      <p:sp>
        <p:nvSpPr>
          <p:cNvPr id="5" name="Text 3"/>
          <p:cNvSpPr/>
          <p:nvPr/>
        </p:nvSpPr>
        <p:spPr>
          <a:xfrm>
            <a:off x="576072" y="136245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Convertir l'input classique de AccountCardComponent.</a:t>
            </a:r>
            <a:endParaRPr lang="en-US" sz="1160" dirty="0"/>
          </a:p>
        </p:txBody>
      </p:sp>
      <p:sp>
        <p:nvSpPr>
          <p:cNvPr id="6" name="Text 4"/>
          <p:cNvSpPr/>
          <p:nvPr/>
        </p:nvSpPr>
        <p:spPr>
          <a:xfrm>
            <a:off x="576072" y="1673352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Utiliser input.required() si la valeur est obligatoire.</a:t>
            </a:r>
            <a:endParaRPr lang="en-US" sz="1160" dirty="0"/>
          </a:p>
        </p:txBody>
      </p:sp>
      <p:sp>
        <p:nvSpPr>
          <p:cNvPr id="7" name="Text 5"/>
          <p:cNvSpPr/>
          <p:nvPr/>
        </p:nvSpPr>
        <p:spPr>
          <a:xfrm>
            <a:off x="576072" y="198424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Remplacer les lectures par la syntaxe signal.</a:t>
            </a:r>
            <a:endParaRPr lang="en-US" sz="1160" dirty="0"/>
          </a:p>
        </p:txBody>
      </p:sp>
      <p:sp>
        <p:nvSpPr>
          <p:cNvPr id="8" name="Text 6"/>
          <p:cNvSpPr/>
          <p:nvPr/>
        </p:nvSpPr>
        <p:spPr>
          <a:xfrm>
            <a:off x="576072" y="229514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Verifier que le parent garde la meme responsabilite.</a:t>
            </a:r>
            <a:endParaRPr lang="en-US" sz="116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16/23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976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6002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8FF"/>
                </a:solidFill>
              </a:rPr>
              <a:t>Exercice 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214884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output()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17/23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Exercice 6 — output() — Definition et consignes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11480" y="932688"/>
            <a:ext cx="11368735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333333"/>
                </a:solidFill>
              </a:rPr>
              <a:t>output() declare un evenement emis par un composant enfant vers son parent. Il sert a transmettre une intention, pas a partager un etat global.</a:t>
            </a:r>
            <a:endParaRPr lang="en-US" sz="1220" dirty="0"/>
          </a:p>
        </p:txBody>
      </p:sp>
      <p:sp>
        <p:nvSpPr>
          <p:cNvPr id="5" name="Text 3"/>
          <p:cNvSpPr/>
          <p:nvPr/>
        </p:nvSpPr>
        <p:spPr>
          <a:xfrm>
            <a:off x="576072" y="14721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Remplacer l'ancien EventEmitter par output().</a:t>
            </a:r>
            <a:endParaRPr lang="en-US" sz="1160" dirty="0"/>
          </a:p>
        </p:txBody>
      </p:sp>
      <p:sp>
        <p:nvSpPr>
          <p:cNvPr id="6" name="Text 4"/>
          <p:cNvSpPr/>
          <p:nvPr/>
        </p:nvSpPr>
        <p:spPr>
          <a:xfrm>
            <a:off x="576072" y="17830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Emettre l'intention depuis l'enfant.</a:t>
            </a:r>
            <a:endParaRPr lang="en-US" sz="1160" dirty="0"/>
          </a:p>
        </p:txBody>
      </p:sp>
      <p:sp>
        <p:nvSpPr>
          <p:cNvPr id="7" name="Text 5"/>
          <p:cNvSpPr/>
          <p:nvPr/>
        </p:nvSpPr>
        <p:spPr>
          <a:xfrm>
            <a:off x="576072" y="20939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Laisser le parent executer l'action.</a:t>
            </a:r>
            <a:endParaRPr lang="en-US" sz="1160" dirty="0"/>
          </a:p>
        </p:txBody>
      </p:sp>
      <p:sp>
        <p:nvSpPr>
          <p:cNvPr id="8" name="Text 6"/>
          <p:cNvSpPr/>
          <p:nvPr/>
        </p:nvSpPr>
        <p:spPr>
          <a:xfrm>
            <a:off x="576072" y="2404872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Garder model() pour les vrais cas bidirectionnels.</a:t>
            </a:r>
            <a:endParaRPr lang="en-US" sz="116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18/23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976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6002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8FF"/>
                </a:solidFill>
              </a:rPr>
              <a:t>Exercice 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214884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toSignal() / toObservable()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19/23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Exercice 7 — toSignal() / toObservable() — Definition et consignes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11480" y="932688"/>
            <a:ext cx="11368735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333333"/>
                </a:solidFill>
              </a:rPr>
              <a:t>toSignal() convertit un Observable en signal. toObservable() expose un signal comme Observable pour le composer avec RxJS.</a:t>
            </a:r>
            <a:endParaRPr lang="en-US" sz="1220" dirty="0"/>
          </a:p>
        </p:txBody>
      </p:sp>
      <p:sp>
        <p:nvSpPr>
          <p:cNvPr id="5" name="Text 3"/>
          <p:cNvSpPr/>
          <p:nvPr/>
        </p:nvSpPr>
        <p:spPr>
          <a:xfrm>
            <a:off x="576072" y="14721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Remplacer la souscription manuelle a paramMap par toSignal().</a:t>
            </a:r>
            <a:endParaRPr lang="en-US" sz="1160" dirty="0"/>
          </a:p>
        </p:txBody>
      </p:sp>
      <p:sp>
        <p:nvSpPr>
          <p:cNvPr id="6" name="Text 4"/>
          <p:cNvSpPr/>
          <p:nvPr/>
        </p:nvSpPr>
        <p:spPr>
          <a:xfrm>
            <a:off x="576072" y="17830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Remplacer le chargement manuel par un signal issu d'un flux RxJS.</a:t>
            </a:r>
            <a:endParaRPr lang="en-US" sz="1160" dirty="0"/>
          </a:p>
        </p:txBody>
      </p:sp>
      <p:sp>
        <p:nvSpPr>
          <p:cNvPr id="7" name="Text 5"/>
          <p:cNvSpPr/>
          <p:nvPr/>
        </p:nvSpPr>
        <p:spPr>
          <a:xfrm>
            <a:off x="576072" y="20939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Utiliser toObservable() uniquement quand un signal doit entrer dans un pipe RxJS.</a:t>
            </a:r>
            <a:endParaRPr lang="en-US" sz="1160" dirty="0"/>
          </a:p>
        </p:txBody>
      </p:sp>
      <p:sp>
        <p:nvSpPr>
          <p:cNvPr id="8" name="Text 6"/>
          <p:cNvSpPr/>
          <p:nvPr/>
        </p:nvSpPr>
        <p:spPr>
          <a:xfrm>
            <a:off x="576072" y="2404872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Garder RxJS pour la composition temporelle.</a:t>
            </a:r>
            <a:endParaRPr lang="en-US" sz="116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20/23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976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60020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8FF"/>
                </a:solidFill>
              </a:rPr>
              <a:t>Exercice 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214884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computed() facade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21/23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Exercice 8 — computed() facade — Definition et consignes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11480" y="932688"/>
            <a:ext cx="11368735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333333"/>
                </a:solidFill>
              </a:rPr>
              <a:t>Dans une facade, computed() permet d'exposer une vue derivee stable de l'etat metier sans dupliquer la logique dans les composants.</a:t>
            </a:r>
            <a:endParaRPr lang="en-US" sz="1220" dirty="0"/>
          </a:p>
        </p:txBody>
      </p:sp>
      <p:sp>
        <p:nvSpPr>
          <p:cNvPr id="5" name="Text 3"/>
          <p:cNvSpPr/>
          <p:nvPr/>
        </p:nvSpPr>
        <p:spPr>
          <a:xfrm>
            <a:off x="576072" y="14721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Ajouter le computed() demande dans la facade accounts.</a:t>
            </a:r>
            <a:endParaRPr lang="en-US" sz="1160" dirty="0"/>
          </a:p>
        </p:txBody>
      </p:sp>
      <p:sp>
        <p:nvSpPr>
          <p:cNvPr id="6" name="Text 4"/>
          <p:cNvSpPr/>
          <p:nvPr/>
        </p:nvSpPr>
        <p:spPr>
          <a:xfrm>
            <a:off x="576072" y="17830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Remplacer la logique du composant par la lecture du signal derive.</a:t>
            </a:r>
            <a:endParaRPr lang="en-US" sz="1160" dirty="0"/>
          </a:p>
        </p:txBody>
      </p:sp>
      <p:sp>
        <p:nvSpPr>
          <p:cNvPr id="7" name="Text 5"/>
          <p:cNvSpPr/>
          <p:nvPr/>
        </p:nvSpPr>
        <p:spPr>
          <a:xfrm>
            <a:off x="576072" y="20939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Adapter le template si necessaire.</a:t>
            </a:r>
            <a:endParaRPr lang="en-US" sz="1160" dirty="0"/>
          </a:p>
        </p:txBody>
      </p:sp>
      <p:sp>
        <p:nvSpPr>
          <p:cNvPr id="8" name="Text 6"/>
          <p:cNvSpPr/>
          <p:nvPr/>
        </p:nvSpPr>
        <p:spPr>
          <a:xfrm>
            <a:off x="576072" y="2404872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Garder les regles metier dans la facade.</a:t>
            </a:r>
            <a:endParaRPr lang="en-US" sz="1160" dirty="0"/>
          </a:p>
        </p:txBody>
      </p:sp>
      <p:sp>
        <p:nvSpPr>
          <p:cNvPr id="9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22/23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976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01168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Fin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23/23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Dojo Angular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2026-06-10T18:53:12Z</dcterms:created>
  <dcterms:modified xsi:type="dcterms:W3CDTF">2026-06-10T18:53:12Z</dcterms:modified>
</cp:coreProperties>
</file>