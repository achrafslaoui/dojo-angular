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parcours vise les usages essentiels des Signals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signal est une valeur réactive observable par Angular. Il contient une valeur, se lit avec (), et Angular mémorise automatiquement les templates, computed() et effect() qui l'ont lu.
Signals rend l'état local explicite et permet à Angular de savoir précisément quelles vues ou valeurs dérivées dépendent de cet état.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Zone.js aide Angular à savoir qu'un événement asynchrone a eu lieu. Il patche les APIs du navigateur (setTimeout, Promise, addEventListener, XMLHttpRequest, etc.) puis prévient Angular qu'un cycle de détection doit être lancé.
Zone.js ne modélise pas l'état de l'application : il sert surtout à déclencher la détection de changement après un événement.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OnPush est une stratégie de détection de changement qui limite les vérifications inutiles d'un composant.
Avec OnPush, Angular vérifie surtout un composant quand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application zoneless fonctionne sans zone.js : Angular ne s'appuie plus sur le patch automatique des APIs async pour lancer la détection de changement.
En zoneless, les mises à jour doivent venir de mécanismes explicites :
En zoneless, signal et async pipe ne se comportent pas de la même façon : un signal met à jour uniquement ses lecteurs directs. async pipe appelle markForCheck() — le composant et ses parents sont vérifiés, le DOM est mis à jour seulement si quelque chose a effectivement changé.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est une primitive Signal : une valeur réactive observable par Angular. Elle contient une valeur, se lit avec (), et Angular mémorise automatiquement les templates, computed() et effect() qui l'ont 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computed() est une primitive Signal : une valeur dérivée mémorisée. Le calcul ne se relance que si une dépendance lue a changé depuis la dernière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effect() est une primitive Signal : elle exécute un effet de bord quand les signals lus dans son corps changent. Elle s'exécute automatiquement, sans appel explicite.
untracked() permet de lire un signal dans un effect() sans l'ajouter aux dépendances suivies.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 un effet crée une ressource (timer, abonnement, listener), onCleanup permet de la libérer avant que l'effet se ré-exécute ou que le composant soit détruit.
Sans onCleanup, chaque ré-exécution de l'effet crée un nouveau timer sans supprimer le précédent.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est une API Angular : elle déclare une entrée de composant sous forme de signal. La valeur passée par le parent devient une dépendance réelle dans les computed() et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&lt;details&gt; &lt;summary&gt;Parenthèse APIs composant — output() et model()&lt;/summary&gt;
output() remplace @Output() + EventEmitter pour déclarer une intention envoyée au parent.
output() n'est pas un Observable : il sert à signaler un événement de composant.
model() sert quand le parent et l'enfant partagent une valeur modifiable des deux côtés. Il remplace le couple @Input() + @Output() utilisé pour le two-way binding.
À retenir : output() émet une intention ; model() partage une valeur éditable.
&lt;/details&gt;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linkedSignal() est une primitive Signal : elle crée un signal writable dérivé d'un autre signal. Contrairement à computed() qui est en lecture seule, sa valeur peut être modifiée par .set() ou .update(). Elle est automatiquement recalculée quand la source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conventions d'usage des APIs Signals utilisées ici et la décision de ne pas migrer vers le mode zoneless sont détaillées dans docs/adr/0002-conventions-usage-signals-et-detection-changement.md.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2971800" cy="6858000"/>
          </a:xfrm>
          <a:prstGeom prst="rect">
            <a:avLst/>
          </a:prstGeom>
          <a:solidFill>
            <a:srgbClr val="008A5B"/>
          </a:solidFill>
          <a:ln w="12700">
            <a:solidFill>
              <a:srgbClr val="008A5B"/>
            </a:solidFill>
            <a:prstDash val="solid"/>
          </a:ln>
        </p:spPr>
      </p:sp>
      <p:sp>
        <p:nvSpPr>
          <p:cNvPr id="3" name="Shape 1"/>
          <p:cNvSpPr/>
          <p:nvPr/>
        </p:nvSpPr>
        <p:spPr>
          <a:xfrm>
            <a:off x="164592" y="164592"/>
            <a:ext cx="109728" cy="6528816"/>
          </a:xfrm>
          <a:prstGeom prst="rect">
            <a:avLst/>
          </a:prstGeom>
          <a:solidFill>
            <a:srgbClr val="00A86B"/>
          </a:solidFill>
          <a:ln w="12700">
            <a:solidFill>
              <a:srgbClr val="00A86B"/>
            </a:solidFill>
            <a:prstDash val="solid"/>
          </a:ln>
        </p:spPr>
      </p:sp>
      <p:sp>
        <p:nvSpPr>
          <p:cNvPr id="4" name="Text 2"/>
          <p:cNvSpPr/>
          <p:nvPr/>
        </p:nvSpPr>
        <p:spPr>
          <a:xfrm>
            <a:off x="502920" y="502920"/>
            <a:ext cx="2011680" cy="411480"/>
          </a:xfrm>
          <a:prstGeom prst="rect">
            <a:avLst/>
          </a:prstGeom>
          <a:noFill/>
          <a:ln/>
        </p:spPr>
        <p:txBody>
          <a:bodyPr wrap="square" lIns="0" tIns="0" rIns="0" bIns="0" rtlCol="0" anchor="ctr"/>
          <a:lstStyle/>
          <a:p>
            <a:pPr indent="0" marL="0">
              <a:buNone/>
            </a:pPr>
            <a:r>
              <a:rPr lang="en-US" sz="1800" b="1" dirty="0">
                <a:solidFill>
                  <a:srgbClr val="FFFFFF"/>
                </a:solidFill>
              </a:rPr>
              <a:t>BNP Paribas</a:t>
            </a:r>
            <a:endParaRPr lang="en-US" sz="1800" dirty="0"/>
          </a:p>
        </p:txBody>
      </p:sp>
      <p:sp>
        <p:nvSpPr>
          <p:cNvPr id="5" name="Text 3"/>
          <p:cNvSpPr/>
          <p:nvPr/>
        </p:nvSpPr>
        <p:spPr>
          <a:xfrm>
            <a:off x="502920" y="1024128"/>
            <a:ext cx="2011680" cy="292608"/>
          </a:xfrm>
          <a:prstGeom prst="rect">
            <a:avLst/>
          </a:prstGeom>
          <a:noFill/>
          <a:ln/>
        </p:spPr>
        <p:txBody>
          <a:bodyPr wrap="square" lIns="0" tIns="0" rIns="0" bIns="0" rtlCol="0" anchor="ctr"/>
          <a:lstStyle/>
          <a:p>
            <a:pPr indent="0" marL="0">
              <a:buNone/>
            </a:pPr>
            <a:r>
              <a:rPr lang="en-US" sz="1200" dirty="0">
                <a:solidFill>
                  <a:srgbClr val="DFF2EA"/>
                </a:solidFill>
              </a:rPr>
              <a:t>Angular Dojo</a:t>
            </a:r>
            <a:endParaRPr lang="en-US" sz="1200" dirty="0"/>
          </a:p>
        </p:txBody>
      </p:sp>
      <p:sp>
        <p:nvSpPr>
          <p:cNvPr id="6" name="Text 4"/>
          <p:cNvSpPr/>
          <p:nvPr/>
        </p:nvSpPr>
        <p:spPr>
          <a:xfrm>
            <a:off x="3520440" y="1417320"/>
            <a:ext cx="8122615" cy="1143000"/>
          </a:xfrm>
          <a:prstGeom prst="rect">
            <a:avLst/>
          </a:prstGeom>
          <a:noFill/>
          <a:ln/>
        </p:spPr>
        <p:txBody>
          <a:bodyPr wrap="square" lIns="0" tIns="0" rIns="0" bIns="0" rtlCol="0" anchor="ctr">
            <a:normAutofit/>
          </a:bodyPr>
          <a:lstStyle/>
          <a:p>
            <a:pPr algn="l" indent="0" marL="0">
              <a:buNone/>
            </a:pPr>
            <a:r>
              <a:rPr lang="en-US" sz="3800" b="1" dirty="0">
                <a:solidFill>
                  <a:srgbClr val="1B2B2A"/>
                </a:solidFill>
              </a:rPr>
              <a:t>Angular 21 Signals — Support de présentation dojo</a:t>
            </a:r>
            <a:endParaRPr lang="en-US" sz="3800" dirty="0"/>
          </a:p>
        </p:txBody>
      </p:sp>
      <p:sp>
        <p:nvSpPr>
          <p:cNvPr id="7" name="Text 5"/>
          <p:cNvSpPr/>
          <p:nvPr/>
        </p:nvSpPr>
        <p:spPr>
          <a:xfrm>
            <a:off x="3566160" y="2788920"/>
            <a:ext cx="8076895" cy="384048"/>
          </a:xfrm>
          <a:prstGeom prst="rect">
            <a:avLst/>
          </a:prstGeom>
          <a:noFill/>
          <a:ln/>
        </p:spPr>
        <p:txBody>
          <a:bodyPr wrap="square" lIns="0" tIns="0" rIns="0" bIns="0" rtlCol="0" anchor="ctr"/>
          <a:lstStyle/>
          <a:p>
            <a:pPr algn="l" indent="0" marL="0">
              <a:buNone/>
            </a:pPr>
            <a:r>
              <a:rPr lang="en-US" sz="1800" dirty="0">
                <a:solidFill>
                  <a:srgbClr val="61716F"/>
                </a:solidFill>
              </a:rPr>
              <a:t>Support de présentation dojo</a:t>
            </a:r>
            <a:endParaRPr lang="en-US" sz="1800" dirty="0"/>
          </a:p>
        </p:txBody>
      </p:sp>
      <p:sp>
        <p:nvSpPr>
          <p:cNvPr id="8" name="Text 6"/>
          <p:cNvSpPr/>
          <p:nvPr/>
        </p:nvSpPr>
        <p:spPr>
          <a:xfrm>
            <a:off x="3566160" y="4160520"/>
            <a:ext cx="4114800" cy="31089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1100" b="1" dirty="0">
                <a:solidFill>
                  <a:srgbClr val="008A5B"/>
                </a:solidFill>
              </a:rPr>
              <a:t>Angular 21 · Signals · Zone.js · RxJS interop</a:t>
            </a:r>
            <a:endParaRPr lang="en-US" sz="1100" dirty="0"/>
          </a:p>
        </p:txBody>
      </p:sp>
      <p:sp>
        <p:nvSpPr>
          <p:cNvPr id="9" name="Text 7"/>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1/27</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Objectif du dojo</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6" name="Text 3"/>
          <p:cNvSpPr/>
          <p:nvPr/>
        </p:nvSpPr>
        <p:spPr>
          <a:xfrm>
            <a:off x="576072" y="932688"/>
            <a:ext cx="11204143" cy="329184"/>
          </a:xfrm>
          <a:prstGeom prst="rect">
            <a:avLst/>
          </a:prstGeom>
          <a:noFill/>
          <a:ln/>
        </p:spPr>
        <p:txBody>
          <a:bodyPr wrap="square" lIns="127" tIns="127" rIns="127" bIns="127" rtlCol="0" anchor="ctr">
            <a:normAutofit/>
          </a:bodyPr>
          <a:lstStyle/>
          <a:p>
            <a:r>
              <a:rPr lang="en-US" sz="1350" dirty="0">
                <a:solidFill>
                  <a:srgbClr val="263B38"/>
                </a:solidFill>
              </a:rPr>
              <a:t>rendre un état local réactif avec signal() ;</a:t>
            </a:r>
            <a:endParaRPr lang="en-US" sz="1350" dirty="0"/>
          </a:p>
        </p:txBody>
      </p:sp>
      <p:sp>
        <p:nvSpPr>
          <p:cNvPr id="7" name="Text 4"/>
          <p:cNvSpPr/>
          <p:nvPr/>
        </p:nvSpPr>
        <p:spPr>
          <a:xfrm>
            <a:off x="576072" y="1316736"/>
            <a:ext cx="11204143" cy="329184"/>
          </a:xfrm>
          <a:prstGeom prst="rect">
            <a:avLst/>
          </a:prstGeom>
          <a:noFill/>
          <a:ln/>
        </p:spPr>
        <p:txBody>
          <a:bodyPr wrap="square" lIns="127" tIns="127" rIns="127" bIns="127" rtlCol="0" anchor="ctr">
            <a:normAutofit/>
          </a:bodyPr>
          <a:lstStyle/>
          <a:p>
            <a:r>
              <a:rPr lang="en-US" sz="1350" dirty="0">
                <a:solidFill>
                  <a:srgbClr val="263B38"/>
                </a:solidFill>
              </a:rPr>
              <a:t>dériver une valeur sans recalcul inutile avec computed() ;</a:t>
            </a:r>
            <a:endParaRPr lang="en-US" sz="1350" dirty="0"/>
          </a:p>
        </p:txBody>
      </p:sp>
      <p:sp>
        <p:nvSpPr>
          <p:cNvPr id="8" name="Text 5"/>
          <p:cNvSpPr/>
          <p:nvPr/>
        </p:nvSpPr>
        <p:spPr>
          <a:xfrm>
            <a:off x="576072" y="1700784"/>
            <a:ext cx="11204143" cy="329184"/>
          </a:xfrm>
          <a:prstGeom prst="rect">
            <a:avLst/>
          </a:prstGeom>
          <a:noFill/>
          <a:ln/>
        </p:spPr>
        <p:txBody>
          <a:bodyPr wrap="square" lIns="127" tIns="127" rIns="127" bIns="127" rtlCol="0" anchor="ctr">
            <a:normAutofit/>
          </a:bodyPr>
          <a:lstStyle/>
          <a:p>
            <a:r>
              <a:rPr lang="en-US" sz="1350" dirty="0">
                <a:solidFill>
                  <a:srgbClr val="263B38"/>
                </a:solidFill>
              </a:rPr>
              <a:t>synchroniser un état avec effect() ;</a:t>
            </a:r>
            <a:endParaRPr lang="en-US" sz="1350" dirty="0"/>
          </a:p>
        </p:txBody>
      </p:sp>
      <p:sp>
        <p:nvSpPr>
          <p:cNvPr id="9" name="Text 6"/>
          <p:cNvSpPr/>
          <p:nvPr/>
        </p:nvSpPr>
        <p:spPr>
          <a:xfrm>
            <a:off x="576072" y="2084832"/>
            <a:ext cx="11204143" cy="329184"/>
          </a:xfrm>
          <a:prstGeom prst="rect">
            <a:avLst/>
          </a:prstGeom>
          <a:noFill/>
          <a:ln/>
        </p:spPr>
        <p:txBody>
          <a:bodyPr wrap="square" lIns="127" tIns="127" rIns="127" bIns="127" rtlCol="0" anchor="ctr">
            <a:normAutofit/>
          </a:bodyPr>
          <a:lstStyle/>
          <a:p>
            <a:r>
              <a:rPr lang="en-US" sz="1350" dirty="0">
                <a:solidFill>
                  <a:srgbClr val="263B38"/>
                </a:solidFill>
              </a:rPr>
              <a:t>transformer une entrée composant en dépendance signal avec input() ;</a:t>
            </a:r>
            <a:endParaRPr lang="en-US" sz="1350" dirty="0"/>
          </a:p>
        </p:txBody>
      </p:sp>
      <p:sp>
        <p:nvSpPr>
          <p:cNvPr id="10" name="Text 7"/>
          <p:cNvSpPr/>
          <p:nvPr/>
        </p:nvSpPr>
        <p:spPr>
          <a:xfrm>
            <a:off x="576072" y="2468880"/>
            <a:ext cx="11204143" cy="329184"/>
          </a:xfrm>
          <a:prstGeom prst="rect">
            <a:avLst/>
          </a:prstGeom>
          <a:noFill/>
          <a:ln/>
        </p:spPr>
        <p:txBody>
          <a:bodyPr wrap="square" lIns="127" tIns="127" rIns="127" bIns="127" rtlCol="0" anchor="ctr">
            <a:normAutofit/>
          </a:bodyPr>
          <a:lstStyle/>
          <a:p>
            <a:r>
              <a:rPr lang="en-US" sz="1350" dirty="0">
                <a:solidFill>
                  <a:srgbClr val="263B38"/>
                </a:solidFill>
              </a:rPr>
              <a:t>gérer une valeur dérivée mais éditable avec linkedSignal().</a:t>
            </a:r>
            <a:endParaRPr lang="en-US" sz="1350" dirty="0"/>
          </a:p>
        </p:txBody>
      </p:sp>
      <p:sp>
        <p:nvSpPr>
          <p:cNvPr id="11" name="Text 8"/>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2/27</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Sommaire</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5" name="Text 3"/>
          <p:cNvSpPr/>
          <p:nvPr/>
        </p:nvSpPr>
        <p:spPr>
          <a:xfrm>
            <a:off x="576072" y="932688"/>
            <a:ext cx="11204143" cy="329184"/>
          </a:xfrm>
          <a:prstGeom prst="rect">
            <a:avLst/>
          </a:prstGeom>
          <a:noFill/>
          <a:ln/>
        </p:spPr>
        <p:txBody>
          <a:bodyPr wrap="square" lIns="127" tIns="127" rIns="127" bIns="127" rtlCol="0" anchor="ctr">
            <a:normAutofit/>
          </a:bodyPr>
          <a:lstStyle/>
          <a:p>
            <a:r>
              <a:rPr lang="en-US" sz="1350" dirty="0">
                <a:solidFill>
                  <a:srgbClr val="263B38"/>
                </a:solidFill>
              </a:rPr>
              <a:t>Rappels : Signal, Zone.js, OnPush, zoneless</a:t>
            </a:r>
            <a:endParaRPr lang="en-US" sz="1350" dirty="0"/>
          </a:p>
        </p:txBody>
      </p:sp>
      <p:sp>
        <p:nvSpPr>
          <p:cNvPr id="6" name="Text 4"/>
          <p:cNvSpPr/>
          <p:nvPr/>
        </p:nvSpPr>
        <p:spPr>
          <a:xfrm>
            <a:off x="576072" y="1316736"/>
            <a:ext cx="11204143" cy="329184"/>
          </a:xfrm>
          <a:prstGeom prst="rect">
            <a:avLst/>
          </a:prstGeom>
          <a:noFill/>
          <a:ln/>
        </p:spPr>
        <p:txBody>
          <a:bodyPr wrap="square" lIns="127" tIns="127" rIns="127" bIns="127" rtlCol="0" anchor="ctr">
            <a:normAutofit/>
          </a:bodyPr>
          <a:lstStyle/>
          <a:p>
            <a:r>
              <a:rPr lang="en-US" sz="1350" dirty="0">
                <a:solidFill>
                  <a:srgbClr val="263B38"/>
                </a:solidFill>
              </a:rPr>
              <a:t>Exercices 1 à 3 : signal(), computed(), effect()</a:t>
            </a:r>
            <a:endParaRPr lang="en-US" sz="1350" dirty="0"/>
          </a:p>
        </p:txBody>
      </p:sp>
      <p:sp>
        <p:nvSpPr>
          <p:cNvPr id="7" name="Text 5"/>
          <p:cNvSpPr/>
          <p:nvPr/>
        </p:nvSpPr>
        <p:spPr>
          <a:xfrm>
            <a:off x="576072" y="1700784"/>
            <a:ext cx="11204143" cy="329184"/>
          </a:xfrm>
          <a:prstGeom prst="rect">
            <a:avLst/>
          </a:prstGeom>
          <a:noFill/>
          <a:ln/>
        </p:spPr>
        <p:txBody>
          <a:bodyPr wrap="square" lIns="127" tIns="127" rIns="127" bIns="127" rtlCol="0" anchor="ctr">
            <a:normAutofit/>
          </a:bodyPr>
          <a:lstStyle/>
          <a:p>
            <a:r>
              <a:rPr lang="en-US" sz="1350" dirty="0">
                <a:solidFill>
                  <a:srgbClr val="263B38"/>
                </a:solidFill>
              </a:rPr>
              <a:t>Exercices 4 à 5 : input(), linkedSignal()</a:t>
            </a:r>
            <a:endParaRPr lang="en-US" sz="1350" dirty="0"/>
          </a:p>
        </p:txBody>
      </p:sp>
      <p:sp>
        <p:nvSpPr>
          <p:cNvPr id="8" name="Text 6"/>
          <p:cNvSpPr/>
          <p:nvPr/>
        </p:nvSpPr>
        <p:spPr>
          <a:xfrm>
            <a:off x="576072" y="2084832"/>
            <a:ext cx="11204143" cy="329184"/>
          </a:xfrm>
          <a:prstGeom prst="rect">
            <a:avLst/>
          </a:prstGeom>
          <a:noFill/>
          <a:ln/>
        </p:spPr>
        <p:txBody>
          <a:bodyPr wrap="square" lIns="127" tIns="127" rIns="127" bIns="127" rtlCol="0" anchor="ctr">
            <a:normAutofit/>
          </a:bodyPr>
          <a:lstStyle/>
          <a:p>
            <a:r>
              <a:rPr lang="en-US" sz="1350" dirty="0">
                <a:solidFill>
                  <a:srgbClr val="263B38"/>
                </a:solidFill>
              </a:rPr>
              <a:t>Récapitulatif et règles d'usage</a:t>
            </a:r>
            <a:endParaRPr lang="en-US" sz="1350" dirty="0"/>
          </a:p>
        </p:txBody>
      </p:sp>
      <p:sp>
        <p:nvSpPr>
          <p:cNvPr id="9" name="Text 7"/>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3/27</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6B4F"/>
        </a:solidFill>
      </p:bgPr>
    </p:bg>
    <p:spTree>
      <p:nvGrpSpPr>
        <p:cNvPr id="1" name=""/>
        <p:cNvGrpSpPr/>
        <p:nvPr/>
      </p:nvGrpSpPr>
      <p:grpSpPr>
        <a:xfrm>
          <a:off x="0" y="0"/>
          <a:ext cx="0" cy="0"/>
          <a:chOff x="0" y="0"/>
          <a:chExt cx="0" cy="0"/>
        </a:xfrm>
      </p:grpSpPr>
      <p:sp>
        <p:nvSpPr>
          <p:cNvPr id="2" name="Text 0"/>
          <p:cNvSpPr/>
          <p:nvPr/>
        </p:nvSpPr>
        <p:spPr>
          <a:xfrm>
            <a:off x="594360" y="2011680"/>
            <a:ext cx="11002975" cy="1097280"/>
          </a:xfrm>
          <a:prstGeom prst="rect">
            <a:avLst/>
          </a:prstGeom>
          <a:noFill/>
          <a:ln/>
        </p:spPr>
        <p:txBody>
          <a:bodyPr wrap="square" lIns="0" tIns="0" rIns="0" bIns="0" rtlCol="0" anchor="ctr">
            <a:normAutofit/>
          </a:bodyPr>
          <a:lstStyle/>
          <a:p>
            <a:pPr algn="ctr" indent="0" marL="0">
              <a:buNone/>
            </a:pPr>
            <a:r>
              <a:rPr lang="en-US" sz="3800" b="1" dirty="0">
                <a:solidFill>
                  <a:srgbClr val="FFFFFF"/>
                </a:solidFill>
              </a:rPr>
              <a:t>Signal</a:t>
            </a:r>
            <a:endParaRPr lang="en-US" sz="3800" dirty="0"/>
          </a:p>
        </p:txBody>
      </p:sp>
      <p:sp>
        <p:nvSpPr>
          <p:cNvPr id="4" name="Text 1"/>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4/27</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Zone.js et détection de changement</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6" name="Text 3"/>
          <p:cNvSpPr/>
          <p:nvPr/>
        </p:nvSpPr>
        <p:spPr>
          <a:xfrm>
            <a:off x="411480" y="932688"/>
            <a:ext cx="11368735" cy="640080"/>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Zone.js : un événement async se produit → Angular lance la détection</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Signals : une valeur change             → Angular connaît les lecteurs dépendants</a:t>
            </a:r>
            <a:endParaRPr lang="en-US" sz="1030" dirty="0"/>
          </a:p>
        </p:txBody>
      </p:sp>
      <p:sp>
        <p:nvSpPr>
          <p:cNvPr id="7" name="Text 4"/>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5/27</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OnPush</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6" name="Text 3"/>
          <p:cNvSpPr/>
          <p:nvPr/>
        </p:nvSpPr>
        <p:spPr>
          <a:xfrm>
            <a:off x="576072" y="932688"/>
            <a:ext cx="11204143" cy="329184"/>
          </a:xfrm>
          <a:prstGeom prst="rect">
            <a:avLst/>
          </a:prstGeom>
          <a:noFill/>
          <a:ln/>
        </p:spPr>
        <p:txBody>
          <a:bodyPr wrap="square" lIns="127" tIns="127" rIns="127" bIns="127" rtlCol="0" anchor="ctr">
            <a:normAutofit/>
          </a:bodyPr>
          <a:lstStyle/>
          <a:p>
            <a:r>
              <a:rPr lang="en-US" sz="1350" dirty="0">
                <a:solidFill>
                  <a:srgbClr val="263B38"/>
                </a:solidFill>
              </a:rPr>
              <a:t>un input change ;</a:t>
            </a:r>
            <a:endParaRPr lang="en-US" sz="1350" dirty="0"/>
          </a:p>
        </p:txBody>
      </p:sp>
      <p:sp>
        <p:nvSpPr>
          <p:cNvPr id="7" name="Text 4"/>
          <p:cNvSpPr/>
          <p:nvPr/>
        </p:nvSpPr>
        <p:spPr>
          <a:xfrm>
            <a:off x="576072" y="1316736"/>
            <a:ext cx="11204143" cy="329184"/>
          </a:xfrm>
          <a:prstGeom prst="rect">
            <a:avLst/>
          </a:prstGeom>
          <a:noFill/>
          <a:ln/>
        </p:spPr>
        <p:txBody>
          <a:bodyPr wrap="square" lIns="127" tIns="127" rIns="127" bIns="127" rtlCol="0" anchor="ctr">
            <a:normAutofit/>
          </a:bodyPr>
          <a:lstStyle/>
          <a:p>
            <a:r>
              <a:rPr lang="en-US" sz="1350" dirty="0">
                <a:solidFill>
                  <a:srgbClr val="263B38"/>
                </a:solidFill>
              </a:rPr>
              <a:t>un événement du template se produit ;</a:t>
            </a:r>
            <a:endParaRPr lang="en-US" sz="1350" dirty="0"/>
          </a:p>
        </p:txBody>
      </p:sp>
      <p:sp>
        <p:nvSpPr>
          <p:cNvPr id="8" name="Text 5"/>
          <p:cNvSpPr/>
          <p:nvPr/>
        </p:nvSpPr>
        <p:spPr>
          <a:xfrm>
            <a:off x="576072" y="1700784"/>
            <a:ext cx="11204143" cy="329184"/>
          </a:xfrm>
          <a:prstGeom prst="rect">
            <a:avLst/>
          </a:prstGeom>
          <a:noFill/>
          <a:ln/>
        </p:spPr>
        <p:txBody>
          <a:bodyPr wrap="square" lIns="127" tIns="127" rIns="127" bIns="127" rtlCol="0" anchor="ctr">
            <a:normAutofit/>
          </a:bodyPr>
          <a:lstStyle/>
          <a:p>
            <a:r>
              <a:rPr lang="en-US" sz="1350" dirty="0">
                <a:solidFill>
                  <a:srgbClr val="263B38"/>
                </a:solidFill>
              </a:rPr>
              <a:t>un signal lu dans le template change ;</a:t>
            </a:r>
            <a:endParaRPr lang="en-US" sz="1350" dirty="0"/>
          </a:p>
        </p:txBody>
      </p:sp>
      <p:sp>
        <p:nvSpPr>
          <p:cNvPr id="9" name="Text 6"/>
          <p:cNvSpPr/>
          <p:nvPr/>
        </p:nvSpPr>
        <p:spPr>
          <a:xfrm>
            <a:off x="576072" y="2084832"/>
            <a:ext cx="11204143" cy="329184"/>
          </a:xfrm>
          <a:prstGeom prst="rect">
            <a:avLst/>
          </a:prstGeom>
          <a:noFill/>
          <a:ln/>
        </p:spPr>
        <p:txBody>
          <a:bodyPr wrap="square" lIns="127" tIns="127" rIns="127" bIns="127" rtlCol="0" anchor="ctr">
            <a:normAutofit/>
          </a:bodyPr>
          <a:lstStyle/>
          <a:p>
            <a:r>
              <a:rPr lang="en-US" sz="1350" dirty="0">
                <a:solidFill>
                  <a:srgbClr val="263B38"/>
                </a:solidFill>
              </a:rPr>
              <a:t>une vérification est demandée explicitement.</a:t>
            </a:r>
            <a:endParaRPr lang="en-US" sz="1350" dirty="0"/>
          </a:p>
        </p:txBody>
      </p:sp>
      <p:sp>
        <p:nvSpPr>
          <p:cNvPr id="10" name="Text 7"/>
          <p:cNvSpPr/>
          <p:nvPr/>
        </p:nvSpPr>
        <p:spPr>
          <a:xfrm>
            <a:off x="411480" y="2468880"/>
            <a:ext cx="11368735" cy="2029968"/>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import { ChangeDetectorRef, inject } from '@angular/core';</a:t>
            </a:r>
            <a:endParaRPr lang="en-US" sz="1030" dirty="0"/>
          </a:p>
          <a:p>
            <a:pPr indent="0" marL="0">
              <a:buNone/>
            </a:pP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private readonly cdr = inject(ChangeDetectorRef);</a:t>
            </a:r>
            <a:endParaRPr lang="en-US" sz="1030" dirty="0"/>
          </a:p>
          <a:p>
            <a:pPr indent="0" marL="0">
              <a:buNone/>
            </a:pP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Demande une vérification au prochain cycle</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this.cdr.markForCheck();</a:t>
            </a:r>
            <a:endParaRPr lang="en-US" sz="1030" dirty="0"/>
          </a:p>
          <a:p>
            <a:pPr indent="0" marL="0">
              <a:buNone/>
            </a:pP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Vérifie immédiatement cette vue et ses enfants</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this.cdr.detectChanges();</a:t>
            </a:r>
            <a:endParaRPr lang="en-US" sz="1030" dirty="0"/>
          </a:p>
        </p:txBody>
      </p:sp>
      <p:sp>
        <p:nvSpPr>
          <p:cNvPr id="11" name="Text 8"/>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6/27</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Zoneless</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6" name="Text 3"/>
          <p:cNvSpPr/>
          <p:nvPr/>
        </p:nvSpPr>
        <p:spPr>
          <a:xfrm>
            <a:off x="576072" y="932688"/>
            <a:ext cx="11204143" cy="329184"/>
          </a:xfrm>
          <a:prstGeom prst="rect">
            <a:avLst/>
          </a:prstGeom>
          <a:noFill/>
          <a:ln/>
        </p:spPr>
        <p:txBody>
          <a:bodyPr wrap="square" lIns="127" tIns="127" rIns="127" bIns="127" rtlCol="0" anchor="ctr">
            <a:normAutofit/>
          </a:bodyPr>
          <a:lstStyle/>
          <a:p>
            <a:r>
              <a:rPr lang="en-US" sz="1350" dirty="0">
                <a:solidFill>
                  <a:srgbClr val="263B38"/>
                </a:solidFill>
              </a:rPr>
              <a:t>signals lus par les templates ;</a:t>
            </a:r>
            <a:endParaRPr lang="en-US" sz="1350" dirty="0"/>
          </a:p>
        </p:txBody>
      </p:sp>
      <p:sp>
        <p:nvSpPr>
          <p:cNvPr id="7" name="Text 4"/>
          <p:cNvSpPr/>
          <p:nvPr/>
        </p:nvSpPr>
        <p:spPr>
          <a:xfrm>
            <a:off x="576072" y="1316736"/>
            <a:ext cx="11204143" cy="329184"/>
          </a:xfrm>
          <a:prstGeom prst="rect">
            <a:avLst/>
          </a:prstGeom>
          <a:noFill/>
          <a:ln/>
        </p:spPr>
        <p:txBody>
          <a:bodyPr wrap="square" lIns="127" tIns="127" rIns="127" bIns="127" rtlCol="0" anchor="ctr">
            <a:normAutofit/>
          </a:bodyPr>
          <a:lstStyle/>
          <a:p>
            <a:r>
              <a:rPr lang="en-US" sz="1350" dirty="0">
                <a:solidFill>
                  <a:srgbClr val="263B38"/>
                </a:solidFill>
              </a:rPr>
              <a:t>input() / output() ;</a:t>
            </a:r>
            <a:endParaRPr lang="en-US" sz="1350" dirty="0"/>
          </a:p>
        </p:txBody>
      </p:sp>
      <p:sp>
        <p:nvSpPr>
          <p:cNvPr id="8" name="Text 5"/>
          <p:cNvSpPr/>
          <p:nvPr/>
        </p:nvSpPr>
        <p:spPr>
          <a:xfrm>
            <a:off x="576072" y="1700784"/>
            <a:ext cx="11204143" cy="329184"/>
          </a:xfrm>
          <a:prstGeom prst="rect">
            <a:avLst/>
          </a:prstGeom>
          <a:noFill/>
          <a:ln/>
        </p:spPr>
        <p:txBody>
          <a:bodyPr wrap="square" lIns="127" tIns="127" rIns="127" bIns="127" rtlCol="0" anchor="ctr">
            <a:normAutofit/>
          </a:bodyPr>
          <a:lstStyle/>
          <a:p>
            <a:r>
              <a:rPr lang="en-US" sz="1350" dirty="0">
                <a:solidFill>
                  <a:srgbClr val="263B38"/>
                </a:solidFill>
              </a:rPr>
              <a:t>async pipe ;</a:t>
            </a:r>
            <a:endParaRPr lang="en-US" sz="1350" dirty="0"/>
          </a:p>
        </p:txBody>
      </p:sp>
      <p:sp>
        <p:nvSpPr>
          <p:cNvPr id="9" name="Text 6"/>
          <p:cNvSpPr/>
          <p:nvPr/>
        </p:nvSpPr>
        <p:spPr>
          <a:xfrm>
            <a:off x="576072" y="2084832"/>
            <a:ext cx="11204143" cy="329184"/>
          </a:xfrm>
          <a:prstGeom prst="rect">
            <a:avLst/>
          </a:prstGeom>
          <a:noFill/>
          <a:ln/>
        </p:spPr>
        <p:txBody>
          <a:bodyPr wrap="square" lIns="127" tIns="127" rIns="127" bIns="127" rtlCol="0" anchor="ctr">
            <a:normAutofit/>
          </a:bodyPr>
          <a:lstStyle/>
          <a:p>
            <a:r>
              <a:rPr lang="en-US" sz="1350" dirty="0">
                <a:solidFill>
                  <a:srgbClr val="263B38"/>
                </a:solidFill>
              </a:rPr>
              <a:t>appels explicites de détection si nécessaire.</a:t>
            </a:r>
            <a:endParaRPr lang="en-US" sz="1350" dirty="0"/>
          </a:p>
        </p:txBody>
      </p:sp>
      <p:sp>
        <p:nvSpPr>
          <p:cNvPr id="10" name="Text 7"/>
          <p:cNvSpPr/>
          <p:nvPr/>
        </p:nvSpPr>
        <p:spPr>
          <a:xfrm>
            <a:off x="411480" y="2468880"/>
            <a:ext cx="11368735" cy="1024128"/>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Zone.js (défaut)</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 ajouter OnPush sur chaque composant</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 migrer les états vers signal() / input() / output()</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 provideZonelessChangeDetection() + supprimer zone.js</a:t>
            </a:r>
            <a:endParaRPr lang="en-US" sz="1030" dirty="0"/>
          </a:p>
        </p:txBody>
      </p:sp>
      <p:sp>
        <p:nvSpPr>
          <p:cNvPr id="11" name="Text 8"/>
          <p:cNvSpPr/>
          <p:nvPr/>
        </p:nvSpPr>
        <p:spPr>
          <a:xfrm>
            <a:off x="411480" y="3639312"/>
            <a:ext cx="11368735" cy="1225296"/>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 app.config.ts — activer zoneless (Angular 21, stable)</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provideZonelessChangeDetection()</a:t>
            </a:r>
            <a:endParaRPr lang="en-US" sz="1030" dirty="0"/>
          </a:p>
          <a:p>
            <a:pPr indent="0" marL="0">
              <a:buNone/>
            </a:pP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angular.json — retirer zone.js des polyfills</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"polyfills": []</a:t>
            </a:r>
            <a:endParaRPr lang="en-US" sz="1030" dirty="0"/>
          </a:p>
        </p:txBody>
      </p:sp>
      <p:sp>
        <p:nvSpPr>
          <p:cNvPr id="12" name="Text 9"/>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7/27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6B4F"/>
        </a:solidFill>
      </p:bgPr>
    </p:bg>
    <p:spTree>
      <p:nvGrpSpPr>
        <p:cNvPr id="1" name=""/>
        <p:cNvGrpSpPr/>
        <p:nvPr/>
      </p:nvGrpSpPr>
      <p:grpSpPr>
        <a:xfrm>
          <a:off x="0" y="0"/>
          <a:ext cx="0" cy="0"/>
          <a:chOff x="0" y="0"/>
          <a:chExt cx="0" cy="0"/>
        </a:xfrm>
      </p:grpSpPr>
      <p:sp>
        <p:nvSpPr>
          <p:cNvPr id="2" name="Text 0"/>
          <p:cNvSpPr/>
          <p:nvPr/>
        </p:nvSpPr>
        <p:spPr>
          <a:xfrm>
            <a:off x="594360" y="1600200"/>
            <a:ext cx="11002975" cy="411480"/>
          </a:xfrm>
          <a:prstGeom prst="rect">
            <a:avLst/>
          </a:prstGeom>
          <a:noFill/>
          <a:ln/>
        </p:spPr>
        <p:txBody>
          <a:bodyPr wrap="square" lIns="0" tIns="0" rIns="0" bIns="0" rtlCol="0" anchor="ctr"/>
          <a:lstStyle/>
          <a:p>
            <a:pPr algn="ctr" indent="0" marL="0">
              <a:buNone/>
            </a:pPr>
            <a:r>
              <a:rPr lang="en-US" sz="1800" dirty="0">
                <a:solidFill>
                  <a:srgbClr val="CFEDE2"/>
                </a:solidFill>
              </a:rPr>
              <a:t>Exercice 1</a:t>
            </a:r>
            <a:endParaRPr lang="en-US" sz="1800" dirty="0"/>
          </a:p>
        </p:txBody>
      </p:sp>
      <p:sp>
        <p:nvSpPr>
          <p:cNvPr id="3" name="Text 1"/>
          <p:cNvSpPr/>
          <p:nvPr/>
        </p:nvSpPr>
        <p:spPr>
          <a:xfrm>
            <a:off x="594360" y="2148840"/>
            <a:ext cx="11002975" cy="1097280"/>
          </a:xfrm>
          <a:prstGeom prst="rect">
            <a:avLst/>
          </a:prstGeom>
          <a:noFill/>
          <a:ln/>
        </p:spPr>
        <p:txBody>
          <a:bodyPr wrap="square" lIns="0" tIns="0" rIns="0" bIns="0" rtlCol="0" anchor="ctr">
            <a:normAutofit/>
          </a:bodyPr>
          <a:lstStyle/>
          <a:p>
            <a:pPr algn="ctr" indent="0" marL="0">
              <a:buNone/>
            </a:pPr>
            <a:r>
              <a:rPr lang="en-US" sz="3800" b="1" dirty="0">
                <a:solidFill>
                  <a:srgbClr val="FFFFFF"/>
                </a:solidFill>
              </a:rPr>
              <a:t>signal()</a:t>
            </a:r>
            <a:endParaRPr lang="en-US" sz="3800" dirty="0"/>
          </a:p>
        </p:txBody>
      </p:sp>
      <p:sp>
        <p:nvSpPr>
          <p:cNvPr id="4" name="Text 2"/>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8/27</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Exercice 1 — signal() — Consigne et API Signal à utiliser</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6" name="Text 3"/>
          <p:cNvSpPr/>
          <p:nvPr/>
        </p:nvSpPr>
        <p:spPr>
          <a:xfrm>
            <a:off x="411480" y="932688"/>
            <a:ext cx="11368735" cy="1024128"/>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readonly placeholder = signal('Rechercher un client'); // déclarer un signal string</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placeholder()                                          // lire</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this.placeholder.set('Rechercher par email');          // écrire</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this.placeholder.update(v =&gt; v + '...');               // mettre à jour depuis la valeur courante</a:t>
            </a:r>
            <a:endParaRPr lang="en-US" sz="1030" dirty="0"/>
          </a:p>
        </p:txBody>
      </p:sp>
      <p:sp>
        <p:nvSpPr>
          <p:cNvPr id="7" name="Text 4"/>
          <p:cNvSpPr/>
          <p:nvPr/>
        </p:nvSpPr>
        <p:spPr>
          <a:xfrm>
            <a:off x="411480" y="2103120"/>
            <a:ext cx="11368735" cy="502920"/>
          </a:xfrm>
          <a:prstGeom prst="rect">
            <a:avLst/>
          </a:prstGeom>
          <a:noFill/>
          <a:ln/>
        </p:spPr>
        <p:txBody>
          <a:bodyPr wrap="square" lIns="254" tIns="254" rIns="254" bIns="254" rtlCol="0" anchor="t">
            <a:normAutofit/>
          </a:bodyPr>
          <a:lstStyle/>
          <a:p>
            <a:pPr indent="0" marL="0">
              <a:buNone/>
            </a:pPr>
            <a:r>
              <a:rPr lang="en-US" sz="1420" dirty="0">
                <a:solidFill>
                  <a:srgbClr val="263B38"/>
                </a:solidFill>
              </a:rPr>
              <a:t>NB : ne jamais écraser la référence d'un signal. readonly protège la référence, pas la valeur : .set() et .update() restent autorisés.</a:t>
            </a:r>
            <a:endParaRPr lang="en-US" sz="1420" dirty="0"/>
          </a:p>
        </p:txBody>
      </p:sp>
      <p:sp>
        <p:nvSpPr>
          <p:cNvPr id="8" name="Text 5"/>
          <p:cNvSpPr/>
          <p:nvPr/>
        </p:nvSpPr>
        <p:spPr>
          <a:xfrm>
            <a:off x="411480" y="2715768"/>
            <a:ext cx="11368735" cy="502920"/>
          </a:xfrm>
          <a:prstGeom prst="rect">
            <a:avLst/>
          </a:prstGeom>
          <a:noFill/>
          <a:ln/>
        </p:spPr>
        <p:txBody>
          <a:bodyPr wrap="square" lIns="254" tIns="254" rIns="254" bIns="254" rtlCol="0" anchor="t">
            <a:normAutofit/>
          </a:bodyPr>
          <a:lstStyle/>
          <a:p>
            <a:pPr indent="0" marL="0">
              <a:buNone/>
            </a:pPr>
            <a:r>
              <a:rPr lang="en-US" sz="1420" dirty="0">
                <a:solidFill>
                  <a:srgbClr val="263B38"/>
                </a:solidFill>
              </a:rPr>
              <a:t>Dans src/app/features/clients/pages/clients/clients.component.ts, convertir la propriété adding = false en signal pour faire de adding une source réactive lisible par le template.</a:t>
            </a:r>
            <a:endParaRPr lang="en-US" sz="1420" dirty="0"/>
          </a:p>
        </p:txBody>
      </p:sp>
      <p:sp>
        <p:nvSpPr>
          <p:cNvPr id="9" name="Text 6"/>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9/27</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Exercice 1 — signal() — Test</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5" name="Text 3"/>
          <p:cNvSpPr/>
          <p:nvPr/>
        </p:nvSpPr>
        <p:spPr>
          <a:xfrm>
            <a:off x="411480" y="932688"/>
            <a:ext cx="11368735" cy="640080"/>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npm test -- --runTestsByPath src/app/features/clients/pages/clients/clients.component.spec.ts</a:t>
            </a:r>
            <a:endParaRPr lang="en-US" sz="1030" dirty="0"/>
          </a:p>
        </p:txBody>
      </p:sp>
      <p:sp>
        <p:nvSpPr>
          <p:cNvPr id="6" name="Text 4"/>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10/27</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6B4F"/>
        </a:solidFill>
      </p:bgPr>
    </p:bg>
    <p:spTree>
      <p:nvGrpSpPr>
        <p:cNvPr id="1" name=""/>
        <p:cNvGrpSpPr/>
        <p:nvPr/>
      </p:nvGrpSpPr>
      <p:grpSpPr>
        <a:xfrm>
          <a:off x="0" y="0"/>
          <a:ext cx="0" cy="0"/>
          <a:chOff x="0" y="0"/>
          <a:chExt cx="0" cy="0"/>
        </a:xfrm>
      </p:grpSpPr>
      <p:sp>
        <p:nvSpPr>
          <p:cNvPr id="2" name="Text 0"/>
          <p:cNvSpPr/>
          <p:nvPr/>
        </p:nvSpPr>
        <p:spPr>
          <a:xfrm>
            <a:off x="594360" y="1600200"/>
            <a:ext cx="11002975" cy="411480"/>
          </a:xfrm>
          <a:prstGeom prst="rect">
            <a:avLst/>
          </a:prstGeom>
          <a:noFill/>
          <a:ln/>
        </p:spPr>
        <p:txBody>
          <a:bodyPr wrap="square" lIns="0" tIns="0" rIns="0" bIns="0" rtlCol="0" anchor="ctr"/>
          <a:lstStyle/>
          <a:p>
            <a:pPr algn="ctr" indent="0" marL="0">
              <a:buNone/>
            </a:pPr>
            <a:r>
              <a:rPr lang="en-US" sz="1800" dirty="0">
                <a:solidFill>
                  <a:srgbClr val="CFEDE2"/>
                </a:solidFill>
              </a:rPr>
              <a:t>Exercice 2</a:t>
            </a:r>
            <a:endParaRPr lang="en-US" sz="1800" dirty="0"/>
          </a:p>
        </p:txBody>
      </p:sp>
      <p:sp>
        <p:nvSpPr>
          <p:cNvPr id="3" name="Text 1"/>
          <p:cNvSpPr/>
          <p:nvPr/>
        </p:nvSpPr>
        <p:spPr>
          <a:xfrm>
            <a:off x="594360" y="2148840"/>
            <a:ext cx="11002975" cy="1097280"/>
          </a:xfrm>
          <a:prstGeom prst="rect">
            <a:avLst/>
          </a:prstGeom>
          <a:noFill/>
          <a:ln/>
        </p:spPr>
        <p:txBody>
          <a:bodyPr wrap="square" lIns="0" tIns="0" rIns="0" bIns="0" rtlCol="0" anchor="ctr">
            <a:normAutofit/>
          </a:bodyPr>
          <a:lstStyle/>
          <a:p>
            <a:pPr algn="ctr" indent="0" marL="0">
              <a:buNone/>
            </a:pPr>
            <a:r>
              <a:rPr lang="en-US" sz="3800" b="1" dirty="0">
                <a:solidFill>
                  <a:srgbClr val="FFFFFF"/>
                </a:solidFill>
              </a:rPr>
              <a:t>computed()</a:t>
            </a:r>
            <a:endParaRPr lang="en-US" sz="3800" dirty="0"/>
          </a:p>
        </p:txBody>
      </p:sp>
      <p:sp>
        <p:nvSpPr>
          <p:cNvPr id="4" name="Text 2"/>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11/27</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Exercice 2 — computed() — Consigne et API Signal à utiliser</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6" name="Text 3"/>
          <p:cNvSpPr/>
          <p:nvPr/>
        </p:nvSpPr>
        <p:spPr>
          <a:xfrm>
            <a:off x="411480" y="932688"/>
            <a:ext cx="11368735" cy="1225296"/>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readonly blockedAccountsCount = computed(() =&gt;</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this.filteredAccounts().filter(a =&gt; a.status === 'blocked').length</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a:t>
            </a:r>
            <a:endParaRPr lang="en-US" sz="1030" dirty="0"/>
          </a:p>
          <a:p>
            <a:pPr indent="0" marL="0">
              <a:buNone/>
            </a:pP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blockedAccountsCount()  // lecture</a:t>
            </a:r>
            <a:endParaRPr lang="en-US" sz="1030" dirty="0"/>
          </a:p>
        </p:txBody>
      </p:sp>
      <p:sp>
        <p:nvSpPr>
          <p:cNvPr id="7" name="Text 4"/>
          <p:cNvSpPr/>
          <p:nvPr/>
        </p:nvSpPr>
        <p:spPr>
          <a:xfrm>
            <a:off x="411480" y="2304288"/>
            <a:ext cx="11368735" cy="731520"/>
          </a:xfrm>
          <a:prstGeom prst="rect">
            <a:avLst/>
          </a:prstGeom>
          <a:noFill/>
          <a:ln/>
        </p:spPr>
        <p:txBody>
          <a:bodyPr wrap="square" lIns="254" tIns="254" rIns="254" bIns="254" rtlCol="0" anchor="t">
            <a:normAutofit/>
          </a:bodyPr>
          <a:lstStyle/>
          <a:p>
            <a:pPr indent="0" marL="0">
              <a:buNone/>
            </a:pPr>
            <a:r>
              <a:rPr lang="en-US" sz="1420" dirty="0">
                <a:solidFill>
                  <a:srgbClr val="263B38"/>
                </a:solidFill>
              </a:rPr>
              <a:t>Dans accounts.facade.ts, accounts.component.ts et accounts.component.html, transformer blockedAccountsCount en valeur dérivée mémorisée avec computed(), puis exposer le signal dans le composant.</a:t>
            </a:r>
            <a:endParaRPr lang="en-US" sz="1420" dirty="0"/>
          </a:p>
        </p:txBody>
      </p:sp>
      <p:sp>
        <p:nvSpPr>
          <p:cNvPr id="8" name="Text 5"/>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12/27</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Exercice 2 — computed() — Test</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5" name="Text 3"/>
          <p:cNvSpPr/>
          <p:nvPr/>
        </p:nvSpPr>
        <p:spPr>
          <a:xfrm>
            <a:off x="411480" y="932688"/>
            <a:ext cx="11368735" cy="640080"/>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npm test -- --runTestsByPath src/app/features/accounts/pages/accounts/accounts.component.spec.ts</a:t>
            </a:r>
            <a:endParaRPr lang="en-US" sz="1030" dirty="0"/>
          </a:p>
        </p:txBody>
      </p:sp>
      <p:sp>
        <p:nvSpPr>
          <p:cNvPr id="6" name="Text 4"/>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13/27</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6B4F"/>
        </a:solidFill>
      </p:bgPr>
    </p:bg>
    <p:spTree>
      <p:nvGrpSpPr>
        <p:cNvPr id="1" name=""/>
        <p:cNvGrpSpPr/>
        <p:nvPr/>
      </p:nvGrpSpPr>
      <p:grpSpPr>
        <a:xfrm>
          <a:off x="0" y="0"/>
          <a:ext cx="0" cy="0"/>
          <a:chOff x="0" y="0"/>
          <a:chExt cx="0" cy="0"/>
        </a:xfrm>
      </p:grpSpPr>
      <p:sp>
        <p:nvSpPr>
          <p:cNvPr id="2" name="Text 0"/>
          <p:cNvSpPr/>
          <p:nvPr/>
        </p:nvSpPr>
        <p:spPr>
          <a:xfrm>
            <a:off x="594360" y="1600200"/>
            <a:ext cx="11002975" cy="411480"/>
          </a:xfrm>
          <a:prstGeom prst="rect">
            <a:avLst/>
          </a:prstGeom>
          <a:noFill/>
          <a:ln/>
        </p:spPr>
        <p:txBody>
          <a:bodyPr wrap="square" lIns="0" tIns="0" rIns="0" bIns="0" rtlCol="0" anchor="ctr"/>
          <a:lstStyle/>
          <a:p>
            <a:pPr algn="ctr" indent="0" marL="0">
              <a:buNone/>
            </a:pPr>
            <a:r>
              <a:rPr lang="en-US" sz="1800" dirty="0">
                <a:solidFill>
                  <a:srgbClr val="CFEDE2"/>
                </a:solidFill>
              </a:rPr>
              <a:t>Exercice 3</a:t>
            </a:r>
            <a:endParaRPr lang="en-US" sz="1800" dirty="0"/>
          </a:p>
        </p:txBody>
      </p:sp>
      <p:sp>
        <p:nvSpPr>
          <p:cNvPr id="3" name="Text 1"/>
          <p:cNvSpPr/>
          <p:nvPr/>
        </p:nvSpPr>
        <p:spPr>
          <a:xfrm>
            <a:off x="594360" y="2148840"/>
            <a:ext cx="11002975" cy="1097280"/>
          </a:xfrm>
          <a:prstGeom prst="rect">
            <a:avLst/>
          </a:prstGeom>
          <a:noFill/>
          <a:ln/>
        </p:spPr>
        <p:txBody>
          <a:bodyPr wrap="square" lIns="0" tIns="0" rIns="0" bIns="0" rtlCol="0" anchor="ctr">
            <a:normAutofit/>
          </a:bodyPr>
          <a:lstStyle/>
          <a:p>
            <a:pPr algn="ctr" indent="0" marL="0">
              <a:buNone/>
            </a:pPr>
            <a:r>
              <a:rPr lang="en-US" sz="3800" b="1" dirty="0">
                <a:solidFill>
                  <a:srgbClr val="FFFFFF"/>
                </a:solidFill>
              </a:rPr>
              <a:t>effect() + untracked() pour synchroniser un état</a:t>
            </a:r>
            <a:endParaRPr lang="en-US" sz="3800" dirty="0"/>
          </a:p>
        </p:txBody>
      </p:sp>
      <p:sp>
        <p:nvSpPr>
          <p:cNvPr id="4" name="Text 2"/>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14/27</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1800" b="1" dirty="0">
                <a:solidFill>
                  <a:srgbClr val="1B2B2A"/>
                </a:solidFill>
              </a:rPr>
              <a:t>Exercice 3 — effect() + untracked() pour synchroniser un état — Consigne et APIs Signal à utiliser</a:t>
            </a:r>
            <a:endParaRPr lang="en-US" sz="18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6" name="Text 3"/>
          <p:cNvSpPr/>
          <p:nvPr/>
        </p:nvSpPr>
        <p:spPr>
          <a:xfrm>
            <a:off x="411480" y="932688"/>
            <a:ext cx="11368735" cy="731520"/>
          </a:xfrm>
          <a:prstGeom prst="rect">
            <a:avLst/>
          </a:prstGeom>
          <a:noFill/>
          <a:ln/>
        </p:spPr>
        <p:txBody>
          <a:bodyPr wrap="square" lIns="254" tIns="254" rIns="254" bIns="254" rtlCol="0" anchor="t">
            <a:normAutofit/>
          </a:bodyPr>
          <a:lstStyle/>
          <a:p>
            <a:pPr indent="0" marL="0">
              <a:buNone/>
            </a:pPr>
            <a:r>
              <a:rPr lang="en-US" sz="1420" dirty="0">
                <a:solidFill>
                  <a:srgbClr val="263B38"/>
                </a:solidFill>
              </a:rPr>
              <a:t>Dans src/app/features/clients/pages/clients/clients.component.ts, remplacer l'appel impératif this.clampCurrentPage() par un effect() afin de rendre la synchronisation automatique. Utiliser untracked() pour lire la page courante sans en faire une dépendance directe de l'effet.</a:t>
            </a:r>
            <a:endParaRPr lang="en-US" sz="1420" dirty="0"/>
          </a:p>
        </p:txBody>
      </p:sp>
      <p:sp>
        <p:nvSpPr>
          <p:cNvPr id="7" name="Text 4"/>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15/27</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Exercice 3 — effect() + untracked() pour synchroniser un état — Test</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5" name="Text 3"/>
          <p:cNvSpPr/>
          <p:nvPr/>
        </p:nvSpPr>
        <p:spPr>
          <a:xfrm>
            <a:off x="411480" y="932688"/>
            <a:ext cx="11368735" cy="640080"/>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npm test -- --runTestsByPath src/app/features/clients/pages/clients/clients.component.spec.ts</a:t>
            </a:r>
            <a:endParaRPr lang="en-US" sz="1030" dirty="0"/>
          </a:p>
        </p:txBody>
      </p:sp>
      <p:sp>
        <p:nvSpPr>
          <p:cNvPr id="6" name="Text 4"/>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16/27</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1800" b="1" dirty="0">
                <a:solidFill>
                  <a:srgbClr val="1B2B2A"/>
                </a:solidFill>
              </a:rPr>
              <a:t>Exercice 3 — effect() + untracked() pour synchroniser un état — Nettoyage de l'effet — onCleanup</a:t>
            </a:r>
            <a:endParaRPr lang="en-US" sz="18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6" name="Text 3"/>
          <p:cNvSpPr/>
          <p:nvPr/>
        </p:nvSpPr>
        <p:spPr>
          <a:xfrm>
            <a:off x="411480" y="932688"/>
            <a:ext cx="11368735" cy="1024128"/>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effect((onCleanup) =&gt; {</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const id = setInterval(() =&gt; console.log(this.search()), 1000);</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onCleanup(() =&gt; clearInterval(id));</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a:t>
            </a:r>
            <a:endParaRPr lang="en-US" sz="1030" dirty="0"/>
          </a:p>
        </p:txBody>
      </p:sp>
      <p:sp>
        <p:nvSpPr>
          <p:cNvPr id="7" name="Text 4"/>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17/27</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6B4F"/>
        </a:solidFill>
      </p:bgPr>
    </p:bg>
    <p:spTree>
      <p:nvGrpSpPr>
        <p:cNvPr id="1" name=""/>
        <p:cNvGrpSpPr/>
        <p:nvPr/>
      </p:nvGrpSpPr>
      <p:grpSpPr>
        <a:xfrm>
          <a:off x="0" y="0"/>
          <a:ext cx="0" cy="0"/>
          <a:chOff x="0" y="0"/>
          <a:chExt cx="0" cy="0"/>
        </a:xfrm>
      </p:grpSpPr>
      <p:sp>
        <p:nvSpPr>
          <p:cNvPr id="2" name="Text 0"/>
          <p:cNvSpPr/>
          <p:nvPr/>
        </p:nvSpPr>
        <p:spPr>
          <a:xfrm>
            <a:off x="594360" y="1600200"/>
            <a:ext cx="11002975" cy="411480"/>
          </a:xfrm>
          <a:prstGeom prst="rect">
            <a:avLst/>
          </a:prstGeom>
          <a:noFill/>
          <a:ln/>
        </p:spPr>
        <p:txBody>
          <a:bodyPr wrap="square" lIns="0" tIns="0" rIns="0" bIns="0" rtlCol="0" anchor="ctr"/>
          <a:lstStyle/>
          <a:p>
            <a:pPr algn="ctr" indent="0" marL="0">
              <a:buNone/>
            </a:pPr>
            <a:r>
              <a:rPr lang="en-US" sz="1800" dirty="0">
                <a:solidFill>
                  <a:srgbClr val="CFEDE2"/>
                </a:solidFill>
              </a:rPr>
              <a:t>Exercice 4</a:t>
            </a:r>
            <a:endParaRPr lang="en-US" sz="1800" dirty="0"/>
          </a:p>
        </p:txBody>
      </p:sp>
      <p:sp>
        <p:nvSpPr>
          <p:cNvPr id="3" name="Text 1"/>
          <p:cNvSpPr/>
          <p:nvPr/>
        </p:nvSpPr>
        <p:spPr>
          <a:xfrm>
            <a:off x="594360" y="2148840"/>
            <a:ext cx="11002975" cy="1097280"/>
          </a:xfrm>
          <a:prstGeom prst="rect">
            <a:avLst/>
          </a:prstGeom>
          <a:noFill/>
          <a:ln/>
        </p:spPr>
        <p:txBody>
          <a:bodyPr wrap="square" lIns="0" tIns="0" rIns="0" bIns="0" rtlCol="0" anchor="ctr">
            <a:normAutofit/>
          </a:bodyPr>
          <a:lstStyle/>
          <a:p>
            <a:pPr algn="ctr" indent="0" marL="0">
              <a:buNone/>
            </a:pPr>
            <a:r>
              <a:rPr lang="en-US" sz="3800" b="1" dirty="0">
                <a:solidFill>
                  <a:srgbClr val="FFFFFF"/>
                </a:solidFill>
              </a:rPr>
              <a:t>input()</a:t>
            </a:r>
            <a:endParaRPr lang="en-US" sz="3800" dirty="0"/>
          </a:p>
        </p:txBody>
      </p:sp>
      <p:sp>
        <p:nvSpPr>
          <p:cNvPr id="4" name="Text 2"/>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18/27</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Exercice 4 — input() — Consigne et API Angular à utiliser</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6" name="Text 3"/>
          <p:cNvSpPr/>
          <p:nvPr/>
        </p:nvSpPr>
        <p:spPr>
          <a:xfrm>
            <a:off x="411480" y="932688"/>
            <a:ext cx="11368735" cy="822960"/>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showStatus = input(true);              // avec valeur par défaut</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account = input.required&lt;Account&gt;();   // requis</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showStatus()                           // lecture</a:t>
            </a:r>
            <a:endParaRPr lang="en-US" sz="1030" dirty="0"/>
          </a:p>
        </p:txBody>
      </p:sp>
      <p:sp>
        <p:nvSpPr>
          <p:cNvPr id="7" name="Text 4"/>
          <p:cNvSpPr/>
          <p:nvPr/>
        </p:nvSpPr>
        <p:spPr>
          <a:xfrm>
            <a:off x="411480" y="1901952"/>
            <a:ext cx="11368735" cy="731520"/>
          </a:xfrm>
          <a:prstGeom prst="rect">
            <a:avLst/>
          </a:prstGeom>
          <a:noFill/>
          <a:ln/>
        </p:spPr>
        <p:txBody>
          <a:bodyPr wrap="square" lIns="254" tIns="254" rIns="254" bIns="254" rtlCol="0" anchor="t">
            <a:normAutofit/>
          </a:bodyPr>
          <a:lstStyle/>
          <a:p>
            <a:pPr indent="0" marL="0">
              <a:buNone/>
            </a:pPr>
            <a:r>
              <a:rPr lang="en-US" sz="1420" dirty="0">
                <a:solidFill>
                  <a:srgbClr val="263B38"/>
                </a:solidFill>
              </a:rPr>
              <a:t>Dans src/app/features/accounts/components/account-card/account-card.component.ts, transformer @Input() showStatus = true en showStatus = input(true) pour faire de cette entrée une vraie dépendance signal dans visibleStatusLabel. Retirer aussi Input des imports.</a:t>
            </a:r>
            <a:endParaRPr lang="en-US" sz="1420" dirty="0"/>
          </a:p>
        </p:txBody>
      </p:sp>
      <p:sp>
        <p:nvSpPr>
          <p:cNvPr id="8" name="Text 5"/>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19/27</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Exercice 4 — input() — Test</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6" name="Text 3"/>
          <p:cNvSpPr/>
          <p:nvPr/>
        </p:nvSpPr>
        <p:spPr>
          <a:xfrm>
            <a:off x="411480" y="932688"/>
            <a:ext cx="11368735" cy="640080"/>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npm test -- --runTestsByPath src/app/features/accounts/components/account-card/account-card.component.spec.ts</a:t>
            </a:r>
            <a:endParaRPr lang="en-US" sz="1030" dirty="0"/>
          </a:p>
        </p:txBody>
      </p:sp>
      <p:sp>
        <p:nvSpPr>
          <p:cNvPr id="7" name="Text 4"/>
          <p:cNvSpPr/>
          <p:nvPr/>
        </p:nvSpPr>
        <p:spPr>
          <a:xfrm>
            <a:off x="411480" y="1719072"/>
            <a:ext cx="11368735" cy="1627632"/>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@Output() selectedRequested = new EventEmitter&lt;Account&gt;();</a:t>
            </a:r>
            <a:endParaRPr lang="en-US" sz="1030" dirty="0"/>
          </a:p>
          <a:p>
            <a:pPr indent="0" marL="0">
              <a:buNone/>
            </a:pP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devient</a:t>
            </a:r>
            <a:endParaRPr lang="en-US" sz="1030" dirty="0"/>
          </a:p>
          <a:p>
            <a:pPr indent="0" marL="0">
              <a:buNone/>
            </a:pP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selectedRequested = output&lt;Account&gt;();       // déclarer</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this.selectedRequested.emit(account);        // émettre</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(selectedRequested)="startEdit($event)"      // écouter dans le parent</a:t>
            </a:r>
            <a:endParaRPr lang="en-US" sz="1030" dirty="0"/>
          </a:p>
        </p:txBody>
      </p:sp>
      <p:sp>
        <p:nvSpPr>
          <p:cNvPr id="8" name="Text 5"/>
          <p:cNvSpPr/>
          <p:nvPr/>
        </p:nvSpPr>
        <p:spPr>
          <a:xfrm>
            <a:off x="411480" y="3493008"/>
            <a:ext cx="11368735" cy="1426464"/>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 Enfant</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quantity = model(1);</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this.quantity.update(q =&gt; q + 1);</a:t>
            </a:r>
            <a:endParaRPr lang="en-US" sz="1030" dirty="0"/>
          </a:p>
          <a:p>
            <a:pPr indent="0" marL="0">
              <a:buNone/>
            </a:pP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Parent</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&lt;app-counter [(quantity)]="quantity" /&gt;</a:t>
            </a:r>
            <a:endParaRPr lang="en-US" sz="1030" dirty="0"/>
          </a:p>
        </p:txBody>
      </p:sp>
      <p:sp>
        <p:nvSpPr>
          <p:cNvPr id="9" name="Text 6"/>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20/27</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6B4F"/>
        </a:solidFill>
      </p:bgPr>
    </p:bg>
    <p:spTree>
      <p:nvGrpSpPr>
        <p:cNvPr id="1" name=""/>
        <p:cNvGrpSpPr/>
        <p:nvPr/>
      </p:nvGrpSpPr>
      <p:grpSpPr>
        <a:xfrm>
          <a:off x="0" y="0"/>
          <a:ext cx="0" cy="0"/>
          <a:chOff x="0" y="0"/>
          <a:chExt cx="0" cy="0"/>
        </a:xfrm>
      </p:grpSpPr>
      <p:sp>
        <p:nvSpPr>
          <p:cNvPr id="2" name="Text 0"/>
          <p:cNvSpPr/>
          <p:nvPr/>
        </p:nvSpPr>
        <p:spPr>
          <a:xfrm>
            <a:off x="594360" y="1600200"/>
            <a:ext cx="11002975" cy="411480"/>
          </a:xfrm>
          <a:prstGeom prst="rect">
            <a:avLst/>
          </a:prstGeom>
          <a:noFill/>
          <a:ln/>
        </p:spPr>
        <p:txBody>
          <a:bodyPr wrap="square" lIns="0" tIns="0" rIns="0" bIns="0" rtlCol="0" anchor="ctr"/>
          <a:lstStyle/>
          <a:p>
            <a:pPr algn="ctr" indent="0" marL="0">
              <a:buNone/>
            </a:pPr>
            <a:r>
              <a:rPr lang="en-US" sz="1800" dirty="0">
                <a:solidFill>
                  <a:srgbClr val="CFEDE2"/>
                </a:solidFill>
              </a:rPr>
              <a:t>Exercice 5</a:t>
            </a:r>
            <a:endParaRPr lang="en-US" sz="1800" dirty="0"/>
          </a:p>
        </p:txBody>
      </p:sp>
      <p:sp>
        <p:nvSpPr>
          <p:cNvPr id="3" name="Text 1"/>
          <p:cNvSpPr/>
          <p:nvPr/>
        </p:nvSpPr>
        <p:spPr>
          <a:xfrm>
            <a:off x="594360" y="2148840"/>
            <a:ext cx="11002975" cy="1097280"/>
          </a:xfrm>
          <a:prstGeom prst="rect">
            <a:avLst/>
          </a:prstGeom>
          <a:noFill/>
          <a:ln/>
        </p:spPr>
        <p:txBody>
          <a:bodyPr wrap="square" lIns="0" tIns="0" rIns="0" bIns="0" rtlCol="0" anchor="ctr">
            <a:normAutofit/>
          </a:bodyPr>
          <a:lstStyle/>
          <a:p>
            <a:pPr algn="ctr" indent="0" marL="0">
              <a:buNone/>
            </a:pPr>
            <a:r>
              <a:rPr lang="en-US" sz="3800" b="1" dirty="0">
                <a:solidFill>
                  <a:srgbClr val="FFFFFF"/>
                </a:solidFill>
              </a:rPr>
              <a:t>linkedSignal()</a:t>
            </a:r>
            <a:endParaRPr lang="en-US" sz="3800" dirty="0"/>
          </a:p>
        </p:txBody>
      </p:sp>
      <p:sp>
        <p:nvSpPr>
          <p:cNvPr id="4" name="Text 2"/>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21/27</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Exercice 5 — linkedSignal() — Consigne et API Signal à utiliser</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6" name="Text 3"/>
          <p:cNvSpPr/>
          <p:nvPr/>
        </p:nvSpPr>
        <p:spPr>
          <a:xfrm>
            <a:off x="411480" y="932688"/>
            <a:ext cx="11368735" cy="1024128"/>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readonly value = linkedSignal(() =&gt; this.source());</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value()        // lecture</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value.set(x)   // écriture possible — contrairement à computed()</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Quand source() change → value() est recalculée depuis la source</a:t>
            </a:r>
            <a:endParaRPr lang="en-US" sz="1030" dirty="0"/>
          </a:p>
        </p:txBody>
      </p:sp>
      <p:sp>
        <p:nvSpPr>
          <p:cNvPr id="7" name="Text 4"/>
          <p:cNvSpPr/>
          <p:nvPr/>
        </p:nvSpPr>
        <p:spPr>
          <a:xfrm>
            <a:off x="411480" y="2103120"/>
            <a:ext cx="11368735" cy="731520"/>
          </a:xfrm>
          <a:prstGeom prst="rect">
            <a:avLst/>
          </a:prstGeom>
          <a:noFill/>
          <a:ln/>
        </p:spPr>
        <p:txBody>
          <a:bodyPr wrap="square" lIns="254" tIns="254" rIns="254" bIns="254" rtlCol="0" anchor="t">
            <a:normAutofit/>
          </a:bodyPr>
          <a:lstStyle/>
          <a:p>
            <a:pPr indent="0" marL="0">
              <a:buNone/>
            </a:pPr>
            <a:r>
              <a:rPr lang="en-US" sz="1420" dirty="0">
                <a:solidFill>
                  <a:srgbClr val="263B38"/>
                </a:solidFill>
              </a:rPr>
              <a:t>Dans src/app/features/accounts/pages/accounts/accounts.component.ts, convertir editAccount en linkedSignal() pour créer une valeur dérivée depuis le compte sélectionné, mais modifiable localement par l'utilisateur. Ajouter un signal accountForEdit pour porter la sélection courante.</a:t>
            </a:r>
            <a:endParaRPr lang="en-US" sz="1420" dirty="0"/>
          </a:p>
        </p:txBody>
      </p:sp>
      <p:sp>
        <p:nvSpPr>
          <p:cNvPr id="8" name="Text 5"/>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22/27</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Exercice 5 — linkedSignal() — Test</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5" name="Text 3"/>
          <p:cNvSpPr/>
          <p:nvPr/>
        </p:nvSpPr>
        <p:spPr>
          <a:xfrm>
            <a:off x="411480" y="932688"/>
            <a:ext cx="11368735" cy="640080"/>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npm test -- --runTestsByPath src/app/features/accounts/pages/accounts/accounts.component.spec.ts</a:t>
            </a:r>
            <a:endParaRPr lang="en-US" sz="1030" dirty="0"/>
          </a:p>
        </p:txBody>
      </p:sp>
      <p:sp>
        <p:nvSpPr>
          <p:cNvPr id="6" name="Text 4"/>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23/27</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Exercice 5 — linkedSignal() — linkedSignal() vs computed()</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5" name="Shape 3"/>
          <p:cNvSpPr/>
          <p:nvPr/>
        </p:nvSpPr>
        <p:spPr>
          <a:xfrm>
            <a:off x="411480" y="932688"/>
            <a:ext cx="5684368" cy="384048"/>
          </a:xfrm>
          <a:prstGeom prst="rect">
            <a:avLst/>
          </a:prstGeom>
          <a:solidFill>
            <a:srgbClr val="008A5B"/>
          </a:solidFill>
          <a:ln w="12700">
            <a:solidFill>
              <a:srgbClr val="D6E5E0"/>
            </a:solidFill>
            <a:prstDash val="solid"/>
          </a:ln>
        </p:spPr>
      </p:sp>
      <p:sp>
        <p:nvSpPr>
          <p:cNvPr id="6" name="Text 4"/>
          <p:cNvSpPr/>
          <p:nvPr/>
        </p:nvSpPr>
        <p:spPr>
          <a:xfrm>
            <a:off x="448056" y="960120"/>
            <a:ext cx="5611216" cy="329184"/>
          </a:xfrm>
          <a:prstGeom prst="rect">
            <a:avLst/>
          </a:prstGeom>
          <a:noFill/>
          <a:ln/>
        </p:spPr>
        <p:txBody>
          <a:bodyPr wrap="square" lIns="127" tIns="127" rIns="127" bIns="127" rtlCol="0" anchor="ctr">
            <a:normAutofit/>
          </a:bodyPr>
          <a:lstStyle/>
          <a:p>
            <a:pPr indent="0" marL="0">
              <a:buNone/>
            </a:pPr>
            <a:r>
              <a:rPr lang="en-US" sz="1160" b="1" dirty="0">
                <a:solidFill>
                  <a:srgbClr val="FFFFFF"/>
                </a:solidFill>
              </a:rPr>
              <a:t>computed()</a:t>
            </a:r>
            <a:endParaRPr lang="en-US" sz="1160" dirty="0"/>
          </a:p>
        </p:txBody>
      </p:sp>
      <p:sp>
        <p:nvSpPr>
          <p:cNvPr id="7" name="Shape 5"/>
          <p:cNvSpPr/>
          <p:nvPr/>
        </p:nvSpPr>
        <p:spPr>
          <a:xfrm>
            <a:off x="6095848" y="932688"/>
            <a:ext cx="5684368" cy="384048"/>
          </a:xfrm>
          <a:prstGeom prst="rect">
            <a:avLst/>
          </a:prstGeom>
          <a:solidFill>
            <a:srgbClr val="008A5B"/>
          </a:solidFill>
          <a:ln w="12700">
            <a:solidFill>
              <a:srgbClr val="D6E5E0"/>
            </a:solidFill>
            <a:prstDash val="solid"/>
          </a:ln>
        </p:spPr>
      </p:sp>
      <p:sp>
        <p:nvSpPr>
          <p:cNvPr id="8" name="Text 6"/>
          <p:cNvSpPr/>
          <p:nvPr/>
        </p:nvSpPr>
        <p:spPr>
          <a:xfrm>
            <a:off x="6132424" y="960120"/>
            <a:ext cx="5611216" cy="329184"/>
          </a:xfrm>
          <a:prstGeom prst="rect">
            <a:avLst/>
          </a:prstGeom>
          <a:noFill/>
          <a:ln/>
        </p:spPr>
        <p:txBody>
          <a:bodyPr wrap="square" lIns="127" tIns="127" rIns="127" bIns="127" rtlCol="0" anchor="ctr">
            <a:normAutofit/>
          </a:bodyPr>
          <a:lstStyle/>
          <a:p>
            <a:pPr indent="0" marL="0">
              <a:buNone/>
            </a:pPr>
            <a:r>
              <a:rPr lang="en-US" sz="1160" b="1" dirty="0">
                <a:solidFill>
                  <a:srgbClr val="FFFFFF"/>
                </a:solidFill>
              </a:rPr>
              <a:t>linkedSignal()</a:t>
            </a:r>
            <a:endParaRPr lang="en-US" sz="1160" dirty="0"/>
          </a:p>
        </p:txBody>
      </p:sp>
      <p:sp>
        <p:nvSpPr>
          <p:cNvPr id="9" name="Shape 7"/>
          <p:cNvSpPr/>
          <p:nvPr/>
        </p:nvSpPr>
        <p:spPr>
          <a:xfrm>
            <a:off x="411480" y="1316736"/>
            <a:ext cx="5684368" cy="384048"/>
          </a:xfrm>
          <a:prstGeom prst="rect">
            <a:avLst/>
          </a:prstGeom>
          <a:solidFill>
            <a:srgbClr val="FFFFFF"/>
          </a:solidFill>
          <a:ln w="12700">
            <a:solidFill>
              <a:srgbClr val="D6E5E0"/>
            </a:solidFill>
            <a:prstDash val="solid"/>
          </a:ln>
        </p:spPr>
      </p:sp>
      <p:sp>
        <p:nvSpPr>
          <p:cNvPr id="10" name="Text 8"/>
          <p:cNvSpPr/>
          <p:nvPr/>
        </p:nvSpPr>
        <p:spPr>
          <a:xfrm>
            <a:off x="448056" y="1344168"/>
            <a:ext cx="5611216" cy="329184"/>
          </a:xfrm>
          <a:prstGeom prst="rect">
            <a:avLst/>
          </a:prstGeom>
          <a:noFill/>
          <a:ln/>
        </p:spPr>
        <p:txBody>
          <a:bodyPr wrap="square" lIns="127" tIns="127" rIns="127" bIns="127" rtlCol="0" anchor="ctr">
            <a:normAutofit/>
          </a:bodyPr>
          <a:lstStyle/>
          <a:p>
            <a:pPr indent="0" marL="0">
              <a:buNone/>
            </a:pPr>
            <a:r>
              <a:rPr lang="en-US" sz="1160" dirty="0">
                <a:solidFill>
                  <a:srgbClr val="263B38"/>
                </a:solidFill>
              </a:rPr>
              <a:t>Lecture seule</a:t>
            </a:r>
            <a:endParaRPr lang="en-US" sz="1160" dirty="0"/>
          </a:p>
        </p:txBody>
      </p:sp>
      <p:sp>
        <p:nvSpPr>
          <p:cNvPr id="11" name="Shape 9"/>
          <p:cNvSpPr/>
          <p:nvPr/>
        </p:nvSpPr>
        <p:spPr>
          <a:xfrm>
            <a:off x="6095848" y="1316736"/>
            <a:ext cx="5684368" cy="384048"/>
          </a:xfrm>
          <a:prstGeom prst="rect">
            <a:avLst/>
          </a:prstGeom>
          <a:solidFill>
            <a:srgbClr val="FFFFFF"/>
          </a:solidFill>
          <a:ln w="12700">
            <a:solidFill>
              <a:srgbClr val="D6E5E0"/>
            </a:solidFill>
            <a:prstDash val="solid"/>
          </a:ln>
        </p:spPr>
      </p:sp>
      <p:sp>
        <p:nvSpPr>
          <p:cNvPr id="12" name="Text 10"/>
          <p:cNvSpPr/>
          <p:nvPr/>
        </p:nvSpPr>
        <p:spPr>
          <a:xfrm>
            <a:off x="6132424" y="1344168"/>
            <a:ext cx="5611216" cy="329184"/>
          </a:xfrm>
          <a:prstGeom prst="rect">
            <a:avLst/>
          </a:prstGeom>
          <a:noFill/>
          <a:ln/>
        </p:spPr>
        <p:txBody>
          <a:bodyPr wrap="square" lIns="127" tIns="127" rIns="127" bIns="127" rtlCol="0" anchor="ctr">
            <a:normAutofit/>
          </a:bodyPr>
          <a:lstStyle/>
          <a:p>
            <a:pPr indent="0" marL="0">
              <a:buNone/>
            </a:pPr>
            <a:r>
              <a:rPr lang="en-US" sz="1160" dirty="0">
                <a:solidFill>
                  <a:srgbClr val="263B38"/>
                </a:solidFill>
              </a:rPr>
              <a:t>Writable — .set() et .update() disponibles</a:t>
            </a:r>
            <a:endParaRPr lang="en-US" sz="1160" dirty="0"/>
          </a:p>
        </p:txBody>
      </p:sp>
      <p:sp>
        <p:nvSpPr>
          <p:cNvPr id="13" name="Shape 11"/>
          <p:cNvSpPr/>
          <p:nvPr/>
        </p:nvSpPr>
        <p:spPr>
          <a:xfrm>
            <a:off x="411480" y="1700784"/>
            <a:ext cx="5684368" cy="384048"/>
          </a:xfrm>
          <a:prstGeom prst="rect">
            <a:avLst/>
          </a:prstGeom>
          <a:solidFill>
            <a:srgbClr val="F3F8F6"/>
          </a:solidFill>
          <a:ln w="12700">
            <a:solidFill>
              <a:srgbClr val="D6E5E0"/>
            </a:solidFill>
            <a:prstDash val="solid"/>
          </a:ln>
        </p:spPr>
      </p:sp>
      <p:sp>
        <p:nvSpPr>
          <p:cNvPr id="14" name="Text 12"/>
          <p:cNvSpPr/>
          <p:nvPr/>
        </p:nvSpPr>
        <p:spPr>
          <a:xfrm>
            <a:off x="448056" y="1728216"/>
            <a:ext cx="5611216" cy="329184"/>
          </a:xfrm>
          <a:prstGeom prst="rect">
            <a:avLst/>
          </a:prstGeom>
          <a:noFill/>
          <a:ln/>
        </p:spPr>
        <p:txBody>
          <a:bodyPr wrap="square" lIns="127" tIns="127" rIns="127" bIns="127" rtlCol="0" anchor="ctr">
            <a:normAutofit/>
          </a:bodyPr>
          <a:lstStyle/>
          <a:p>
            <a:pPr indent="0" marL="0">
              <a:buNone/>
            </a:pPr>
            <a:r>
              <a:rPr lang="en-US" sz="1160" dirty="0">
                <a:solidFill>
                  <a:srgbClr val="263B38"/>
                </a:solidFill>
              </a:rPr>
              <a:t>Recalculé quand les dépendances changent</a:t>
            </a:r>
            <a:endParaRPr lang="en-US" sz="1160" dirty="0"/>
          </a:p>
        </p:txBody>
      </p:sp>
      <p:sp>
        <p:nvSpPr>
          <p:cNvPr id="15" name="Shape 13"/>
          <p:cNvSpPr/>
          <p:nvPr/>
        </p:nvSpPr>
        <p:spPr>
          <a:xfrm>
            <a:off x="6095848" y="1700784"/>
            <a:ext cx="5684368" cy="384048"/>
          </a:xfrm>
          <a:prstGeom prst="rect">
            <a:avLst/>
          </a:prstGeom>
          <a:solidFill>
            <a:srgbClr val="F3F8F6"/>
          </a:solidFill>
          <a:ln w="12700">
            <a:solidFill>
              <a:srgbClr val="D6E5E0"/>
            </a:solidFill>
            <a:prstDash val="solid"/>
          </a:ln>
        </p:spPr>
      </p:sp>
      <p:sp>
        <p:nvSpPr>
          <p:cNvPr id="16" name="Text 14"/>
          <p:cNvSpPr/>
          <p:nvPr/>
        </p:nvSpPr>
        <p:spPr>
          <a:xfrm>
            <a:off x="6132424" y="1728216"/>
            <a:ext cx="5611216" cy="329184"/>
          </a:xfrm>
          <a:prstGeom prst="rect">
            <a:avLst/>
          </a:prstGeom>
          <a:noFill/>
          <a:ln/>
        </p:spPr>
        <p:txBody>
          <a:bodyPr wrap="square" lIns="127" tIns="127" rIns="127" bIns="127" rtlCol="0" anchor="ctr">
            <a:normAutofit/>
          </a:bodyPr>
          <a:lstStyle/>
          <a:p>
            <a:pPr indent="0" marL="0">
              <a:buNone/>
            </a:pPr>
            <a:r>
              <a:rPr lang="en-US" sz="1160" dirty="0">
                <a:solidFill>
                  <a:srgbClr val="263B38"/>
                </a:solidFill>
              </a:rPr>
              <a:t>Recalculé quand la source change, modifiable entre deux</a:t>
            </a:r>
            <a:endParaRPr lang="en-US" sz="1160" dirty="0"/>
          </a:p>
        </p:txBody>
      </p:sp>
      <p:sp>
        <p:nvSpPr>
          <p:cNvPr id="17" name="Shape 15"/>
          <p:cNvSpPr/>
          <p:nvPr/>
        </p:nvSpPr>
        <p:spPr>
          <a:xfrm>
            <a:off x="411480" y="2084832"/>
            <a:ext cx="5684368" cy="384048"/>
          </a:xfrm>
          <a:prstGeom prst="rect">
            <a:avLst/>
          </a:prstGeom>
          <a:solidFill>
            <a:srgbClr val="FFFFFF"/>
          </a:solidFill>
          <a:ln w="12700">
            <a:solidFill>
              <a:srgbClr val="D6E5E0"/>
            </a:solidFill>
            <a:prstDash val="solid"/>
          </a:ln>
        </p:spPr>
      </p:sp>
      <p:sp>
        <p:nvSpPr>
          <p:cNvPr id="18" name="Text 16"/>
          <p:cNvSpPr/>
          <p:nvPr/>
        </p:nvSpPr>
        <p:spPr>
          <a:xfrm>
            <a:off x="448056" y="2112264"/>
            <a:ext cx="5611216" cy="329184"/>
          </a:xfrm>
          <a:prstGeom prst="rect">
            <a:avLst/>
          </a:prstGeom>
          <a:noFill/>
          <a:ln/>
        </p:spPr>
        <p:txBody>
          <a:bodyPr wrap="square" lIns="127" tIns="127" rIns="127" bIns="127" rtlCol="0" anchor="ctr">
            <a:normAutofit/>
          </a:bodyPr>
          <a:lstStyle/>
          <a:p>
            <a:pPr indent="0" marL="0">
              <a:buNone/>
            </a:pPr>
            <a:r>
              <a:rPr lang="en-US" sz="1160" dirty="0">
                <a:solidFill>
                  <a:srgbClr val="263B38"/>
                </a:solidFill>
              </a:rPr>
              <a:t>Adapté aux valeurs dérivées stables</a:t>
            </a:r>
            <a:endParaRPr lang="en-US" sz="1160" dirty="0"/>
          </a:p>
        </p:txBody>
      </p:sp>
      <p:sp>
        <p:nvSpPr>
          <p:cNvPr id="19" name="Shape 17"/>
          <p:cNvSpPr/>
          <p:nvPr/>
        </p:nvSpPr>
        <p:spPr>
          <a:xfrm>
            <a:off x="6095848" y="2084832"/>
            <a:ext cx="5684368" cy="384048"/>
          </a:xfrm>
          <a:prstGeom prst="rect">
            <a:avLst/>
          </a:prstGeom>
          <a:solidFill>
            <a:srgbClr val="FFFFFF"/>
          </a:solidFill>
          <a:ln w="12700">
            <a:solidFill>
              <a:srgbClr val="D6E5E0"/>
            </a:solidFill>
            <a:prstDash val="solid"/>
          </a:ln>
        </p:spPr>
      </p:sp>
      <p:sp>
        <p:nvSpPr>
          <p:cNvPr id="20" name="Text 18"/>
          <p:cNvSpPr/>
          <p:nvPr/>
        </p:nvSpPr>
        <p:spPr>
          <a:xfrm>
            <a:off x="6132424" y="2112264"/>
            <a:ext cx="5611216" cy="329184"/>
          </a:xfrm>
          <a:prstGeom prst="rect">
            <a:avLst/>
          </a:prstGeom>
          <a:noFill/>
          <a:ln/>
        </p:spPr>
        <p:txBody>
          <a:bodyPr wrap="square" lIns="127" tIns="127" rIns="127" bIns="127" rtlCol="0" anchor="ctr">
            <a:normAutofit/>
          </a:bodyPr>
          <a:lstStyle/>
          <a:p>
            <a:pPr indent="0" marL="0">
              <a:buNone/>
            </a:pPr>
            <a:r>
              <a:rPr lang="en-US" sz="1160" dirty="0">
                <a:solidFill>
                  <a:srgbClr val="263B38"/>
                </a:solidFill>
              </a:rPr>
              <a:t>Adapté aux formulaires pré-remplis depuis une sélection</a:t>
            </a:r>
            <a:endParaRPr lang="en-US" sz="1160" dirty="0"/>
          </a:p>
        </p:txBody>
      </p:sp>
      <p:sp>
        <p:nvSpPr>
          <p:cNvPr id="21" name="Text 19"/>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24/27</a:t>
            </a:r>
            <a:endParaRPr lang="en-US" sz="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Récapitulatif — Primitives Signals</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5" name="Shape 3"/>
          <p:cNvSpPr/>
          <p:nvPr/>
        </p:nvSpPr>
        <p:spPr>
          <a:xfrm>
            <a:off x="411480" y="932688"/>
            <a:ext cx="685800" cy="384048"/>
          </a:xfrm>
          <a:prstGeom prst="rect">
            <a:avLst/>
          </a:prstGeom>
          <a:solidFill>
            <a:srgbClr val="008A5B"/>
          </a:solidFill>
          <a:ln w="12700">
            <a:solidFill>
              <a:srgbClr val="D6E5E0"/>
            </a:solidFill>
            <a:prstDash val="solid"/>
          </a:ln>
        </p:spPr>
      </p:sp>
      <p:sp>
        <p:nvSpPr>
          <p:cNvPr id="6" name="Text 4"/>
          <p:cNvSpPr/>
          <p:nvPr/>
        </p:nvSpPr>
        <p:spPr>
          <a:xfrm>
            <a:off x="448056" y="960120"/>
            <a:ext cx="612648" cy="329184"/>
          </a:xfrm>
          <a:prstGeom prst="rect">
            <a:avLst/>
          </a:prstGeom>
          <a:noFill/>
          <a:ln/>
        </p:spPr>
        <p:txBody>
          <a:bodyPr wrap="square" lIns="127" tIns="127" rIns="127" bIns="127" rtlCol="0" anchor="ctr">
            <a:normAutofit/>
          </a:bodyPr>
          <a:lstStyle/>
          <a:p>
            <a:pPr indent="0" marL="0">
              <a:buNone/>
            </a:pPr>
            <a:r>
              <a:rPr lang="en-US" sz="880" b="1" dirty="0">
                <a:solidFill>
                  <a:srgbClr val="FFFFFF"/>
                </a:solidFill>
              </a:rPr>
              <a:t>Primitive</a:t>
            </a:r>
            <a:endParaRPr lang="en-US" sz="880" dirty="0"/>
          </a:p>
        </p:txBody>
      </p:sp>
      <p:sp>
        <p:nvSpPr>
          <p:cNvPr id="7" name="Shape 5"/>
          <p:cNvSpPr/>
          <p:nvPr/>
        </p:nvSpPr>
        <p:spPr>
          <a:xfrm>
            <a:off x="1097280" y="932688"/>
            <a:ext cx="2240280" cy="384048"/>
          </a:xfrm>
          <a:prstGeom prst="rect">
            <a:avLst/>
          </a:prstGeom>
          <a:solidFill>
            <a:srgbClr val="008A5B"/>
          </a:solidFill>
          <a:ln w="12700">
            <a:solidFill>
              <a:srgbClr val="D6E5E0"/>
            </a:solidFill>
            <a:prstDash val="solid"/>
          </a:ln>
        </p:spPr>
      </p:sp>
      <p:sp>
        <p:nvSpPr>
          <p:cNvPr id="8" name="Text 6"/>
          <p:cNvSpPr/>
          <p:nvPr/>
        </p:nvSpPr>
        <p:spPr>
          <a:xfrm>
            <a:off x="1133856" y="960120"/>
            <a:ext cx="2167128" cy="329184"/>
          </a:xfrm>
          <a:prstGeom prst="rect">
            <a:avLst/>
          </a:prstGeom>
          <a:noFill/>
          <a:ln/>
        </p:spPr>
        <p:txBody>
          <a:bodyPr wrap="square" lIns="127" tIns="127" rIns="127" bIns="127" rtlCol="0" anchor="ctr">
            <a:normAutofit/>
          </a:bodyPr>
          <a:lstStyle/>
          <a:p>
            <a:pPr indent="0" marL="0">
              <a:buNone/>
            </a:pPr>
            <a:r>
              <a:rPr lang="en-US" sz="880" b="1" dirty="0">
                <a:solidFill>
                  <a:srgbClr val="FFFFFF"/>
                </a:solidFill>
              </a:rPr>
              <a:t>Rôle</a:t>
            </a:r>
            <a:endParaRPr lang="en-US" sz="880" dirty="0"/>
          </a:p>
        </p:txBody>
      </p:sp>
      <p:sp>
        <p:nvSpPr>
          <p:cNvPr id="9" name="Shape 7"/>
          <p:cNvSpPr/>
          <p:nvPr/>
        </p:nvSpPr>
        <p:spPr>
          <a:xfrm>
            <a:off x="3337560" y="932688"/>
            <a:ext cx="2606040" cy="384048"/>
          </a:xfrm>
          <a:prstGeom prst="rect">
            <a:avLst/>
          </a:prstGeom>
          <a:solidFill>
            <a:srgbClr val="008A5B"/>
          </a:solidFill>
          <a:ln w="12700">
            <a:solidFill>
              <a:srgbClr val="D6E5E0"/>
            </a:solidFill>
            <a:prstDash val="solid"/>
          </a:ln>
        </p:spPr>
      </p:sp>
      <p:sp>
        <p:nvSpPr>
          <p:cNvPr id="10" name="Text 8"/>
          <p:cNvSpPr/>
          <p:nvPr/>
        </p:nvSpPr>
        <p:spPr>
          <a:xfrm>
            <a:off x="3374136" y="960120"/>
            <a:ext cx="2532888" cy="329184"/>
          </a:xfrm>
          <a:prstGeom prst="rect">
            <a:avLst/>
          </a:prstGeom>
          <a:noFill/>
          <a:ln/>
        </p:spPr>
        <p:txBody>
          <a:bodyPr wrap="square" lIns="127" tIns="127" rIns="127" bIns="127" rtlCol="0" anchor="ctr">
            <a:normAutofit/>
          </a:bodyPr>
          <a:lstStyle/>
          <a:p>
            <a:pPr indent="0" marL="0">
              <a:buNone/>
            </a:pPr>
            <a:r>
              <a:rPr lang="en-US" sz="880" b="1" dirty="0">
                <a:solidFill>
                  <a:srgbClr val="FFFFFF"/>
                </a:solidFill>
              </a:rPr>
              <a:t>Writable</a:t>
            </a:r>
            <a:endParaRPr lang="en-US" sz="880" dirty="0"/>
          </a:p>
        </p:txBody>
      </p:sp>
      <p:sp>
        <p:nvSpPr>
          <p:cNvPr id="11" name="Shape 9"/>
          <p:cNvSpPr/>
          <p:nvPr/>
        </p:nvSpPr>
        <p:spPr>
          <a:xfrm>
            <a:off x="5943600" y="932688"/>
            <a:ext cx="5836615" cy="384048"/>
          </a:xfrm>
          <a:prstGeom prst="rect">
            <a:avLst/>
          </a:prstGeom>
          <a:solidFill>
            <a:srgbClr val="008A5B"/>
          </a:solidFill>
          <a:ln w="12700">
            <a:solidFill>
              <a:srgbClr val="D6E5E0"/>
            </a:solidFill>
            <a:prstDash val="solid"/>
          </a:ln>
        </p:spPr>
      </p:sp>
      <p:sp>
        <p:nvSpPr>
          <p:cNvPr id="12" name="Text 10"/>
          <p:cNvSpPr/>
          <p:nvPr/>
        </p:nvSpPr>
        <p:spPr>
          <a:xfrm>
            <a:off x="5980176" y="960120"/>
            <a:ext cx="5763463" cy="329184"/>
          </a:xfrm>
          <a:prstGeom prst="rect">
            <a:avLst/>
          </a:prstGeom>
          <a:noFill/>
          <a:ln/>
        </p:spPr>
        <p:txBody>
          <a:bodyPr wrap="square" lIns="127" tIns="127" rIns="127" bIns="127" rtlCol="0" anchor="ctr">
            <a:normAutofit/>
          </a:bodyPr>
          <a:lstStyle/>
          <a:p>
            <a:pPr indent="0" marL="0">
              <a:buNone/>
            </a:pPr>
            <a:r>
              <a:rPr lang="en-US" sz="880" b="1" dirty="0">
                <a:solidFill>
                  <a:srgbClr val="FFFFFF"/>
                </a:solidFill>
              </a:rPr>
              <a:t>Recalcul automatique</a:t>
            </a:r>
            <a:endParaRPr lang="en-US" sz="880" dirty="0"/>
          </a:p>
        </p:txBody>
      </p:sp>
      <p:sp>
        <p:nvSpPr>
          <p:cNvPr id="13" name="Shape 11"/>
          <p:cNvSpPr/>
          <p:nvPr/>
        </p:nvSpPr>
        <p:spPr>
          <a:xfrm>
            <a:off x="411480" y="1316736"/>
            <a:ext cx="685800" cy="384048"/>
          </a:xfrm>
          <a:prstGeom prst="rect">
            <a:avLst/>
          </a:prstGeom>
          <a:solidFill>
            <a:srgbClr val="FFFFFF"/>
          </a:solidFill>
          <a:ln w="12700">
            <a:solidFill>
              <a:srgbClr val="D6E5E0"/>
            </a:solidFill>
            <a:prstDash val="solid"/>
          </a:ln>
        </p:spPr>
      </p:sp>
      <p:sp>
        <p:nvSpPr>
          <p:cNvPr id="14" name="Text 12"/>
          <p:cNvSpPr/>
          <p:nvPr/>
        </p:nvSpPr>
        <p:spPr>
          <a:xfrm>
            <a:off x="448056" y="1344168"/>
            <a:ext cx="61264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signal()</a:t>
            </a:r>
            <a:endParaRPr lang="en-US" sz="880" dirty="0"/>
          </a:p>
        </p:txBody>
      </p:sp>
      <p:sp>
        <p:nvSpPr>
          <p:cNvPr id="15" name="Shape 13"/>
          <p:cNvSpPr/>
          <p:nvPr/>
        </p:nvSpPr>
        <p:spPr>
          <a:xfrm>
            <a:off x="1097280" y="1316736"/>
            <a:ext cx="2240280" cy="384048"/>
          </a:xfrm>
          <a:prstGeom prst="rect">
            <a:avLst/>
          </a:prstGeom>
          <a:solidFill>
            <a:srgbClr val="FFFFFF"/>
          </a:solidFill>
          <a:ln w="12700">
            <a:solidFill>
              <a:srgbClr val="D6E5E0"/>
            </a:solidFill>
            <a:prstDash val="solid"/>
          </a:ln>
        </p:spPr>
      </p:sp>
      <p:sp>
        <p:nvSpPr>
          <p:cNvPr id="16" name="Text 14"/>
          <p:cNvSpPr/>
          <p:nvPr/>
        </p:nvSpPr>
        <p:spPr>
          <a:xfrm>
            <a:off x="1133856" y="1344168"/>
            <a:ext cx="216712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État local</a:t>
            </a:r>
            <a:endParaRPr lang="en-US" sz="880" dirty="0"/>
          </a:p>
        </p:txBody>
      </p:sp>
      <p:sp>
        <p:nvSpPr>
          <p:cNvPr id="17" name="Shape 15"/>
          <p:cNvSpPr/>
          <p:nvPr/>
        </p:nvSpPr>
        <p:spPr>
          <a:xfrm>
            <a:off x="3337560" y="1316736"/>
            <a:ext cx="2606040" cy="384048"/>
          </a:xfrm>
          <a:prstGeom prst="rect">
            <a:avLst/>
          </a:prstGeom>
          <a:solidFill>
            <a:srgbClr val="FFFFFF"/>
          </a:solidFill>
          <a:ln w="12700">
            <a:solidFill>
              <a:srgbClr val="D6E5E0"/>
            </a:solidFill>
            <a:prstDash val="solid"/>
          </a:ln>
        </p:spPr>
      </p:sp>
      <p:sp>
        <p:nvSpPr>
          <p:cNvPr id="18" name="Text 16"/>
          <p:cNvSpPr/>
          <p:nvPr/>
        </p:nvSpPr>
        <p:spPr>
          <a:xfrm>
            <a:off x="3374136" y="1344168"/>
            <a:ext cx="253288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 .set() / .update()</a:t>
            </a:r>
            <a:endParaRPr lang="en-US" sz="880" dirty="0"/>
          </a:p>
        </p:txBody>
      </p:sp>
      <p:sp>
        <p:nvSpPr>
          <p:cNvPr id="19" name="Shape 17"/>
          <p:cNvSpPr/>
          <p:nvPr/>
        </p:nvSpPr>
        <p:spPr>
          <a:xfrm>
            <a:off x="5943600" y="1316736"/>
            <a:ext cx="5836615" cy="384048"/>
          </a:xfrm>
          <a:prstGeom prst="rect">
            <a:avLst/>
          </a:prstGeom>
          <a:solidFill>
            <a:srgbClr val="FFFFFF"/>
          </a:solidFill>
          <a:ln w="12700">
            <a:solidFill>
              <a:srgbClr val="D6E5E0"/>
            </a:solidFill>
            <a:prstDash val="solid"/>
          </a:ln>
        </p:spPr>
      </p:sp>
      <p:sp>
        <p:nvSpPr>
          <p:cNvPr id="20" name="Text 18"/>
          <p:cNvSpPr/>
          <p:nvPr/>
        </p:nvSpPr>
        <p:spPr>
          <a:xfrm>
            <a:off x="5980176" y="1344168"/>
            <a:ext cx="5763463"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a:t>
            </a:r>
            <a:endParaRPr lang="en-US" sz="880" dirty="0"/>
          </a:p>
        </p:txBody>
      </p:sp>
      <p:sp>
        <p:nvSpPr>
          <p:cNvPr id="21" name="Shape 19"/>
          <p:cNvSpPr/>
          <p:nvPr/>
        </p:nvSpPr>
        <p:spPr>
          <a:xfrm>
            <a:off x="411480" y="1700784"/>
            <a:ext cx="685800" cy="384048"/>
          </a:xfrm>
          <a:prstGeom prst="rect">
            <a:avLst/>
          </a:prstGeom>
          <a:solidFill>
            <a:srgbClr val="F3F8F6"/>
          </a:solidFill>
          <a:ln w="12700">
            <a:solidFill>
              <a:srgbClr val="D6E5E0"/>
            </a:solidFill>
            <a:prstDash val="solid"/>
          </a:ln>
        </p:spPr>
      </p:sp>
      <p:sp>
        <p:nvSpPr>
          <p:cNvPr id="22" name="Text 20"/>
          <p:cNvSpPr/>
          <p:nvPr/>
        </p:nvSpPr>
        <p:spPr>
          <a:xfrm>
            <a:off x="448056" y="1728216"/>
            <a:ext cx="61264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computed()</a:t>
            </a:r>
            <a:endParaRPr lang="en-US" sz="880" dirty="0"/>
          </a:p>
        </p:txBody>
      </p:sp>
      <p:sp>
        <p:nvSpPr>
          <p:cNvPr id="23" name="Shape 21"/>
          <p:cNvSpPr/>
          <p:nvPr/>
        </p:nvSpPr>
        <p:spPr>
          <a:xfrm>
            <a:off x="1097280" y="1700784"/>
            <a:ext cx="2240280" cy="384048"/>
          </a:xfrm>
          <a:prstGeom prst="rect">
            <a:avLst/>
          </a:prstGeom>
          <a:solidFill>
            <a:srgbClr val="F3F8F6"/>
          </a:solidFill>
          <a:ln w="12700">
            <a:solidFill>
              <a:srgbClr val="D6E5E0"/>
            </a:solidFill>
            <a:prstDash val="solid"/>
          </a:ln>
        </p:spPr>
      </p:sp>
      <p:sp>
        <p:nvSpPr>
          <p:cNvPr id="24" name="Text 22"/>
          <p:cNvSpPr/>
          <p:nvPr/>
        </p:nvSpPr>
        <p:spPr>
          <a:xfrm>
            <a:off x="1133856" y="1728216"/>
            <a:ext cx="216712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Valeur dérivée mémorisée</a:t>
            </a:r>
            <a:endParaRPr lang="en-US" sz="880" dirty="0"/>
          </a:p>
        </p:txBody>
      </p:sp>
      <p:sp>
        <p:nvSpPr>
          <p:cNvPr id="25" name="Shape 23"/>
          <p:cNvSpPr/>
          <p:nvPr/>
        </p:nvSpPr>
        <p:spPr>
          <a:xfrm>
            <a:off x="3337560" y="1700784"/>
            <a:ext cx="2606040" cy="384048"/>
          </a:xfrm>
          <a:prstGeom prst="rect">
            <a:avLst/>
          </a:prstGeom>
          <a:solidFill>
            <a:srgbClr val="F3F8F6"/>
          </a:solidFill>
          <a:ln w="12700">
            <a:solidFill>
              <a:srgbClr val="D6E5E0"/>
            </a:solidFill>
            <a:prstDash val="solid"/>
          </a:ln>
        </p:spPr>
      </p:sp>
      <p:sp>
        <p:nvSpPr>
          <p:cNvPr id="26" name="Text 24"/>
          <p:cNvSpPr/>
          <p:nvPr/>
        </p:nvSpPr>
        <p:spPr>
          <a:xfrm>
            <a:off x="3374136" y="1728216"/>
            <a:ext cx="253288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 lecture seule</a:t>
            </a:r>
            <a:endParaRPr lang="en-US" sz="880" dirty="0"/>
          </a:p>
        </p:txBody>
      </p:sp>
      <p:sp>
        <p:nvSpPr>
          <p:cNvPr id="27" name="Shape 25"/>
          <p:cNvSpPr/>
          <p:nvPr/>
        </p:nvSpPr>
        <p:spPr>
          <a:xfrm>
            <a:off x="5943600" y="1700784"/>
            <a:ext cx="5836615" cy="384048"/>
          </a:xfrm>
          <a:prstGeom prst="rect">
            <a:avLst/>
          </a:prstGeom>
          <a:solidFill>
            <a:srgbClr val="F3F8F6"/>
          </a:solidFill>
          <a:ln w="12700">
            <a:solidFill>
              <a:srgbClr val="D6E5E0"/>
            </a:solidFill>
            <a:prstDash val="solid"/>
          </a:ln>
        </p:spPr>
      </p:sp>
      <p:sp>
        <p:nvSpPr>
          <p:cNvPr id="28" name="Text 26"/>
          <p:cNvSpPr/>
          <p:nvPr/>
        </p:nvSpPr>
        <p:spPr>
          <a:xfrm>
            <a:off x="5980176" y="1728216"/>
            <a:ext cx="5763463"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Quand une dépendance signal change</a:t>
            </a:r>
            <a:endParaRPr lang="en-US" sz="880" dirty="0"/>
          </a:p>
        </p:txBody>
      </p:sp>
      <p:sp>
        <p:nvSpPr>
          <p:cNvPr id="29" name="Shape 27"/>
          <p:cNvSpPr/>
          <p:nvPr/>
        </p:nvSpPr>
        <p:spPr>
          <a:xfrm>
            <a:off x="411480" y="2084832"/>
            <a:ext cx="685800" cy="384048"/>
          </a:xfrm>
          <a:prstGeom prst="rect">
            <a:avLst/>
          </a:prstGeom>
          <a:solidFill>
            <a:srgbClr val="FFFFFF"/>
          </a:solidFill>
          <a:ln w="12700">
            <a:solidFill>
              <a:srgbClr val="D6E5E0"/>
            </a:solidFill>
            <a:prstDash val="solid"/>
          </a:ln>
        </p:spPr>
      </p:sp>
      <p:sp>
        <p:nvSpPr>
          <p:cNvPr id="30" name="Text 28"/>
          <p:cNvSpPr/>
          <p:nvPr/>
        </p:nvSpPr>
        <p:spPr>
          <a:xfrm>
            <a:off x="448056" y="2112264"/>
            <a:ext cx="61264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effect()</a:t>
            </a:r>
            <a:endParaRPr lang="en-US" sz="880" dirty="0"/>
          </a:p>
        </p:txBody>
      </p:sp>
      <p:sp>
        <p:nvSpPr>
          <p:cNvPr id="31" name="Shape 29"/>
          <p:cNvSpPr/>
          <p:nvPr/>
        </p:nvSpPr>
        <p:spPr>
          <a:xfrm>
            <a:off x="1097280" y="2084832"/>
            <a:ext cx="2240280" cy="384048"/>
          </a:xfrm>
          <a:prstGeom prst="rect">
            <a:avLst/>
          </a:prstGeom>
          <a:solidFill>
            <a:srgbClr val="FFFFFF"/>
          </a:solidFill>
          <a:ln w="12700">
            <a:solidFill>
              <a:srgbClr val="D6E5E0"/>
            </a:solidFill>
            <a:prstDash val="solid"/>
          </a:ln>
        </p:spPr>
      </p:sp>
      <p:sp>
        <p:nvSpPr>
          <p:cNvPr id="32" name="Text 30"/>
          <p:cNvSpPr/>
          <p:nvPr/>
        </p:nvSpPr>
        <p:spPr>
          <a:xfrm>
            <a:off x="1133856" y="2112264"/>
            <a:ext cx="216712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Effet de bord réactif</a:t>
            </a:r>
            <a:endParaRPr lang="en-US" sz="880" dirty="0"/>
          </a:p>
        </p:txBody>
      </p:sp>
      <p:sp>
        <p:nvSpPr>
          <p:cNvPr id="33" name="Shape 31"/>
          <p:cNvSpPr/>
          <p:nvPr/>
        </p:nvSpPr>
        <p:spPr>
          <a:xfrm>
            <a:off x="3337560" y="2084832"/>
            <a:ext cx="2606040" cy="384048"/>
          </a:xfrm>
          <a:prstGeom prst="rect">
            <a:avLst/>
          </a:prstGeom>
          <a:solidFill>
            <a:srgbClr val="FFFFFF"/>
          </a:solidFill>
          <a:ln w="12700">
            <a:solidFill>
              <a:srgbClr val="D6E5E0"/>
            </a:solidFill>
            <a:prstDash val="solid"/>
          </a:ln>
        </p:spPr>
      </p:sp>
      <p:sp>
        <p:nvSpPr>
          <p:cNvPr id="34" name="Text 32"/>
          <p:cNvSpPr/>
          <p:nvPr/>
        </p:nvSpPr>
        <p:spPr>
          <a:xfrm>
            <a:off x="3374136" y="2112264"/>
            <a:ext cx="253288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a:t>
            </a:r>
            <a:endParaRPr lang="en-US" sz="880" dirty="0"/>
          </a:p>
        </p:txBody>
      </p:sp>
      <p:sp>
        <p:nvSpPr>
          <p:cNvPr id="35" name="Shape 33"/>
          <p:cNvSpPr/>
          <p:nvPr/>
        </p:nvSpPr>
        <p:spPr>
          <a:xfrm>
            <a:off x="5943600" y="2084832"/>
            <a:ext cx="5836615" cy="384048"/>
          </a:xfrm>
          <a:prstGeom prst="rect">
            <a:avLst/>
          </a:prstGeom>
          <a:solidFill>
            <a:srgbClr val="FFFFFF"/>
          </a:solidFill>
          <a:ln w="12700">
            <a:solidFill>
              <a:srgbClr val="D6E5E0"/>
            </a:solidFill>
            <a:prstDash val="solid"/>
          </a:ln>
        </p:spPr>
      </p:sp>
      <p:sp>
        <p:nvSpPr>
          <p:cNvPr id="36" name="Text 34"/>
          <p:cNvSpPr/>
          <p:nvPr/>
        </p:nvSpPr>
        <p:spPr>
          <a:xfrm>
            <a:off x="5980176" y="2112264"/>
            <a:ext cx="5763463"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Quand une dépendance signal change</a:t>
            </a:r>
            <a:endParaRPr lang="en-US" sz="880" dirty="0"/>
          </a:p>
        </p:txBody>
      </p:sp>
      <p:sp>
        <p:nvSpPr>
          <p:cNvPr id="37" name="Shape 35"/>
          <p:cNvSpPr/>
          <p:nvPr/>
        </p:nvSpPr>
        <p:spPr>
          <a:xfrm>
            <a:off x="411480" y="2468880"/>
            <a:ext cx="685800" cy="384048"/>
          </a:xfrm>
          <a:prstGeom prst="rect">
            <a:avLst/>
          </a:prstGeom>
          <a:solidFill>
            <a:srgbClr val="F3F8F6"/>
          </a:solidFill>
          <a:ln w="12700">
            <a:solidFill>
              <a:srgbClr val="D6E5E0"/>
            </a:solidFill>
            <a:prstDash val="solid"/>
          </a:ln>
        </p:spPr>
      </p:sp>
      <p:sp>
        <p:nvSpPr>
          <p:cNvPr id="38" name="Text 36"/>
          <p:cNvSpPr/>
          <p:nvPr/>
        </p:nvSpPr>
        <p:spPr>
          <a:xfrm>
            <a:off x="448056" y="2496312"/>
            <a:ext cx="61264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linkedSignal()</a:t>
            </a:r>
            <a:endParaRPr lang="en-US" sz="880" dirty="0"/>
          </a:p>
        </p:txBody>
      </p:sp>
      <p:sp>
        <p:nvSpPr>
          <p:cNvPr id="39" name="Shape 37"/>
          <p:cNvSpPr/>
          <p:nvPr/>
        </p:nvSpPr>
        <p:spPr>
          <a:xfrm>
            <a:off x="1097280" y="2468880"/>
            <a:ext cx="2240280" cy="384048"/>
          </a:xfrm>
          <a:prstGeom prst="rect">
            <a:avLst/>
          </a:prstGeom>
          <a:solidFill>
            <a:srgbClr val="F3F8F6"/>
          </a:solidFill>
          <a:ln w="12700">
            <a:solidFill>
              <a:srgbClr val="D6E5E0"/>
            </a:solidFill>
            <a:prstDash val="solid"/>
          </a:ln>
        </p:spPr>
      </p:sp>
      <p:sp>
        <p:nvSpPr>
          <p:cNvPr id="40" name="Text 38"/>
          <p:cNvSpPr/>
          <p:nvPr/>
        </p:nvSpPr>
        <p:spPr>
          <a:xfrm>
            <a:off x="1133856" y="2496312"/>
            <a:ext cx="216712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Valeur dérivée ET éditable</a:t>
            </a:r>
            <a:endParaRPr lang="en-US" sz="880" dirty="0"/>
          </a:p>
        </p:txBody>
      </p:sp>
      <p:sp>
        <p:nvSpPr>
          <p:cNvPr id="41" name="Shape 39"/>
          <p:cNvSpPr/>
          <p:nvPr/>
        </p:nvSpPr>
        <p:spPr>
          <a:xfrm>
            <a:off x="3337560" y="2468880"/>
            <a:ext cx="2606040" cy="384048"/>
          </a:xfrm>
          <a:prstGeom prst="rect">
            <a:avLst/>
          </a:prstGeom>
          <a:solidFill>
            <a:srgbClr val="F3F8F6"/>
          </a:solidFill>
          <a:ln w="12700">
            <a:solidFill>
              <a:srgbClr val="D6E5E0"/>
            </a:solidFill>
            <a:prstDash val="solid"/>
          </a:ln>
        </p:spPr>
      </p:sp>
      <p:sp>
        <p:nvSpPr>
          <p:cNvPr id="42" name="Text 40"/>
          <p:cNvSpPr/>
          <p:nvPr/>
        </p:nvSpPr>
        <p:spPr>
          <a:xfrm>
            <a:off x="3374136" y="2496312"/>
            <a:ext cx="253288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 .set() / .update()</a:t>
            </a:r>
            <a:endParaRPr lang="en-US" sz="880" dirty="0"/>
          </a:p>
        </p:txBody>
      </p:sp>
      <p:sp>
        <p:nvSpPr>
          <p:cNvPr id="43" name="Shape 41"/>
          <p:cNvSpPr/>
          <p:nvPr/>
        </p:nvSpPr>
        <p:spPr>
          <a:xfrm>
            <a:off x="5943600" y="2468880"/>
            <a:ext cx="5836615" cy="384048"/>
          </a:xfrm>
          <a:prstGeom prst="rect">
            <a:avLst/>
          </a:prstGeom>
          <a:solidFill>
            <a:srgbClr val="F3F8F6"/>
          </a:solidFill>
          <a:ln w="12700">
            <a:solidFill>
              <a:srgbClr val="D6E5E0"/>
            </a:solidFill>
            <a:prstDash val="solid"/>
          </a:ln>
        </p:spPr>
      </p:sp>
      <p:sp>
        <p:nvSpPr>
          <p:cNvPr id="44" name="Text 42"/>
          <p:cNvSpPr/>
          <p:nvPr/>
        </p:nvSpPr>
        <p:spPr>
          <a:xfrm>
            <a:off x="5980176" y="2496312"/>
            <a:ext cx="5763463"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Quand la source change</a:t>
            </a:r>
            <a:endParaRPr lang="en-US" sz="880" dirty="0"/>
          </a:p>
        </p:txBody>
      </p:sp>
      <p:sp>
        <p:nvSpPr>
          <p:cNvPr id="45" name="Text 43"/>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25/27</a:t>
            </a:r>
            <a:endParaRPr lang="en-US" sz="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Récapitulatif — Primitives Signals — APIs composant</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5" name="Shape 3"/>
          <p:cNvSpPr/>
          <p:nvPr/>
        </p:nvSpPr>
        <p:spPr>
          <a:xfrm>
            <a:off x="411480" y="932688"/>
            <a:ext cx="1417320" cy="384048"/>
          </a:xfrm>
          <a:prstGeom prst="rect">
            <a:avLst/>
          </a:prstGeom>
          <a:solidFill>
            <a:srgbClr val="008A5B"/>
          </a:solidFill>
          <a:ln w="12700">
            <a:solidFill>
              <a:srgbClr val="D6E5E0"/>
            </a:solidFill>
            <a:prstDash val="solid"/>
          </a:ln>
        </p:spPr>
      </p:sp>
      <p:sp>
        <p:nvSpPr>
          <p:cNvPr id="6" name="Text 4"/>
          <p:cNvSpPr/>
          <p:nvPr/>
        </p:nvSpPr>
        <p:spPr>
          <a:xfrm>
            <a:off x="448056" y="960120"/>
            <a:ext cx="1344168" cy="329184"/>
          </a:xfrm>
          <a:prstGeom prst="rect">
            <a:avLst/>
          </a:prstGeom>
          <a:noFill/>
          <a:ln/>
        </p:spPr>
        <p:txBody>
          <a:bodyPr wrap="square" lIns="127" tIns="127" rIns="127" bIns="127" rtlCol="0" anchor="ctr">
            <a:normAutofit/>
          </a:bodyPr>
          <a:lstStyle/>
          <a:p>
            <a:pPr indent="0" marL="0">
              <a:buNone/>
            </a:pPr>
            <a:r>
              <a:rPr lang="en-US" sz="1160" b="1" dirty="0">
                <a:solidFill>
                  <a:srgbClr val="FFFFFF"/>
                </a:solidFill>
              </a:rPr>
              <a:t>API</a:t>
            </a:r>
            <a:endParaRPr lang="en-US" sz="1160" dirty="0"/>
          </a:p>
        </p:txBody>
      </p:sp>
      <p:sp>
        <p:nvSpPr>
          <p:cNvPr id="7" name="Shape 5"/>
          <p:cNvSpPr/>
          <p:nvPr/>
        </p:nvSpPr>
        <p:spPr>
          <a:xfrm>
            <a:off x="1828800" y="932688"/>
            <a:ext cx="2834640" cy="384048"/>
          </a:xfrm>
          <a:prstGeom prst="rect">
            <a:avLst/>
          </a:prstGeom>
          <a:solidFill>
            <a:srgbClr val="008A5B"/>
          </a:solidFill>
          <a:ln w="12700">
            <a:solidFill>
              <a:srgbClr val="D6E5E0"/>
            </a:solidFill>
            <a:prstDash val="solid"/>
          </a:ln>
        </p:spPr>
      </p:sp>
      <p:sp>
        <p:nvSpPr>
          <p:cNvPr id="8" name="Text 6"/>
          <p:cNvSpPr/>
          <p:nvPr/>
        </p:nvSpPr>
        <p:spPr>
          <a:xfrm>
            <a:off x="1865376" y="960120"/>
            <a:ext cx="2761488" cy="329184"/>
          </a:xfrm>
          <a:prstGeom prst="rect">
            <a:avLst/>
          </a:prstGeom>
          <a:noFill/>
          <a:ln/>
        </p:spPr>
        <p:txBody>
          <a:bodyPr wrap="square" lIns="127" tIns="127" rIns="127" bIns="127" rtlCol="0" anchor="ctr">
            <a:normAutofit/>
          </a:bodyPr>
          <a:lstStyle/>
          <a:p>
            <a:pPr indent="0" marL="0">
              <a:buNone/>
            </a:pPr>
            <a:r>
              <a:rPr lang="en-US" sz="1160" b="1" dirty="0">
                <a:solidFill>
                  <a:srgbClr val="FFFFFF"/>
                </a:solidFill>
              </a:rPr>
              <a:t>Rôle</a:t>
            </a:r>
            <a:endParaRPr lang="en-US" sz="1160" dirty="0"/>
          </a:p>
        </p:txBody>
      </p:sp>
      <p:sp>
        <p:nvSpPr>
          <p:cNvPr id="9" name="Shape 7"/>
          <p:cNvSpPr/>
          <p:nvPr/>
        </p:nvSpPr>
        <p:spPr>
          <a:xfrm>
            <a:off x="4663440" y="932688"/>
            <a:ext cx="7116775" cy="384048"/>
          </a:xfrm>
          <a:prstGeom prst="rect">
            <a:avLst/>
          </a:prstGeom>
          <a:solidFill>
            <a:srgbClr val="008A5B"/>
          </a:solidFill>
          <a:ln w="12700">
            <a:solidFill>
              <a:srgbClr val="D6E5E0"/>
            </a:solidFill>
            <a:prstDash val="solid"/>
          </a:ln>
        </p:spPr>
      </p:sp>
      <p:sp>
        <p:nvSpPr>
          <p:cNvPr id="10" name="Text 8"/>
          <p:cNvSpPr/>
          <p:nvPr/>
        </p:nvSpPr>
        <p:spPr>
          <a:xfrm>
            <a:off x="4700016" y="960120"/>
            <a:ext cx="7043623" cy="329184"/>
          </a:xfrm>
          <a:prstGeom prst="rect">
            <a:avLst/>
          </a:prstGeom>
          <a:noFill/>
          <a:ln/>
        </p:spPr>
        <p:txBody>
          <a:bodyPr wrap="square" lIns="127" tIns="127" rIns="127" bIns="127" rtlCol="0" anchor="ctr">
            <a:normAutofit/>
          </a:bodyPr>
          <a:lstStyle/>
          <a:p>
            <a:pPr indent="0" marL="0">
              <a:buNone/>
            </a:pPr>
            <a:r>
              <a:rPr lang="en-US" sz="1160" b="1" dirty="0">
                <a:solidFill>
                  <a:srgbClr val="FFFFFF"/>
                </a:solidFill>
              </a:rPr>
              <a:t>Remplace</a:t>
            </a:r>
            <a:endParaRPr lang="en-US" sz="1160" dirty="0"/>
          </a:p>
        </p:txBody>
      </p:sp>
      <p:sp>
        <p:nvSpPr>
          <p:cNvPr id="11" name="Shape 9"/>
          <p:cNvSpPr/>
          <p:nvPr/>
        </p:nvSpPr>
        <p:spPr>
          <a:xfrm>
            <a:off x="411480" y="1316736"/>
            <a:ext cx="1417320" cy="384048"/>
          </a:xfrm>
          <a:prstGeom prst="rect">
            <a:avLst/>
          </a:prstGeom>
          <a:solidFill>
            <a:srgbClr val="FFFFFF"/>
          </a:solidFill>
          <a:ln w="12700">
            <a:solidFill>
              <a:srgbClr val="D6E5E0"/>
            </a:solidFill>
            <a:prstDash val="solid"/>
          </a:ln>
        </p:spPr>
      </p:sp>
      <p:sp>
        <p:nvSpPr>
          <p:cNvPr id="12" name="Text 10"/>
          <p:cNvSpPr/>
          <p:nvPr/>
        </p:nvSpPr>
        <p:spPr>
          <a:xfrm>
            <a:off x="448056" y="1344168"/>
            <a:ext cx="1344168" cy="329184"/>
          </a:xfrm>
          <a:prstGeom prst="rect">
            <a:avLst/>
          </a:prstGeom>
          <a:noFill/>
          <a:ln/>
        </p:spPr>
        <p:txBody>
          <a:bodyPr wrap="square" lIns="127" tIns="127" rIns="127" bIns="127" rtlCol="0" anchor="ctr">
            <a:normAutofit/>
          </a:bodyPr>
          <a:lstStyle/>
          <a:p>
            <a:pPr indent="0" marL="0">
              <a:buNone/>
            </a:pPr>
            <a:r>
              <a:rPr lang="en-US" sz="1160" dirty="0">
                <a:solidFill>
                  <a:srgbClr val="263B38"/>
                </a:solidFill>
              </a:rPr>
              <a:t>input()</a:t>
            </a:r>
            <a:endParaRPr lang="en-US" sz="1160" dirty="0"/>
          </a:p>
        </p:txBody>
      </p:sp>
      <p:sp>
        <p:nvSpPr>
          <p:cNvPr id="13" name="Shape 11"/>
          <p:cNvSpPr/>
          <p:nvPr/>
        </p:nvSpPr>
        <p:spPr>
          <a:xfrm>
            <a:off x="1828800" y="1316736"/>
            <a:ext cx="2834640" cy="384048"/>
          </a:xfrm>
          <a:prstGeom prst="rect">
            <a:avLst/>
          </a:prstGeom>
          <a:solidFill>
            <a:srgbClr val="FFFFFF"/>
          </a:solidFill>
          <a:ln w="12700">
            <a:solidFill>
              <a:srgbClr val="D6E5E0"/>
            </a:solidFill>
            <a:prstDash val="solid"/>
          </a:ln>
        </p:spPr>
      </p:sp>
      <p:sp>
        <p:nvSpPr>
          <p:cNvPr id="14" name="Text 12"/>
          <p:cNvSpPr/>
          <p:nvPr/>
        </p:nvSpPr>
        <p:spPr>
          <a:xfrm>
            <a:off x="1865376" y="1344168"/>
            <a:ext cx="2761488" cy="329184"/>
          </a:xfrm>
          <a:prstGeom prst="rect">
            <a:avLst/>
          </a:prstGeom>
          <a:noFill/>
          <a:ln/>
        </p:spPr>
        <p:txBody>
          <a:bodyPr wrap="square" lIns="127" tIns="127" rIns="127" bIns="127" rtlCol="0" anchor="ctr">
            <a:normAutofit/>
          </a:bodyPr>
          <a:lstStyle/>
          <a:p>
            <a:pPr indent="0" marL="0">
              <a:buNone/>
            </a:pPr>
            <a:r>
              <a:rPr lang="en-US" sz="1160" dirty="0">
                <a:solidFill>
                  <a:srgbClr val="263B38"/>
                </a:solidFill>
              </a:rPr>
              <a:t>Entrée réactive (signal en lecture)</a:t>
            </a:r>
            <a:endParaRPr lang="en-US" sz="1160" dirty="0"/>
          </a:p>
        </p:txBody>
      </p:sp>
      <p:sp>
        <p:nvSpPr>
          <p:cNvPr id="15" name="Shape 13"/>
          <p:cNvSpPr/>
          <p:nvPr/>
        </p:nvSpPr>
        <p:spPr>
          <a:xfrm>
            <a:off x="4663440" y="1316736"/>
            <a:ext cx="7116775" cy="384048"/>
          </a:xfrm>
          <a:prstGeom prst="rect">
            <a:avLst/>
          </a:prstGeom>
          <a:solidFill>
            <a:srgbClr val="FFFFFF"/>
          </a:solidFill>
          <a:ln w="12700">
            <a:solidFill>
              <a:srgbClr val="D6E5E0"/>
            </a:solidFill>
            <a:prstDash val="solid"/>
          </a:ln>
        </p:spPr>
      </p:sp>
      <p:sp>
        <p:nvSpPr>
          <p:cNvPr id="16" name="Text 14"/>
          <p:cNvSpPr/>
          <p:nvPr/>
        </p:nvSpPr>
        <p:spPr>
          <a:xfrm>
            <a:off x="4700016" y="1344168"/>
            <a:ext cx="7043623" cy="329184"/>
          </a:xfrm>
          <a:prstGeom prst="rect">
            <a:avLst/>
          </a:prstGeom>
          <a:noFill/>
          <a:ln/>
        </p:spPr>
        <p:txBody>
          <a:bodyPr wrap="square" lIns="127" tIns="127" rIns="127" bIns="127" rtlCol="0" anchor="ctr">
            <a:normAutofit/>
          </a:bodyPr>
          <a:lstStyle/>
          <a:p>
            <a:pPr indent="0" marL="0">
              <a:buNone/>
            </a:pPr>
            <a:r>
              <a:rPr lang="en-US" sz="1160" dirty="0">
                <a:solidFill>
                  <a:srgbClr val="263B38"/>
                </a:solidFill>
              </a:rPr>
              <a:t>@Input()</a:t>
            </a:r>
            <a:endParaRPr lang="en-US" sz="1160" dirty="0"/>
          </a:p>
        </p:txBody>
      </p:sp>
      <p:sp>
        <p:nvSpPr>
          <p:cNvPr id="17" name="Shape 15"/>
          <p:cNvSpPr/>
          <p:nvPr/>
        </p:nvSpPr>
        <p:spPr>
          <a:xfrm>
            <a:off x="411480" y="1700784"/>
            <a:ext cx="1417320" cy="384048"/>
          </a:xfrm>
          <a:prstGeom prst="rect">
            <a:avLst/>
          </a:prstGeom>
          <a:solidFill>
            <a:srgbClr val="F3F8F6"/>
          </a:solidFill>
          <a:ln w="12700">
            <a:solidFill>
              <a:srgbClr val="D6E5E0"/>
            </a:solidFill>
            <a:prstDash val="solid"/>
          </a:ln>
        </p:spPr>
      </p:sp>
      <p:sp>
        <p:nvSpPr>
          <p:cNvPr id="18" name="Text 16"/>
          <p:cNvSpPr/>
          <p:nvPr/>
        </p:nvSpPr>
        <p:spPr>
          <a:xfrm>
            <a:off x="448056" y="1728216"/>
            <a:ext cx="1344168" cy="329184"/>
          </a:xfrm>
          <a:prstGeom prst="rect">
            <a:avLst/>
          </a:prstGeom>
          <a:noFill/>
          <a:ln/>
        </p:spPr>
        <p:txBody>
          <a:bodyPr wrap="square" lIns="127" tIns="127" rIns="127" bIns="127" rtlCol="0" anchor="ctr">
            <a:normAutofit/>
          </a:bodyPr>
          <a:lstStyle/>
          <a:p>
            <a:pPr indent="0" marL="0">
              <a:buNone/>
            </a:pPr>
            <a:r>
              <a:rPr lang="en-US" sz="1160" dirty="0">
                <a:solidFill>
                  <a:srgbClr val="263B38"/>
                </a:solidFill>
              </a:rPr>
              <a:t>output()</a:t>
            </a:r>
            <a:endParaRPr lang="en-US" sz="1160" dirty="0"/>
          </a:p>
        </p:txBody>
      </p:sp>
      <p:sp>
        <p:nvSpPr>
          <p:cNvPr id="19" name="Shape 17"/>
          <p:cNvSpPr/>
          <p:nvPr/>
        </p:nvSpPr>
        <p:spPr>
          <a:xfrm>
            <a:off x="1828800" y="1700784"/>
            <a:ext cx="2834640" cy="384048"/>
          </a:xfrm>
          <a:prstGeom prst="rect">
            <a:avLst/>
          </a:prstGeom>
          <a:solidFill>
            <a:srgbClr val="F3F8F6"/>
          </a:solidFill>
          <a:ln w="12700">
            <a:solidFill>
              <a:srgbClr val="D6E5E0"/>
            </a:solidFill>
            <a:prstDash val="solid"/>
          </a:ln>
        </p:spPr>
      </p:sp>
      <p:sp>
        <p:nvSpPr>
          <p:cNvPr id="20" name="Text 18"/>
          <p:cNvSpPr/>
          <p:nvPr/>
        </p:nvSpPr>
        <p:spPr>
          <a:xfrm>
            <a:off x="1865376" y="1728216"/>
            <a:ext cx="2761488" cy="329184"/>
          </a:xfrm>
          <a:prstGeom prst="rect">
            <a:avLst/>
          </a:prstGeom>
          <a:noFill/>
          <a:ln/>
        </p:spPr>
        <p:txBody>
          <a:bodyPr wrap="square" lIns="127" tIns="127" rIns="127" bIns="127" rtlCol="0" anchor="ctr">
            <a:normAutofit/>
          </a:bodyPr>
          <a:lstStyle/>
          <a:p>
            <a:pPr indent="0" marL="0">
              <a:buNone/>
            </a:pPr>
            <a:r>
              <a:rPr lang="en-US" sz="1160" dirty="0">
                <a:solidFill>
                  <a:srgbClr val="263B38"/>
                </a:solidFill>
              </a:rPr>
              <a:t>Événement sortant (intention composant)</a:t>
            </a:r>
            <a:endParaRPr lang="en-US" sz="1160" dirty="0"/>
          </a:p>
        </p:txBody>
      </p:sp>
      <p:sp>
        <p:nvSpPr>
          <p:cNvPr id="21" name="Shape 19"/>
          <p:cNvSpPr/>
          <p:nvPr/>
        </p:nvSpPr>
        <p:spPr>
          <a:xfrm>
            <a:off x="4663440" y="1700784"/>
            <a:ext cx="7116775" cy="384048"/>
          </a:xfrm>
          <a:prstGeom prst="rect">
            <a:avLst/>
          </a:prstGeom>
          <a:solidFill>
            <a:srgbClr val="F3F8F6"/>
          </a:solidFill>
          <a:ln w="12700">
            <a:solidFill>
              <a:srgbClr val="D6E5E0"/>
            </a:solidFill>
            <a:prstDash val="solid"/>
          </a:ln>
        </p:spPr>
      </p:sp>
      <p:sp>
        <p:nvSpPr>
          <p:cNvPr id="22" name="Text 20"/>
          <p:cNvSpPr/>
          <p:nvPr/>
        </p:nvSpPr>
        <p:spPr>
          <a:xfrm>
            <a:off x="4700016" y="1728216"/>
            <a:ext cx="7043623" cy="329184"/>
          </a:xfrm>
          <a:prstGeom prst="rect">
            <a:avLst/>
          </a:prstGeom>
          <a:noFill/>
          <a:ln/>
        </p:spPr>
        <p:txBody>
          <a:bodyPr wrap="square" lIns="127" tIns="127" rIns="127" bIns="127" rtlCol="0" anchor="ctr">
            <a:normAutofit/>
          </a:bodyPr>
          <a:lstStyle/>
          <a:p>
            <a:pPr indent="0" marL="0">
              <a:buNone/>
            </a:pPr>
            <a:r>
              <a:rPr lang="en-US" sz="1160" dirty="0">
                <a:solidFill>
                  <a:srgbClr val="263B38"/>
                </a:solidFill>
              </a:rPr>
              <a:t>@Output() + EventEmitter</a:t>
            </a:r>
            <a:endParaRPr lang="en-US" sz="1160" dirty="0"/>
          </a:p>
        </p:txBody>
      </p:sp>
      <p:sp>
        <p:nvSpPr>
          <p:cNvPr id="23" name="Shape 21"/>
          <p:cNvSpPr/>
          <p:nvPr/>
        </p:nvSpPr>
        <p:spPr>
          <a:xfrm>
            <a:off x="411480" y="2084832"/>
            <a:ext cx="1417320" cy="384048"/>
          </a:xfrm>
          <a:prstGeom prst="rect">
            <a:avLst/>
          </a:prstGeom>
          <a:solidFill>
            <a:srgbClr val="FFFFFF"/>
          </a:solidFill>
          <a:ln w="12700">
            <a:solidFill>
              <a:srgbClr val="D6E5E0"/>
            </a:solidFill>
            <a:prstDash val="solid"/>
          </a:ln>
        </p:spPr>
      </p:sp>
      <p:sp>
        <p:nvSpPr>
          <p:cNvPr id="24" name="Text 22"/>
          <p:cNvSpPr/>
          <p:nvPr/>
        </p:nvSpPr>
        <p:spPr>
          <a:xfrm>
            <a:off x="448056" y="2112264"/>
            <a:ext cx="1344168" cy="329184"/>
          </a:xfrm>
          <a:prstGeom prst="rect">
            <a:avLst/>
          </a:prstGeom>
          <a:noFill/>
          <a:ln/>
        </p:spPr>
        <p:txBody>
          <a:bodyPr wrap="square" lIns="127" tIns="127" rIns="127" bIns="127" rtlCol="0" anchor="ctr">
            <a:normAutofit/>
          </a:bodyPr>
          <a:lstStyle/>
          <a:p>
            <a:pPr indent="0" marL="0">
              <a:buNone/>
            </a:pPr>
            <a:r>
              <a:rPr lang="en-US" sz="1160" dirty="0">
                <a:solidFill>
                  <a:srgbClr val="263B38"/>
                </a:solidFill>
              </a:rPr>
              <a:t>model()</a:t>
            </a:r>
            <a:endParaRPr lang="en-US" sz="1160" dirty="0"/>
          </a:p>
        </p:txBody>
      </p:sp>
      <p:sp>
        <p:nvSpPr>
          <p:cNvPr id="25" name="Shape 23"/>
          <p:cNvSpPr/>
          <p:nvPr/>
        </p:nvSpPr>
        <p:spPr>
          <a:xfrm>
            <a:off x="1828800" y="2084832"/>
            <a:ext cx="2834640" cy="384048"/>
          </a:xfrm>
          <a:prstGeom prst="rect">
            <a:avLst/>
          </a:prstGeom>
          <a:solidFill>
            <a:srgbClr val="FFFFFF"/>
          </a:solidFill>
          <a:ln w="12700">
            <a:solidFill>
              <a:srgbClr val="D6E5E0"/>
            </a:solidFill>
            <a:prstDash val="solid"/>
          </a:ln>
        </p:spPr>
      </p:sp>
      <p:sp>
        <p:nvSpPr>
          <p:cNvPr id="26" name="Text 24"/>
          <p:cNvSpPr/>
          <p:nvPr/>
        </p:nvSpPr>
        <p:spPr>
          <a:xfrm>
            <a:off x="1865376" y="2112264"/>
            <a:ext cx="2761488" cy="329184"/>
          </a:xfrm>
          <a:prstGeom prst="rect">
            <a:avLst/>
          </a:prstGeom>
          <a:noFill/>
          <a:ln/>
        </p:spPr>
        <p:txBody>
          <a:bodyPr wrap="square" lIns="127" tIns="127" rIns="127" bIns="127" rtlCol="0" anchor="ctr">
            <a:normAutofit/>
          </a:bodyPr>
          <a:lstStyle/>
          <a:p>
            <a:pPr indent="0" marL="0">
              <a:buNone/>
            </a:pPr>
            <a:r>
              <a:rPr lang="en-US" sz="1160" dirty="0">
                <a:solidFill>
                  <a:srgbClr val="263B38"/>
                </a:solidFill>
              </a:rPr>
              <a:t>Valeur partagée modifiable des deux côtés</a:t>
            </a:r>
            <a:endParaRPr lang="en-US" sz="1160" dirty="0"/>
          </a:p>
        </p:txBody>
      </p:sp>
      <p:sp>
        <p:nvSpPr>
          <p:cNvPr id="27" name="Shape 25"/>
          <p:cNvSpPr/>
          <p:nvPr/>
        </p:nvSpPr>
        <p:spPr>
          <a:xfrm>
            <a:off x="4663440" y="2084832"/>
            <a:ext cx="7116775" cy="384048"/>
          </a:xfrm>
          <a:prstGeom prst="rect">
            <a:avLst/>
          </a:prstGeom>
          <a:solidFill>
            <a:srgbClr val="FFFFFF"/>
          </a:solidFill>
          <a:ln w="12700">
            <a:solidFill>
              <a:srgbClr val="D6E5E0"/>
            </a:solidFill>
            <a:prstDash val="solid"/>
          </a:ln>
        </p:spPr>
      </p:sp>
      <p:sp>
        <p:nvSpPr>
          <p:cNvPr id="28" name="Text 26"/>
          <p:cNvSpPr/>
          <p:nvPr/>
        </p:nvSpPr>
        <p:spPr>
          <a:xfrm>
            <a:off x="4700016" y="2112264"/>
            <a:ext cx="7043623" cy="329184"/>
          </a:xfrm>
          <a:prstGeom prst="rect">
            <a:avLst/>
          </a:prstGeom>
          <a:noFill/>
          <a:ln/>
        </p:spPr>
        <p:txBody>
          <a:bodyPr wrap="square" lIns="127" tIns="127" rIns="127" bIns="127" rtlCol="0" anchor="ctr">
            <a:normAutofit/>
          </a:bodyPr>
          <a:lstStyle/>
          <a:p>
            <a:pPr indent="0" marL="0">
              <a:buNone/>
            </a:pPr>
            <a:r>
              <a:rPr lang="en-US" sz="1160" dirty="0">
                <a:solidFill>
                  <a:srgbClr val="263B38"/>
                </a:solidFill>
              </a:rPr>
              <a:t>@Input() + @Output() pour le two-way binding</a:t>
            </a:r>
            <a:endParaRPr lang="en-US" sz="1160" dirty="0"/>
          </a:p>
        </p:txBody>
      </p:sp>
      <p:sp>
        <p:nvSpPr>
          <p:cNvPr id="29" name="Text 27"/>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26/27</a:t>
            </a:r>
            <a:endParaRPr lang="en-US" sz="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Clôture du dojo — Règles à retenir</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6" name="Text 3"/>
          <p:cNvSpPr/>
          <p:nvPr/>
        </p:nvSpPr>
        <p:spPr>
          <a:xfrm>
            <a:off x="411480" y="932688"/>
            <a:ext cx="11368735" cy="1225296"/>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1. computed()    ne fait jamais d'appel HTTP — calcul pur uniquement</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2. effect()      n'expose jamais de valeur    — effets de bord uniquement</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3. input() dans un computed() = dépendance réelle / @Input() dans computed() = non</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4. Zone.js peut coexister — migrer progressivement, pas tout d'un coup</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5. untracked()   pour lire sans s'abonner dans un effect()</a:t>
            </a:r>
            <a:endParaRPr lang="en-US" sz="1030" dirty="0"/>
          </a:p>
        </p:txBody>
      </p:sp>
      <p:sp>
        <p:nvSpPr>
          <p:cNvPr id="7" name="Text 4"/>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27/27</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BNP Paribas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Angular 21 Signals - Support de presentation dojo</dc:title>
  <dc:subject>Angular 21 Signals</dc:subject>
  <dc:creator>Dojo Angular Signals</dc:creator>
  <cp:lastModifiedBy>Dojo Angular Signals</cp:lastModifiedBy>
  <cp:revision>1</cp:revision>
  <dcterms:created xsi:type="dcterms:W3CDTF">2026-06-16T21:23:04Z</dcterms:created>
  <dcterms:modified xsi:type="dcterms:W3CDTF">2026-06-16T21:23:04Z</dcterms:modified>
</cp:coreProperties>
</file>